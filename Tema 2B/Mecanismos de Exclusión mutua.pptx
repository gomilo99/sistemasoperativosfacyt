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x="18288000" cy="10287000"/>
  <p:notesSz cx="6858000" cy="9144000"/>
  <p:embeddedFontLst>
    <p:embeddedFont>
      <p:font typeface="Sugo Display" charset="1" panose="02000506020000020004"/>
      <p:regular r:id="rId40"/>
    </p:embeddedFont>
    <p:embeddedFont>
      <p:font typeface="Open Sauce" charset="1" panose="00000500000000000000"/>
      <p:regular r:id="rId41"/>
    </p:embeddedFont>
    <p:embeddedFont>
      <p:font typeface="Open Sauce Bold" charset="1" panose="00000800000000000000"/>
      <p:regular r:id="rId42"/>
    </p:embeddedFont>
    <p:embeddedFont>
      <p:font typeface="TAN Mon Cheri" charset="1" panose="00000000000000000000"/>
      <p:regular r:id="rId43"/>
    </p:embeddedFont>
    <p:embeddedFont>
      <p:font typeface="Open Sauce Italics" charset="1" panose="00000500000000000000"/>
      <p:regular r:id="rId44"/>
    </p:embeddedFont>
    <p:embeddedFont>
      <p:font typeface="Open Sauce Bold Italics" charset="1" panose="00000800000000000000"/>
      <p:regular r:id="rId45"/>
    </p:embeddedFont>
    <p:embeddedFont>
      <p:font typeface="The Youngest Serif" charset="1" panose="00000500000000000000"/>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media/image1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embeddings/oleObject1.bin" Type="http://schemas.openxmlformats.org/officeDocument/2006/relationships/oleObjec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3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embeddings/oleObject2.bin" Type="http://schemas.openxmlformats.org/officeDocument/2006/relationships/oleObject"/><Relationship Id="rId4" Target="../media/image3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embeddings/oleObject3.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embeddings/oleObject4.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 Id="rId3" Target="../embeddings/oleObject5.bin" Type="http://schemas.openxmlformats.org/officeDocument/2006/relationships/oleObjec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jpeg" Type="http://schemas.openxmlformats.org/officeDocument/2006/relationships/image"/><Relationship Id="rId3" Target="../media/image5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embeddings/oleObject6.bin" Type="http://schemas.openxmlformats.org/officeDocument/2006/relationships/oleObjec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7.png" Type="http://schemas.openxmlformats.org/officeDocument/2006/relationships/image"/><Relationship Id="rId3" Target="../embeddings/oleObject7.bin" Type="http://schemas.openxmlformats.org/officeDocument/2006/relationships/oleObjec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0" y="7891424"/>
            <a:ext cx="18288000" cy="2395576"/>
            <a:chOff x="0" y="0"/>
            <a:chExt cx="2716398" cy="355826"/>
          </a:xfrm>
        </p:grpSpPr>
        <p:sp>
          <p:nvSpPr>
            <p:cNvPr name="Freeform 3" id="3"/>
            <p:cNvSpPr/>
            <p:nvPr/>
          </p:nvSpPr>
          <p:spPr>
            <a:xfrm flipH="false" flipV="false" rot="0">
              <a:off x="0" y="0"/>
              <a:ext cx="2716398" cy="355826"/>
            </a:xfrm>
            <a:custGeom>
              <a:avLst/>
              <a:gdLst/>
              <a:ahLst/>
              <a:cxnLst/>
              <a:rect r="r" b="b" t="t" l="l"/>
              <a:pathLst>
                <a:path h="355826" w="2716398">
                  <a:moveTo>
                    <a:pt x="0" y="0"/>
                  </a:moveTo>
                  <a:lnTo>
                    <a:pt x="2716398" y="0"/>
                  </a:lnTo>
                  <a:lnTo>
                    <a:pt x="2716398" y="355826"/>
                  </a:lnTo>
                  <a:lnTo>
                    <a:pt x="0" y="355826"/>
                  </a:lnTo>
                  <a:close/>
                </a:path>
              </a:pathLst>
            </a:custGeom>
            <a:solidFill>
              <a:srgbClr val="1D7151"/>
            </a:solidFill>
          </p:spPr>
        </p:sp>
      </p:grpSp>
      <p:sp>
        <p:nvSpPr>
          <p:cNvPr name="Freeform 4" id="4"/>
          <p:cNvSpPr/>
          <p:nvPr/>
        </p:nvSpPr>
        <p:spPr>
          <a:xfrm flipH="false" flipV="false" rot="0">
            <a:off x="1028700" y="665701"/>
            <a:ext cx="720877" cy="961169"/>
          </a:xfrm>
          <a:custGeom>
            <a:avLst/>
            <a:gdLst/>
            <a:ahLst/>
            <a:cxnLst/>
            <a:rect r="r" b="b" t="t" l="l"/>
            <a:pathLst>
              <a:path h="961169" w="720877">
                <a:moveTo>
                  <a:pt x="0" y="0"/>
                </a:moveTo>
                <a:lnTo>
                  <a:pt x="720877" y="0"/>
                </a:lnTo>
                <a:lnTo>
                  <a:pt x="720877" y="961169"/>
                </a:lnTo>
                <a:lnTo>
                  <a:pt x="0" y="961169"/>
                </a:lnTo>
                <a:lnTo>
                  <a:pt x="0" y="0"/>
                </a:lnTo>
                <a:close/>
              </a:path>
            </a:pathLst>
          </a:custGeom>
          <a:blipFill>
            <a:blip r:embed="rId2"/>
            <a:stretch>
              <a:fillRect l="0" t="0" r="0" b="0"/>
            </a:stretch>
          </a:blipFill>
        </p:spPr>
      </p:sp>
      <p:sp>
        <p:nvSpPr>
          <p:cNvPr name="TextBox 5" id="5"/>
          <p:cNvSpPr txBox="true"/>
          <p:nvPr/>
        </p:nvSpPr>
        <p:spPr>
          <a:xfrm rot="0">
            <a:off x="1604865" y="2633692"/>
            <a:ext cx="10643886" cy="3673691"/>
          </a:xfrm>
          <a:prstGeom prst="rect">
            <a:avLst/>
          </a:prstGeom>
        </p:spPr>
        <p:txBody>
          <a:bodyPr anchor="t" rtlCol="false" tIns="0" lIns="0" bIns="0" rIns="0">
            <a:spAutoFit/>
          </a:bodyPr>
          <a:lstStyle/>
          <a:p>
            <a:pPr algn="l" marL="0" indent="0" lvl="0">
              <a:lnSpc>
                <a:spcPts val="13966"/>
              </a:lnSpc>
              <a:spcBef>
                <a:spcPct val="0"/>
              </a:spcBef>
            </a:pPr>
            <a:r>
              <a:rPr lang="en-US" sz="13966">
                <a:solidFill>
                  <a:srgbClr val="1D7151"/>
                </a:solidFill>
                <a:latin typeface="Sugo Display"/>
                <a:ea typeface="Sugo Display"/>
                <a:cs typeface="Sugo Display"/>
                <a:sym typeface="Sugo Display"/>
              </a:rPr>
              <a:t>Mecanismos de Exclusión mutua</a:t>
            </a:r>
          </a:p>
        </p:txBody>
      </p:sp>
      <p:sp>
        <p:nvSpPr>
          <p:cNvPr name="TextBox 6" id="6"/>
          <p:cNvSpPr txBox="true"/>
          <p:nvPr/>
        </p:nvSpPr>
        <p:spPr>
          <a:xfrm rot="0">
            <a:off x="1028700" y="8404532"/>
            <a:ext cx="3554448" cy="405765"/>
          </a:xfrm>
          <a:prstGeom prst="rect">
            <a:avLst/>
          </a:prstGeom>
        </p:spPr>
        <p:txBody>
          <a:bodyPr anchor="t" rtlCol="false" tIns="0" lIns="0" bIns="0" rIns="0">
            <a:spAutoFit/>
          </a:bodyPr>
          <a:lstStyle/>
          <a:p>
            <a:pPr algn="l">
              <a:lnSpc>
                <a:spcPts val="3359"/>
              </a:lnSpc>
            </a:pPr>
            <a:r>
              <a:rPr lang="en-US" sz="2400">
                <a:solidFill>
                  <a:srgbClr val="F2EDDB"/>
                </a:solidFill>
                <a:latin typeface="Open Sauce"/>
                <a:ea typeface="Open Sauce"/>
                <a:cs typeface="Open Sauce"/>
                <a:sym typeface="Open Sauce"/>
              </a:rPr>
              <a:t>Junio, 2026</a:t>
            </a:r>
          </a:p>
        </p:txBody>
      </p:sp>
      <p:sp>
        <p:nvSpPr>
          <p:cNvPr name="TextBox 7" id="7"/>
          <p:cNvSpPr txBox="true"/>
          <p:nvPr/>
        </p:nvSpPr>
        <p:spPr>
          <a:xfrm rot="0">
            <a:off x="12714568" y="981075"/>
            <a:ext cx="4544732" cy="1243965"/>
          </a:xfrm>
          <a:prstGeom prst="rect">
            <a:avLst/>
          </a:prstGeom>
        </p:spPr>
        <p:txBody>
          <a:bodyPr anchor="t" rtlCol="false" tIns="0" lIns="0" bIns="0" rIns="0">
            <a:spAutoFit/>
          </a:bodyPr>
          <a:lstStyle/>
          <a:p>
            <a:pPr algn="r">
              <a:lnSpc>
                <a:spcPts val="3359"/>
              </a:lnSpc>
            </a:pPr>
            <a:r>
              <a:rPr lang="en-US" b="true" sz="2400">
                <a:solidFill>
                  <a:srgbClr val="000000"/>
                </a:solidFill>
                <a:latin typeface="Open Sauce Bold"/>
                <a:ea typeface="Open Sauce Bold"/>
                <a:cs typeface="Open Sauce Bold"/>
                <a:sym typeface="Open Sauce Bold"/>
              </a:rPr>
              <a:t>Profesora</a:t>
            </a:r>
            <a:r>
              <a:rPr lang="en-US" sz="2400">
                <a:solidFill>
                  <a:srgbClr val="000000"/>
                </a:solidFill>
                <a:latin typeface="Open Sauce"/>
                <a:ea typeface="Open Sauce"/>
                <a:cs typeface="Open Sauce"/>
                <a:sym typeface="Open Sauce"/>
              </a:rPr>
              <a:t>: Mirella Herrera</a:t>
            </a:r>
          </a:p>
          <a:p>
            <a:pPr algn="r">
              <a:lnSpc>
                <a:spcPts val="3359"/>
              </a:lnSpc>
            </a:pPr>
            <a:r>
              <a:rPr lang="en-US" b="true" sz="2400">
                <a:solidFill>
                  <a:srgbClr val="000000"/>
                </a:solidFill>
                <a:latin typeface="Open Sauce Bold"/>
                <a:ea typeface="Open Sauce Bold"/>
                <a:cs typeface="Open Sauce Bold"/>
                <a:sym typeface="Open Sauce Bold"/>
              </a:rPr>
              <a:t>Estudiante</a:t>
            </a:r>
            <a:r>
              <a:rPr lang="en-US" sz="2400">
                <a:solidFill>
                  <a:srgbClr val="000000"/>
                </a:solidFill>
                <a:latin typeface="Open Sauce"/>
                <a:ea typeface="Open Sauce"/>
                <a:cs typeface="Open Sauce"/>
                <a:sym typeface="Open Sauce"/>
              </a:rPr>
              <a:t>: Jesus Hernandez, CI: 31456568</a:t>
            </a:r>
          </a:p>
        </p:txBody>
      </p:sp>
      <p:sp>
        <p:nvSpPr>
          <p:cNvPr name="TextBox 8" id="8"/>
          <p:cNvSpPr txBox="true"/>
          <p:nvPr/>
        </p:nvSpPr>
        <p:spPr>
          <a:xfrm rot="0">
            <a:off x="1938517" y="919590"/>
            <a:ext cx="3986572" cy="405765"/>
          </a:xfrm>
          <a:prstGeom prst="rect">
            <a:avLst/>
          </a:prstGeom>
        </p:spPr>
        <p:txBody>
          <a:bodyPr anchor="t" rtlCol="false" tIns="0" lIns="0" bIns="0" rIns="0">
            <a:spAutoFit/>
          </a:bodyPr>
          <a:lstStyle/>
          <a:p>
            <a:pPr algn="l">
              <a:lnSpc>
                <a:spcPts val="3359"/>
              </a:lnSpc>
            </a:pPr>
            <a:r>
              <a:rPr lang="en-US" sz="2400">
                <a:solidFill>
                  <a:srgbClr val="061313"/>
                </a:solidFill>
                <a:latin typeface="Open Sauce"/>
                <a:ea typeface="Open Sauce"/>
                <a:cs typeface="Open Sauce"/>
                <a:sym typeface="Open Sauce"/>
              </a:rPr>
              <a:t>Universidad de Carabobo</a:t>
            </a:r>
          </a:p>
        </p:txBody>
      </p:sp>
      <p:sp>
        <p:nvSpPr>
          <p:cNvPr name="TextBox 9" id="9"/>
          <p:cNvSpPr txBox="true"/>
          <p:nvPr/>
        </p:nvSpPr>
        <p:spPr>
          <a:xfrm rot="0">
            <a:off x="11760294" y="8264347"/>
            <a:ext cx="5499006" cy="824865"/>
          </a:xfrm>
          <a:prstGeom prst="rect">
            <a:avLst/>
          </a:prstGeom>
        </p:spPr>
        <p:txBody>
          <a:bodyPr anchor="t" rtlCol="false" tIns="0" lIns="0" bIns="0" rIns="0">
            <a:spAutoFit/>
          </a:bodyPr>
          <a:lstStyle/>
          <a:p>
            <a:pPr algn="r">
              <a:lnSpc>
                <a:spcPts val="3359"/>
              </a:lnSpc>
            </a:pPr>
            <a:r>
              <a:rPr lang="en-US" sz="2400">
                <a:solidFill>
                  <a:srgbClr val="F2EDDB"/>
                </a:solidFill>
                <a:latin typeface="Open Sauce"/>
                <a:ea typeface="Open Sauce"/>
                <a:cs typeface="Open Sauce"/>
                <a:sym typeface="Open Sauce"/>
              </a:rPr>
              <a:t>Sistemas Operativos - Asignacion 3. Dpto Computación, Facyt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143960" y="0"/>
            <a:ext cx="6858000" cy="10246963"/>
          </a:xfrm>
          <a:custGeom>
            <a:avLst/>
            <a:gdLst/>
            <a:ahLst/>
            <a:cxnLst/>
            <a:rect r="r" b="b" t="t" l="l"/>
            <a:pathLst>
              <a:path h="10246963" w="6858000">
                <a:moveTo>
                  <a:pt x="0" y="0"/>
                </a:moveTo>
                <a:lnTo>
                  <a:pt x="6858000" y="0"/>
                </a:lnTo>
                <a:lnTo>
                  <a:pt x="6858000" y="10246963"/>
                </a:lnTo>
                <a:lnTo>
                  <a:pt x="0" y="10246963"/>
                </a:lnTo>
                <a:lnTo>
                  <a:pt x="0" y="0"/>
                </a:lnTo>
                <a:close/>
              </a:path>
            </a:pathLst>
          </a:custGeom>
          <a:blipFill>
            <a:blip r:embed="rId2"/>
            <a:stretch>
              <a:fillRect l="-58304" t="0" r="-68749" b="-1307"/>
            </a:stretch>
          </a:blipFill>
        </p:spPr>
      </p:sp>
      <p:sp>
        <p:nvSpPr>
          <p:cNvPr name="TextBox 3" id="3"/>
          <p:cNvSpPr txBox="true"/>
          <p:nvPr/>
        </p:nvSpPr>
        <p:spPr>
          <a:xfrm rot="0">
            <a:off x="8068760" y="2250699"/>
            <a:ext cx="8693844" cy="1657787"/>
          </a:xfrm>
          <a:prstGeom prst="rect">
            <a:avLst/>
          </a:prstGeom>
        </p:spPr>
        <p:txBody>
          <a:bodyPr anchor="t" rtlCol="false" tIns="0" lIns="0" bIns="0" rIns="0">
            <a:spAutoFit/>
          </a:bodyPr>
          <a:lstStyle/>
          <a:p>
            <a:pPr algn="l">
              <a:lnSpc>
                <a:spcPts val="4479"/>
              </a:lnSpc>
            </a:pPr>
            <a:r>
              <a:rPr lang="en-US" sz="2799">
                <a:solidFill>
                  <a:srgbClr val="061313"/>
                </a:solidFill>
                <a:latin typeface="Open Sauce"/>
                <a:ea typeface="Open Sauce"/>
                <a:cs typeface="Open Sauce"/>
                <a:sym typeface="Open Sauce"/>
              </a:rPr>
              <a:t>Es un mecanismo que garantiza que un solo proceso o hilo puede acceder a un recurso compartido en un momento determinado.</a:t>
            </a:r>
          </a:p>
        </p:txBody>
      </p:sp>
      <p:sp>
        <p:nvSpPr>
          <p:cNvPr name="TextBox 4" id="4"/>
          <p:cNvSpPr txBox="true"/>
          <p:nvPr/>
        </p:nvSpPr>
        <p:spPr>
          <a:xfrm rot="0">
            <a:off x="8068760" y="1100812"/>
            <a:ext cx="7443282" cy="1028667"/>
          </a:xfrm>
          <a:prstGeom prst="rect">
            <a:avLst/>
          </a:prstGeom>
        </p:spPr>
        <p:txBody>
          <a:bodyPr anchor="t" rtlCol="false" tIns="0" lIns="0" bIns="0" rIns="0">
            <a:spAutoFit/>
          </a:bodyPr>
          <a:lstStyle/>
          <a:p>
            <a:pPr algn="l">
              <a:lnSpc>
                <a:spcPts val="8400"/>
              </a:lnSpc>
            </a:pPr>
            <a:r>
              <a:rPr lang="en-US" sz="6000">
                <a:solidFill>
                  <a:srgbClr val="1D7151"/>
                </a:solidFill>
                <a:latin typeface="TAN Mon Cheri"/>
                <a:ea typeface="TAN Mon Cheri"/>
                <a:cs typeface="TAN Mon Cheri"/>
                <a:sym typeface="TAN Mon Cheri"/>
              </a:rPr>
              <a:t>Exclusión mutua</a:t>
            </a:r>
          </a:p>
        </p:txBody>
      </p:sp>
      <p:sp>
        <p:nvSpPr>
          <p:cNvPr name="TextBox 5" id="5"/>
          <p:cNvSpPr txBox="true"/>
          <p:nvPr/>
        </p:nvSpPr>
        <p:spPr>
          <a:xfrm rot="0">
            <a:off x="16581489" y="8767445"/>
            <a:ext cx="362229" cy="490855"/>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2</a:t>
            </a:r>
          </a:p>
        </p:txBody>
      </p:sp>
      <p:sp>
        <p:nvSpPr>
          <p:cNvPr name="TextBox 6" id="6"/>
          <p:cNvSpPr txBox="true"/>
          <p:nvPr/>
        </p:nvSpPr>
        <p:spPr>
          <a:xfrm rot="0">
            <a:off x="8068760" y="4655814"/>
            <a:ext cx="8693844" cy="5591149"/>
          </a:xfrm>
          <a:prstGeom prst="rect">
            <a:avLst/>
          </a:prstGeom>
        </p:spPr>
        <p:txBody>
          <a:bodyPr anchor="t" rtlCol="false" tIns="0" lIns="0" bIns="0" rIns="0">
            <a:spAutoFit/>
          </a:bodyPr>
          <a:lstStyle/>
          <a:p>
            <a:pPr algn="l" marL="604519" indent="-302260" lvl="1">
              <a:lnSpc>
                <a:spcPts val="4479"/>
              </a:lnSpc>
              <a:buFont typeface="Arial"/>
              <a:buChar char="•"/>
            </a:pPr>
            <a:r>
              <a:rPr lang="en-US" sz="2799">
                <a:solidFill>
                  <a:srgbClr val="061313"/>
                </a:solidFill>
                <a:latin typeface="Open Sauce"/>
                <a:ea typeface="Open Sauce"/>
                <a:cs typeface="Open Sauce"/>
                <a:sym typeface="Open Sauce"/>
              </a:rPr>
              <a:t>Se tiene una cuenta bancaria con 1000bs</a:t>
            </a:r>
          </a:p>
          <a:p>
            <a:pPr algn="l" marL="604519" indent="-302260" lvl="1">
              <a:lnSpc>
                <a:spcPts val="4479"/>
              </a:lnSpc>
              <a:buFont typeface="Arial"/>
              <a:buChar char="•"/>
            </a:pPr>
            <a:r>
              <a:rPr lang="en-US" sz="2799">
                <a:solidFill>
                  <a:srgbClr val="061313"/>
                </a:solidFill>
                <a:latin typeface="Open Sauce"/>
                <a:ea typeface="Open Sauce"/>
                <a:cs typeface="Open Sauce"/>
                <a:sym typeface="Open Sauce"/>
              </a:rPr>
              <a:t>Dos procesos (PC y Telefono) intentan sacar dinero al mismo tiempo.</a:t>
            </a:r>
          </a:p>
          <a:p>
            <a:pPr algn="l" marL="604519" indent="-302260" lvl="1">
              <a:lnSpc>
                <a:spcPts val="4479"/>
              </a:lnSpc>
              <a:buFont typeface="Arial"/>
              <a:buChar char="•"/>
            </a:pPr>
            <a:r>
              <a:rPr lang="en-US" sz="2799">
                <a:solidFill>
                  <a:srgbClr val="061313"/>
                </a:solidFill>
                <a:latin typeface="Open Sauce"/>
                <a:ea typeface="Open Sauce"/>
                <a:cs typeface="Open Sauce"/>
                <a:sym typeface="Open Sauce"/>
              </a:rPr>
              <a:t>Ambos leen el saldo: 1000bs</a:t>
            </a:r>
          </a:p>
          <a:p>
            <a:pPr algn="l" marL="1209039" indent="-403013" lvl="2">
              <a:lnSpc>
                <a:spcPts val="4479"/>
              </a:lnSpc>
              <a:buFont typeface="Arial"/>
              <a:buChar char="⚬"/>
            </a:pPr>
            <a:r>
              <a:rPr lang="en-US" sz="2799">
                <a:solidFill>
                  <a:srgbClr val="061313"/>
                </a:solidFill>
                <a:latin typeface="Open Sauce"/>
                <a:ea typeface="Open Sauce"/>
                <a:cs typeface="Open Sauce"/>
                <a:sym typeface="Open Sauce"/>
              </a:rPr>
              <a:t>El PC resta 500bs → Saldo ahora es 500bs</a:t>
            </a:r>
          </a:p>
          <a:p>
            <a:pPr algn="l" marL="1209039" indent="-403013" lvl="2">
              <a:lnSpc>
                <a:spcPts val="4479"/>
              </a:lnSpc>
              <a:buFont typeface="Arial"/>
              <a:buChar char="⚬"/>
            </a:pPr>
            <a:r>
              <a:rPr lang="en-US" sz="2799">
                <a:solidFill>
                  <a:srgbClr val="061313"/>
                </a:solidFill>
                <a:latin typeface="Open Sauce"/>
                <a:ea typeface="Open Sauce"/>
                <a:cs typeface="Open Sauce"/>
                <a:sym typeface="Open Sauce"/>
              </a:rPr>
              <a:t>Pero el telefono resta 300bs → Saldo ahora es 700bs</a:t>
            </a:r>
          </a:p>
          <a:p>
            <a:pPr algn="l">
              <a:lnSpc>
                <a:spcPts val="4479"/>
              </a:lnSpc>
            </a:pPr>
            <a:r>
              <a:rPr lang="en-US" sz="2799">
                <a:solidFill>
                  <a:srgbClr val="061313"/>
                </a:solidFill>
                <a:latin typeface="Open Sauce"/>
                <a:ea typeface="Open Sauce"/>
                <a:cs typeface="Open Sauce"/>
                <a:sym typeface="Open Sauce"/>
              </a:rPr>
              <a:t>¡De 1000bs se sacaron 800bs pero solo se restaron 300!</a:t>
            </a:r>
          </a:p>
          <a:p>
            <a:pPr algn="l">
              <a:lnSpc>
                <a:spcPts val="4479"/>
              </a:lnSpc>
            </a:pPr>
          </a:p>
        </p:txBody>
      </p:sp>
      <p:sp>
        <p:nvSpPr>
          <p:cNvPr name="TextBox 7" id="7"/>
          <p:cNvSpPr txBox="true"/>
          <p:nvPr/>
        </p:nvSpPr>
        <p:spPr>
          <a:xfrm rot="0">
            <a:off x="8068760" y="4041836"/>
            <a:ext cx="7443282" cy="537779"/>
          </a:xfrm>
          <a:prstGeom prst="rect">
            <a:avLst/>
          </a:prstGeom>
        </p:spPr>
        <p:txBody>
          <a:bodyPr anchor="t" rtlCol="false" tIns="0" lIns="0" bIns="0" rIns="0">
            <a:spAutoFit/>
          </a:bodyPr>
          <a:lstStyle/>
          <a:p>
            <a:pPr algn="l">
              <a:lnSpc>
                <a:spcPts val="4480"/>
              </a:lnSpc>
            </a:pPr>
            <a:r>
              <a:rPr lang="en-US" sz="3200">
                <a:solidFill>
                  <a:srgbClr val="1D7151"/>
                </a:solidFill>
                <a:latin typeface="TAN Mon Cheri"/>
                <a:ea typeface="TAN Mon Cheri"/>
                <a:cs typeface="TAN Mon Cheri"/>
                <a:sym typeface="TAN Mon Cheri"/>
              </a:rPr>
              <a:t>ejemplo</a:t>
            </a:r>
          </a:p>
        </p:txBody>
      </p:sp>
      <p:sp>
        <p:nvSpPr>
          <p:cNvPr name="TextBox 8" id="8"/>
          <p:cNvSpPr txBox="true"/>
          <p:nvPr/>
        </p:nvSpPr>
        <p:spPr>
          <a:xfrm rot="0">
            <a:off x="13734818" y="571289"/>
            <a:ext cx="3554448" cy="405699"/>
          </a:xfrm>
          <a:prstGeom prst="rect">
            <a:avLst/>
          </a:prstGeom>
        </p:spPr>
        <p:txBody>
          <a:bodyPr anchor="t" rtlCol="false" tIns="0" lIns="0" bIns="0" rIns="0">
            <a:spAutoFit/>
          </a:bodyPr>
          <a:lstStyle/>
          <a:p>
            <a:pPr algn="r">
              <a:lnSpc>
                <a:spcPts val="3359"/>
              </a:lnSpc>
            </a:pPr>
            <a:r>
              <a:rPr lang="en-US" sz="2400">
                <a:solidFill>
                  <a:srgbClr val="1D7151"/>
                </a:solidFill>
                <a:latin typeface="Open Sauce"/>
                <a:ea typeface="Open Sauce"/>
                <a:cs typeface="Open Sauce"/>
                <a:sym typeface="Open Sauce"/>
              </a:rPr>
              <a:t>Jesús Hernández</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765325"/>
            <a:chOff x="0" y="0"/>
            <a:chExt cx="5666449" cy="856823"/>
          </a:xfrm>
        </p:grpSpPr>
        <p:sp>
          <p:nvSpPr>
            <p:cNvPr name="Freeform 3" id="3"/>
            <p:cNvSpPr/>
            <p:nvPr/>
          </p:nvSpPr>
          <p:spPr>
            <a:xfrm flipH="false" flipV="false" rot="0">
              <a:off x="0" y="0"/>
              <a:ext cx="5666449" cy="856823"/>
            </a:xfrm>
            <a:custGeom>
              <a:avLst/>
              <a:gdLst/>
              <a:ahLst/>
              <a:cxnLst/>
              <a:rect r="r" b="b" t="t" l="l"/>
              <a:pathLst>
                <a:path h="856823" w="5666449">
                  <a:moveTo>
                    <a:pt x="0" y="0"/>
                  </a:moveTo>
                  <a:lnTo>
                    <a:pt x="5666449" y="0"/>
                  </a:lnTo>
                  <a:lnTo>
                    <a:pt x="5666449" y="856823"/>
                  </a:lnTo>
                  <a:lnTo>
                    <a:pt x="0" y="856823"/>
                  </a:lnTo>
                  <a:close/>
                </a:path>
              </a:pathLst>
            </a:custGeom>
            <a:solidFill>
              <a:srgbClr val="1D7151"/>
            </a:solidFill>
          </p:spPr>
        </p:sp>
      </p:grpSp>
      <p:sp>
        <p:nvSpPr>
          <p:cNvPr name="Freeform 4" id="4"/>
          <p:cNvSpPr/>
          <p:nvPr/>
        </p:nvSpPr>
        <p:spPr>
          <a:xfrm flipH="false" flipV="false" rot="0">
            <a:off x="-925331" y="2769951"/>
            <a:ext cx="10069331" cy="7517049"/>
          </a:xfrm>
          <a:custGeom>
            <a:avLst/>
            <a:gdLst/>
            <a:ahLst/>
            <a:cxnLst/>
            <a:rect r="r" b="b" t="t" l="l"/>
            <a:pathLst>
              <a:path h="7517049" w="10069331">
                <a:moveTo>
                  <a:pt x="0" y="0"/>
                </a:moveTo>
                <a:lnTo>
                  <a:pt x="10069331" y="0"/>
                </a:lnTo>
                <a:lnTo>
                  <a:pt x="10069331" y="7517049"/>
                </a:lnTo>
                <a:lnTo>
                  <a:pt x="0" y="7517049"/>
                </a:lnTo>
                <a:lnTo>
                  <a:pt x="0" y="0"/>
                </a:lnTo>
                <a:close/>
              </a:path>
            </a:pathLst>
          </a:custGeom>
          <a:blipFill>
            <a:blip r:embed="rId2"/>
            <a:stretch>
              <a:fillRect l="0" t="0" r="-13183" b="-1201"/>
            </a:stretch>
          </a:blipFill>
        </p:spPr>
      </p:sp>
      <p:sp>
        <p:nvSpPr>
          <p:cNvPr name="TextBox 5" id="5"/>
          <p:cNvSpPr txBox="true"/>
          <p:nvPr/>
        </p:nvSpPr>
        <p:spPr>
          <a:xfrm rot="0">
            <a:off x="16581489" y="8767445"/>
            <a:ext cx="362229" cy="490855"/>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8</a:t>
            </a:r>
          </a:p>
        </p:txBody>
      </p:sp>
      <p:sp>
        <p:nvSpPr>
          <p:cNvPr name="TextBox 6" id="6"/>
          <p:cNvSpPr txBox="true"/>
          <p:nvPr/>
        </p:nvSpPr>
        <p:spPr>
          <a:xfrm rot="0">
            <a:off x="1028700" y="326196"/>
            <a:ext cx="11576103" cy="2029554"/>
          </a:xfrm>
          <a:prstGeom prst="rect">
            <a:avLst/>
          </a:prstGeom>
        </p:spPr>
        <p:txBody>
          <a:bodyPr anchor="t" rtlCol="false" tIns="0" lIns="0" bIns="0" rIns="0">
            <a:spAutoFit/>
          </a:bodyPr>
          <a:lstStyle/>
          <a:p>
            <a:pPr algn="l">
              <a:lnSpc>
                <a:spcPts val="16238"/>
              </a:lnSpc>
            </a:pPr>
            <a:r>
              <a:rPr lang="en-US" sz="11598">
                <a:solidFill>
                  <a:srgbClr val="F2EDDB"/>
                </a:solidFill>
                <a:latin typeface="Sugo Display"/>
                <a:ea typeface="Sugo Display"/>
                <a:cs typeface="Sugo Display"/>
                <a:sym typeface="Sugo Display"/>
              </a:rPr>
              <a:t>Soluciones de Software</a:t>
            </a:r>
          </a:p>
        </p:txBody>
      </p:sp>
      <p:sp>
        <p:nvSpPr>
          <p:cNvPr name="TextBox 7" id="7"/>
          <p:cNvSpPr txBox="true"/>
          <p:nvPr/>
        </p:nvSpPr>
        <p:spPr>
          <a:xfrm rot="0">
            <a:off x="9585673" y="4530440"/>
            <a:ext cx="8067447" cy="2471890"/>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uce"/>
                <a:ea typeface="Open Sauce"/>
                <a:cs typeface="Open Sauce"/>
                <a:sym typeface="Open Sauce"/>
              </a:rPr>
              <a:t>E</a:t>
            </a:r>
            <a:r>
              <a:rPr lang="en-US" sz="2799">
                <a:solidFill>
                  <a:srgbClr val="000000"/>
                </a:solidFill>
                <a:latin typeface="Open Sauce"/>
                <a:ea typeface="Open Sauce"/>
                <a:cs typeface="Open Sauce"/>
                <a:sym typeface="Open Sauce"/>
              </a:rPr>
              <a:t>stas soluciones dependen de algoritmos lógicos sin necesidad de soporte especial del hardware (mas allá de la exclusión mutua elemental en el acceso a memoria):</a:t>
            </a:r>
          </a:p>
          <a:p>
            <a:pPr algn="l">
              <a:lnSpc>
                <a:spcPts val="391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1929315" y="4778505"/>
            <a:ext cx="7630424" cy="5061463"/>
          </a:xfrm>
          <a:custGeom>
            <a:avLst/>
            <a:gdLst/>
            <a:ahLst/>
            <a:cxnLst/>
            <a:rect r="r" b="b" t="t" l="l"/>
            <a:pathLst>
              <a:path h="5061463" w="7630424">
                <a:moveTo>
                  <a:pt x="0" y="0"/>
                </a:moveTo>
                <a:lnTo>
                  <a:pt x="7630424" y="0"/>
                </a:lnTo>
                <a:lnTo>
                  <a:pt x="7630424" y="5061463"/>
                </a:lnTo>
                <a:lnTo>
                  <a:pt x="0" y="5061463"/>
                </a:lnTo>
                <a:lnTo>
                  <a:pt x="0" y="0"/>
                </a:lnTo>
                <a:close/>
              </a:path>
            </a:pathLst>
          </a:custGeom>
          <a:blipFill>
            <a:blip r:embed="rId2"/>
            <a:stretch>
              <a:fillRect l="0" t="0" r="0" b="0"/>
            </a:stretch>
          </a:blipFill>
        </p:spPr>
      </p:sp>
      <p:sp>
        <p:nvSpPr>
          <p:cNvPr name="Freeform 3" id="3"/>
          <p:cNvSpPr/>
          <p:nvPr/>
        </p:nvSpPr>
        <p:spPr>
          <a:xfrm flipH="false" flipV="false" rot="0">
            <a:off x="10730752" y="4761666"/>
            <a:ext cx="5798172" cy="5061463"/>
          </a:xfrm>
          <a:custGeom>
            <a:avLst/>
            <a:gdLst/>
            <a:ahLst/>
            <a:cxnLst/>
            <a:rect r="r" b="b" t="t" l="l"/>
            <a:pathLst>
              <a:path h="5061463" w="5798172">
                <a:moveTo>
                  <a:pt x="0" y="0"/>
                </a:moveTo>
                <a:lnTo>
                  <a:pt x="5798172" y="0"/>
                </a:lnTo>
                <a:lnTo>
                  <a:pt x="5798172" y="5061463"/>
                </a:lnTo>
                <a:lnTo>
                  <a:pt x="0" y="5061463"/>
                </a:lnTo>
                <a:lnTo>
                  <a:pt x="0" y="0"/>
                </a:lnTo>
                <a:close/>
              </a:path>
            </a:pathLst>
          </a:custGeom>
          <a:blipFill>
            <a:blip r:embed="rId3"/>
            <a:stretch>
              <a:fillRect l="0" t="0" r="0" b="0"/>
            </a:stretch>
          </a:blipFill>
        </p:spPr>
      </p:sp>
      <p:sp>
        <p:nvSpPr>
          <p:cNvPr name="Freeform 4" id="4"/>
          <p:cNvSpPr/>
          <p:nvPr/>
        </p:nvSpPr>
        <p:spPr>
          <a:xfrm flipH="false" flipV="false" rot="0">
            <a:off x="10272554" y="1761677"/>
            <a:ext cx="6714567" cy="1369772"/>
          </a:xfrm>
          <a:custGeom>
            <a:avLst/>
            <a:gdLst/>
            <a:ahLst/>
            <a:cxnLst/>
            <a:rect r="r" b="b" t="t" l="l"/>
            <a:pathLst>
              <a:path h="1369772" w="6714567">
                <a:moveTo>
                  <a:pt x="0" y="0"/>
                </a:moveTo>
                <a:lnTo>
                  <a:pt x="6714567" y="0"/>
                </a:lnTo>
                <a:lnTo>
                  <a:pt x="6714567" y="1369771"/>
                </a:lnTo>
                <a:lnTo>
                  <a:pt x="0" y="1369771"/>
                </a:lnTo>
                <a:lnTo>
                  <a:pt x="0" y="0"/>
                </a:lnTo>
                <a:close/>
              </a:path>
            </a:pathLst>
          </a:custGeom>
          <a:blipFill>
            <a:blip r:embed="rId4"/>
            <a:stretch>
              <a:fillRect l="0" t="0" r="0" b="0"/>
            </a:stretch>
          </a:blipFill>
        </p:spPr>
      </p:sp>
      <p:sp>
        <p:nvSpPr>
          <p:cNvPr name="TextBox 5" id="5"/>
          <p:cNvSpPr txBox="true"/>
          <p:nvPr/>
        </p:nvSpPr>
        <p:spPr>
          <a:xfrm rot="0">
            <a:off x="1028700" y="383926"/>
            <a:ext cx="16230600" cy="863599"/>
          </a:xfrm>
          <a:prstGeom prst="rect">
            <a:avLst/>
          </a:prstGeom>
        </p:spPr>
        <p:txBody>
          <a:bodyPr anchor="t" rtlCol="false" tIns="0" lIns="0" bIns="0" rIns="0">
            <a:spAutoFit/>
          </a:bodyPr>
          <a:lstStyle/>
          <a:p>
            <a:pPr algn="ctr">
              <a:lnSpc>
                <a:spcPts val="7000"/>
              </a:lnSpc>
            </a:pPr>
            <a:r>
              <a:rPr lang="en-US" sz="5000">
                <a:solidFill>
                  <a:srgbClr val="1D7151"/>
                </a:solidFill>
                <a:latin typeface="TAN Mon Cheri"/>
                <a:ea typeface="TAN Mon Cheri"/>
                <a:cs typeface="TAN Mon Cheri"/>
                <a:sym typeface="TAN Mon Cheri"/>
              </a:rPr>
              <a:t>Librería Mutex</a:t>
            </a:r>
          </a:p>
        </p:txBody>
      </p:sp>
      <p:sp>
        <p:nvSpPr>
          <p:cNvPr name="TextBox 6" id="6"/>
          <p:cNvSpPr txBox="true"/>
          <p:nvPr/>
        </p:nvSpPr>
        <p:spPr>
          <a:xfrm rot="0">
            <a:off x="1283818" y="1700794"/>
            <a:ext cx="8370418" cy="1430655"/>
          </a:xfrm>
          <a:prstGeom prst="rect">
            <a:avLst/>
          </a:prstGeom>
        </p:spPr>
        <p:txBody>
          <a:bodyPr anchor="t" rtlCol="false" tIns="0" lIns="0" bIns="0" rIns="0">
            <a:spAutoFit/>
          </a:bodyPr>
          <a:lstStyle/>
          <a:p>
            <a:pPr algn="l">
              <a:lnSpc>
                <a:spcPts val="3840"/>
              </a:lnSpc>
            </a:pPr>
            <a:r>
              <a:rPr lang="en-US" sz="2400">
                <a:solidFill>
                  <a:srgbClr val="061313"/>
                </a:solidFill>
                <a:latin typeface="Open Sauce"/>
                <a:ea typeface="Open Sauce"/>
                <a:cs typeface="Open Sauce"/>
                <a:sym typeface="Open Sauce"/>
              </a:rPr>
              <a:t>Librería auxiliar para creación y manejo de hilos, ejecutarlos de forma concurrente y esperar a que terminen. </a:t>
            </a:r>
          </a:p>
        </p:txBody>
      </p:sp>
      <p:sp>
        <p:nvSpPr>
          <p:cNvPr name="TextBox 7" id="7"/>
          <p:cNvSpPr txBox="true"/>
          <p:nvPr/>
        </p:nvSpPr>
        <p:spPr>
          <a:xfrm rot="0">
            <a:off x="1283818" y="3212411"/>
            <a:ext cx="15245106" cy="944880"/>
          </a:xfrm>
          <a:prstGeom prst="rect">
            <a:avLst/>
          </a:prstGeom>
        </p:spPr>
        <p:txBody>
          <a:bodyPr anchor="t" rtlCol="false" tIns="0" lIns="0" bIns="0" rIns="0">
            <a:spAutoFit/>
          </a:bodyPr>
          <a:lstStyle/>
          <a:p>
            <a:pPr algn="l">
              <a:lnSpc>
                <a:spcPts val="3840"/>
              </a:lnSpc>
            </a:pPr>
            <a:r>
              <a:rPr lang="en-US" sz="2400">
                <a:solidFill>
                  <a:srgbClr val="061313"/>
                </a:solidFill>
                <a:latin typeface="Open Sauce"/>
                <a:ea typeface="Open Sauce"/>
                <a:cs typeface="Open Sauce"/>
                <a:sym typeface="Open Sauce"/>
              </a:rPr>
              <a:t>Esto es necesario para poder mostrar con rigurosidad la efectividad de los algoritmos. De no usarlos los programas se ejecutan secuencialmente.</a:t>
            </a:r>
          </a:p>
        </p:txBody>
      </p:sp>
      <p:sp>
        <p:nvSpPr>
          <p:cNvPr name="TextBox 8" id="8"/>
          <p:cNvSpPr txBox="true"/>
          <p:nvPr/>
        </p:nvSpPr>
        <p:spPr>
          <a:xfrm rot="0">
            <a:off x="10272554" y="1285626"/>
            <a:ext cx="6714567" cy="48133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uso en programas</a:t>
            </a:r>
          </a:p>
        </p:txBody>
      </p:sp>
      <p:sp>
        <p:nvSpPr>
          <p:cNvPr name="TextBox 9" id="9"/>
          <p:cNvSpPr txBox="true"/>
          <p:nvPr/>
        </p:nvSpPr>
        <p:spPr>
          <a:xfrm rot="0">
            <a:off x="1929315" y="4276353"/>
            <a:ext cx="7630424" cy="48133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implementación</a:t>
            </a:r>
          </a:p>
        </p:txBody>
      </p:sp>
      <p:sp>
        <p:nvSpPr>
          <p:cNvPr name="TextBox 10" id="10"/>
          <p:cNvSpPr txBox="true"/>
          <p:nvPr/>
        </p:nvSpPr>
        <p:spPr>
          <a:xfrm rot="0">
            <a:off x="10730752" y="4276353"/>
            <a:ext cx="5798172" cy="48133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definición</a:t>
            </a:r>
          </a:p>
        </p:txBody>
      </p:sp>
      <p:sp>
        <p:nvSpPr>
          <p:cNvPr name="TextBox 11" id="11"/>
          <p:cNvSpPr txBox="true"/>
          <p:nvPr/>
        </p:nvSpPr>
        <p:spPr>
          <a:xfrm rot="0">
            <a:off x="17221670" y="8681720"/>
            <a:ext cx="362229" cy="490822"/>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1706411" y="3300951"/>
            <a:ext cx="4096612" cy="2951209"/>
            <a:chOff x="0" y="0"/>
            <a:chExt cx="5462149" cy="3934945"/>
          </a:xfrm>
        </p:grpSpPr>
        <p:sp>
          <p:nvSpPr>
            <p:cNvPr name="Freeform 3" id="3"/>
            <p:cNvSpPr/>
            <p:nvPr/>
          </p:nvSpPr>
          <p:spPr>
            <a:xfrm flipH="false" flipV="false" rot="0">
              <a:off x="0" y="565574"/>
              <a:ext cx="5462149" cy="3369372"/>
            </a:xfrm>
            <a:custGeom>
              <a:avLst/>
              <a:gdLst/>
              <a:ahLst/>
              <a:cxnLst/>
              <a:rect r="r" b="b" t="t" l="l"/>
              <a:pathLst>
                <a:path h="3369372" w="5462149">
                  <a:moveTo>
                    <a:pt x="0" y="0"/>
                  </a:moveTo>
                  <a:lnTo>
                    <a:pt x="5462149" y="0"/>
                  </a:lnTo>
                  <a:lnTo>
                    <a:pt x="5462149" y="3369371"/>
                  </a:lnTo>
                  <a:lnTo>
                    <a:pt x="0" y="3369371"/>
                  </a:lnTo>
                  <a:lnTo>
                    <a:pt x="0" y="0"/>
                  </a:lnTo>
                  <a:close/>
                </a:path>
              </a:pathLst>
            </a:custGeom>
            <a:blipFill>
              <a:blip r:embed="rId2"/>
              <a:stretch>
                <a:fillRect l="0" t="0" r="0" b="0"/>
              </a:stretch>
            </a:blipFill>
          </p:spPr>
        </p:sp>
        <p:sp>
          <p:nvSpPr>
            <p:cNvPr name="TextBox 4" id="4"/>
            <p:cNvSpPr txBox="true"/>
            <p:nvPr/>
          </p:nvSpPr>
          <p:spPr>
            <a:xfrm rot="0">
              <a:off x="0" y="-57150"/>
              <a:ext cx="5462149" cy="622724"/>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grpSp>
      <p:sp>
        <p:nvSpPr>
          <p:cNvPr name="Freeform 5" id="5"/>
          <p:cNvSpPr/>
          <p:nvPr/>
        </p:nvSpPr>
        <p:spPr>
          <a:xfrm flipH="false" flipV="false" rot="0">
            <a:off x="6829934" y="2506701"/>
            <a:ext cx="5366559" cy="5987689"/>
          </a:xfrm>
          <a:custGeom>
            <a:avLst/>
            <a:gdLst/>
            <a:ahLst/>
            <a:cxnLst/>
            <a:rect r="r" b="b" t="t" l="l"/>
            <a:pathLst>
              <a:path h="5987689" w="5366559">
                <a:moveTo>
                  <a:pt x="0" y="0"/>
                </a:moveTo>
                <a:lnTo>
                  <a:pt x="5366559" y="0"/>
                </a:lnTo>
                <a:lnTo>
                  <a:pt x="5366559" y="5987689"/>
                </a:lnTo>
                <a:lnTo>
                  <a:pt x="0" y="5987689"/>
                </a:lnTo>
                <a:lnTo>
                  <a:pt x="0" y="0"/>
                </a:lnTo>
                <a:close/>
              </a:path>
            </a:pathLst>
          </a:custGeom>
          <a:blipFill>
            <a:blip r:embed="rId3"/>
            <a:stretch>
              <a:fillRect l="0" t="0" r="0" b="0"/>
            </a:stretch>
          </a:blipFill>
        </p:spPr>
      </p:sp>
      <p:sp>
        <p:nvSpPr>
          <p:cNvPr name="TextBox 6" id="6"/>
          <p:cNvSpPr txBox="true"/>
          <p:nvPr/>
        </p:nvSpPr>
        <p:spPr>
          <a:xfrm rot="0">
            <a:off x="1028700" y="554038"/>
            <a:ext cx="16230600" cy="781049"/>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Dekker V1 - Alternancia Simple</a:t>
            </a:r>
          </a:p>
        </p:txBody>
      </p:sp>
      <p:sp>
        <p:nvSpPr>
          <p:cNvPr name="TextBox 7" id="7"/>
          <p:cNvSpPr txBox="true"/>
          <p:nvPr/>
        </p:nvSpPr>
        <p:spPr>
          <a:xfrm rot="0">
            <a:off x="12545694" y="2506189"/>
            <a:ext cx="4713606" cy="7002145"/>
          </a:xfrm>
          <a:prstGeom prst="rect">
            <a:avLst/>
          </a:prstGeom>
        </p:spPr>
        <p:txBody>
          <a:bodyPr anchor="t" rtlCol="false" tIns="0" lIns="0" bIns="0" rIns="0">
            <a:spAutoFit/>
          </a:bodyPr>
          <a:lstStyle/>
          <a:p>
            <a:pPr algn="just">
              <a:lnSpc>
                <a:spcPts val="3080"/>
              </a:lnSpc>
              <a:spcBef>
                <a:spcPct val="0"/>
              </a:spcBef>
            </a:pPr>
            <a:r>
              <a:rPr lang="en-US" sz="2200">
                <a:solidFill>
                  <a:srgbClr val="061313"/>
                </a:solidFill>
                <a:latin typeface="Open Sauce"/>
                <a:ea typeface="Open Sauce"/>
                <a:cs typeface="Open Sauce"/>
                <a:sym typeface="Open Sauce"/>
              </a:rPr>
              <a:t>Estado inicial:</a:t>
            </a:r>
          </a:p>
          <a:p>
            <a:pPr algn="just">
              <a:lnSpc>
                <a:spcPts val="3080"/>
              </a:lnSpc>
              <a:spcBef>
                <a:spcPct val="0"/>
              </a:spcBef>
            </a:pPr>
            <a:r>
              <a:rPr lang="en-US" sz="2200">
                <a:solidFill>
                  <a:srgbClr val="061313"/>
                </a:solidFill>
                <a:latin typeface="Open Sauce"/>
                <a:ea typeface="Open Sauce"/>
                <a:cs typeface="Open Sauce"/>
                <a:sym typeface="Open Sauce"/>
              </a:rPr>
              <a:t>saldo = 1000 y turnoHilo = 0</a:t>
            </a:r>
          </a:p>
          <a:p>
            <a:pPr algn="just">
              <a:lnSpc>
                <a:spcPts val="3080"/>
              </a:lnSpc>
              <a:spcBef>
                <a:spcPct val="0"/>
              </a:spcBef>
            </a:pPr>
          </a:p>
          <a:p>
            <a:pPr algn="just">
              <a:lnSpc>
                <a:spcPts val="3080"/>
              </a:lnSpc>
              <a:spcBef>
                <a:spcPct val="0"/>
              </a:spcBef>
            </a:pPr>
            <a:r>
              <a:rPr lang="en-US" sz="2200">
                <a:solidFill>
                  <a:srgbClr val="061313"/>
                </a:solidFill>
                <a:latin typeface="Open Sauce"/>
                <a:ea typeface="Open Sauce"/>
                <a:cs typeface="Open Sauce"/>
                <a:sym typeface="Open Sauce"/>
              </a:rPr>
              <a:t>Proceso 0:</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como turnoHilo = 0, entra P0</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Realiza su sección crítica: </a:t>
            </a:r>
            <a:r>
              <a:rPr lang="en-US" sz="2200">
                <a:solidFill>
                  <a:srgbClr val="061313"/>
                </a:solidFill>
                <a:latin typeface="Open Sauce"/>
                <a:ea typeface="Open Sauce"/>
                <a:cs typeface="Open Sauce"/>
                <a:sym typeface="Open Sauce"/>
              </a:rPr>
              <a:t>saldo = 1000 - 500 = 500</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aumenta </a:t>
            </a:r>
            <a:r>
              <a:rPr lang="en-US" sz="2200">
                <a:solidFill>
                  <a:srgbClr val="061313"/>
                </a:solidFill>
                <a:latin typeface="Open Sauce"/>
                <a:ea typeface="Open Sauce"/>
                <a:cs typeface="Open Sauce"/>
                <a:sym typeface="Open Sauce"/>
              </a:rPr>
              <a:t>turnoHilo = 1, P0 espera indefinidamente.</a:t>
            </a:r>
          </a:p>
          <a:p>
            <a:pPr algn="just">
              <a:lnSpc>
                <a:spcPts val="3080"/>
              </a:lnSpc>
              <a:spcBef>
                <a:spcPct val="0"/>
              </a:spcBef>
            </a:pPr>
          </a:p>
          <a:p>
            <a:pPr algn="just">
              <a:lnSpc>
                <a:spcPts val="3080"/>
              </a:lnSpc>
              <a:spcBef>
                <a:spcPct val="0"/>
              </a:spcBef>
            </a:pPr>
            <a:r>
              <a:rPr lang="en-US" sz="2200">
                <a:solidFill>
                  <a:srgbClr val="061313"/>
                </a:solidFill>
                <a:latin typeface="Open Sauce"/>
                <a:ea typeface="Open Sauce"/>
                <a:cs typeface="Open Sauce"/>
                <a:sym typeface="Open Sauce"/>
              </a:rPr>
              <a:t>Proceso 1:</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inicialmente esperando</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como aumento turnoHilo = 1, entra P1</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ejecuta su sección critica: </a:t>
            </a:r>
            <a:r>
              <a:rPr lang="en-US" sz="2200">
                <a:solidFill>
                  <a:srgbClr val="061313"/>
                </a:solidFill>
                <a:latin typeface="Open Sauce"/>
                <a:ea typeface="Open Sauce"/>
                <a:cs typeface="Open Sauce"/>
                <a:sym typeface="Open Sauce"/>
              </a:rPr>
              <a:t>saldo = 500 - 300 = 200</a:t>
            </a:r>
          </a:p>
          <a:p>
            <a:pPr algn="l" marL="474981" indent="-237491" lvl="1">
              <a:lnSpc>
                <a:spcPts val="3080"/>
              </a:lnSpc>
              <a:spcBef>
                <a:spcPct val="0"/>
              </a:spcBef>
              <a:buFont typeface="Arial"/>
              <a:buChar char="•"/>
            </a:pPr>
            <a:r>
              <a:rPr lang="en-US" sz="2200">
                <a:solidFill>
                  <a:srgbClr val="061313"/>
                </a:solidFill>
                <a:latin typeface="Open Sauce"/>
                <a:ea typeface="Open Sauce"/>
                <a:cs typeface="Open Sauce"/>
                <a:sym typeface="Open Sauce"/>
              </a:rPr>
              <a:t>regresa </a:t>
            </a:r>
            <a:r>
              <a:rPr lang="en-US" sz="2200">
                <a:solidFill>
                  <a:srgbClr val="061313"/>
                </a:solidFill>
                <a:latin typeface="Open Sauce"/>
                <a:ea typeface="Open Sauce"/>
                <a:cs typeface="Open Sauce"/>
                <a:sym typeface="Open Sauce"/>
              </a:rPr>
              <a:t>turnoHilo = 0 y se mantiene esperando</a:t>
            </a:r>
          </a:p>
        </p:txBody>
      </p:sp>
      <p:sp>
        <p:nvSpPr>
          <p:cNvPr name="TextBox 8" id="8"/>
          <p:cNvSpPr txBox="true"/>
          <p:nvPr/>
        </p:nvSpPr>
        <p:spPr>
          <a:xfrm rot="0">
            <a:off x="12965833" y="2025371"/>
            <a:ext cx="4096612" cy="48133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9" id="9"/>
          <p:cNvSpPr txBox="true"/>
          <p:nvPr/>
        </p:nvSpPr>
        <p:spPr>
          <a:xfrm rot="0">
            <a:off x="1028700" y="1397991"/>
            <a:ext cx="12773608" cy="1717039"/>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Idea</a:t>
            </a:r>
            <a:r>
              <a:rPr lang="en-US" sz="2200">
                <a:solidFill>
                  <a:srgbClr val="061313"/>
                </a:solidFill>
                <a:latin typeface="Open Sauce"/>
                <a:ea typeface="Open Sauce"/>
                <a:cs typeface="Open Sauce"/>
                <a:sym typeface="Open Sauce"/>
              </a:rPr>
              <a:t>: Usa una variable </a:t>
            </a:r>
            <a:r>
              <a:rPr lang="en-US" sz="2200" i="true">
                <a:solidFill>
                  <a:srgbClr val="1D7151"/>
                </a:solidFill>
                <a:latin typeface="Open Sauce Italics"/>
                <a:ea typeface="Open Sauce Italics"/>
                <a:cs typeface="Open Sauce Italics"/>
                <a:sym typeface="Open Sauce Italics"/>
              </a:rPr>
              <a:t>turn </a:t>
            </a:r>
            <a:r>
              <a:rPr lang="en-US" sz="2200">
                <a:solidFill>
                  <a:srgbClr val="061313"/>
                </a:solidFill>
                <a:latin typeface="Open Sauce"/>
                <a:ea typeface="Open Sauce"/>
                <a:cs typeface="Open Sauce"/>
                <a:sym typeface="Open Sauce"/>
              </a:rPr>
              <a:t>para decidir qué proceso puede entrar a la sección crítica. </a:t>
            </a:r>
          </a:p>
          <a:p>
            <a:pPr algn="l">
              <a:lnSpc>
                <a:spcPts val="3520"/>
              </a:lnSpc>
            </a:pPr>
            <a:r>
              <a:rPr lang="en-US" sz="2200">
                <a:solidFill>
                  <a:srgbClr val="061313"/>
                </a:solidFill>
                <a:latin typeface="Open Sauce"/>
                <a:ea typeface="Open Sauce"/>
                <a:cs typeface="Open Sauce"/>
                <a:sym typeface="Open Sauce"/>
              </a:rPr>
              <a:t>Si no es su turno, debe esperar.</a:t>
            </a:r>
          </a:p>
          <a:p>
            <a:pPr algn="l" marL="474983" indent="-237491" lvl="1">
              <a:lnSpc>
                <a:spcPts val="3520"/>
              </a:lnSpc>
              <a:buFont typeface="Arial"/>
              <a:buChar char="•"/>
            </a:pPr>
            <a:r>
              <a:rPr lang="en-US" sz="2200">
                <a:solidFill>
                  <a:srgbClr val="061313"/>
                </a:solidFill>
                <a:latin typeface="Open Sauce"/>
                <a:ea typeface="Open Sauce"/>
                <a:cs typeface="Open Sauce"/>
                <a:sym typeface="Open Sauce"/>
              </a:rPr>
              <a:t>Si entra P0, espera P1.</a:t>
            </a:r>
          </a:p>
          <a:p>
            <a:pPr algn="l" marL="474983" indent="-237491" lvl="1">
              <a:lnSpc>
                <a:spcPts val="3520"/>
              </a:lnSpc>
              <a:buFont typeface="Arial"/>
              <a:buChar char="•"/>
            </a:pPr>
            <a:r>
              <a:rPr lang="en-US" sz="2200">
                <a:solidFill>
                  <a:srgbClr val="061313"/>
                </a:solidFill>
                <a:latin typeface="Open Sauce"/>
                <a:ea typeface="Open Sauce"/>
                <a:cs typeface="Open Sauce"/>
                <a:sym typeface="Open Sauce"/>
              </a:rPr>
              <a:t>Si entra P1, espera P0.</a:t>
            </a:r>
          </a:p>
        </p:txBody>
      </p:sp>
      <p:sp>
        <p:nvSpPr>
          <p:cNvPr name="TextBox 10" id="10"/>
          <p:cNvSpPr txBox="true"/>
          <p:nvPr/>
        </p:nvSpPr>
        <p:spPr>
          <a:xfrm rot="0">
            <a:off x="1028700" y="6380930"/>
            <a:ext cx="5452033" cy="48133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a:t>
            </a:r>
          </a:p>
        </p:txBody>
      </p:sp>
      <p:sp>
        <p:nvSpPr>
          <p:cNvPr name="TextBox 11" id="11"/>
          <p:cNvSpPr txBox="true"/>
          <p:nvPr/>
        </p:nvSpPr>
        <p:spPr>
          <a:xfrm rot="0">
            <a:off x="1028700" y="6833685"/>
            <a:ext cx="5452033" cy="2706370"/>
          </a:xfrm>
          <a:prstGeom prst="rect">
            <a:avLst/>
          </a:prstGeom>
        </p:spPr>
        <p:txBody>
          <a:bodyPr anchor="t" rtlCol="false" tIns="0" lIns="0" bIns="0" rIns="0">
            <a:spAutoFit/>
          </a:bodyPr>
          <a:lstStyle/>
          <a:p>
            <a:pPr algn="just">
              <a:lnSpc>
                <a:spcPts val="3080"/>
              </a:lnSpc>
            </a:pPr>
            <a:r>
              <a:rPr lang="en-US" sz="2200" b="true">
                <a:solidFill>
                  <a:srgbClr val="061313"/>
                </a:solidFill>
                <a:latin typeface="Open Sauce Bold"/>
                <a:ea typeface="Open Sauce Bold"/>
                <a:cs typeface="Open Sauce Bold"/>
                <a:sym typeface="Open Sauce Bold"/>
              </a:rPr>
              <a:t>La alternancia es forzada</a:t>
            </a:r>
            <a:r>
              <a:rPr lang="en-US" sz="2200">
                <a:solidFill>
                  <a:srgbClr val="061313"/>
                </a:solidFill>
                <a:latin typeface="Open Sauce"/>
                <a:ea typeface="Open Sauce"/>
                <a:cs typeface="Open Sauce"/>
                <a:sym typeface="Open Sauce"/>
              </a:rPr>
              <a:t>: </a:t>
            </a:r>
          </a:p>
          <a:p>
            <a:pPr algn="just">
              <a:lnSpc>
                <a:spcPts val="3080"/>
              </a:lnSpc>
            </a:pPr>
            <a:r>
              <a:rPr lang="en-US" sz="2200">
                <a:solidFill>
                  <a:srgbClr val="061313"/>
                </a:solidFill>
                <a:latin typeface="Open Sauce"/>
                <a:ea typeface="Open Sauce"/>
                <a:cs typeface="Open Sauce"/>
                <a:sym typeface="Open Sauce"/>
              </a:rPr>
              <a:t>Un proceso </a:t>
            </a:r>
            <a:r>
              <a:rPr lang="en-US" sz="2200" b="true">
                <a:solidFill>
                  <a:srgbClr val="1D7151"/>
                </a:solidFill>
                <a:latin typeface="Open Sauce Bold"/>
                <a:ea typeface="Open Sauce Bold"/>
                <a:cs typeface="Open Sauce Bold"/>
                <a:sym typeface="Open Sauce Bold"/>
              </a:rPr>
              <a:t>no puede entrar dos veces seguidas</a:t>
            </a:r>
            <a:r>
              <a:rPr lang="en-US" sz="2200">
                <a:solidFill>
                  <a:srgbClr val="061313"/>
                </a:solidFill>
                <a:latin typeface="Open Sauce"/>
                <a:ea typeface="Open Sauce"/>
                <a:cs typeface="Open Sauce"/>
                <a:sym typeface="Open Sauce"/>
              </a:rPr>
              <a:t>, aunque el otro no quiera usar el recurso.</a:t>
            </a:r>
          </a:p>
          <a:p>
            <a:pPr algn="just">
              <a:lnSpc>
                <a:spcPts val="3080"/>
              </a:lnSpc>
            </a:pPr>
          </a:p>
          <a:p>
            <a:pPr algn="just">
              <a:lnSpc>
                <a:spcPts val="3080"/>
              </a:lnSpc>
              <a:spcBef>
                <a:spcPct val="0"/>
              </a:spcBef>
            </a:pPr>
            <a:r>
              <a:rPr lang="en-US" sz="2200">
                <a:solidFill>
                  <a:srgbClr val="061313"/>
                </a:solidFill>
                <a:latin typeface="Open Sauce"/>
                <a:ea typeface="Open Sauce"/>
                <a:cs typeface="Open Sauce"/>
                <a:sym typeface="Open Sauce"/>
              </a:rPr>
              <a:t>Si P1 nunca quiere entrar (o se bloquea), P0 </a:t>
            </a:r>
            <a:r>
              <a:rPr lang="en-US" b="true" sz="2200">
                <a:solidFill>
                  <a:srgbClr val="1D7151"/>
                </a:solidFill>
                <a:latin typeface="Open Sauce Bold"/>
                <a:ea typeface="Open Sauce Bold"/>
                <a:cs typeface="Open Sauce Bold"/>
                <a:sym typeface="Open Sauce Bold"/>
              </a:rPr>
              <a:t>nunca </a:t>
            </a:r>
            <a:r>
              <a:rPr lang="en-US" sz="2200">
                <a:solidFill>
                  <a:srgbClr val="061313"/>
                </a:solidFill>
                <a:latin typeface="Open Sauce"/>
                <a:ea typeface="Open Sauce"/>
                <a:cs typeface="Open Sauce"/>
                <a:sym typeface="Open Sauce"/>
              </a:rPr>
              <a:t>podrá entrar.</a:t>
            </a:r>
          </a:p>
        </p:txBody>
      </p:sp>
      <p:grpSp>
        <p:nvGrpSpPr>
          <p:cNvPr name="Group 12" id="12"/>
          <p:cNvGrpSpPr/>
          <p:nvPr/>
        </p:nvGrpSpPr>
        <p:grpSpPr>
          <a:xfrm rot="0">
            <a:off x="17062445" y="8344817"/>
            <a:ext cx="831328" cy="1826965"/>
            <a:chOff x="0" y="0"/>
            <a:chExt cx="1045580" cy="2297816"/>
          </a:xfrm>
        </p:grpSpPr>
        <p:sp>
          <p:nvSpPr>
            <p:cNvPr name="Freeform 13" id="13"/>
            <p:cNvSpPr/>
            <p:nvPr/>
          </p:nvSpPr>
          <p:spPr>
            <a:xfrm flipH="false" flipV="false" rot="0">
              <a:off x="0" y="0"/>
              <a:ext cx="1045580" cy="2297816"/>
            </a:xfrm>
            <a:custGeom>
              <a:avLst/>
              <a:gdLst/>
              <a:ahLst/>
              <a:cxnLst/>
              <a:rect r="r" b="b" t="t" l="l"/>
              <a:pathLst>
                <a:path h="2297816" w="1045580">
                  <a:moveTo>
                    <a:pt x="921119" y="2297816"/>
                  </a:moveTo>
                  <a:lnTo>
                    <a:pt x="124460" y="2297816"/>
                  </a:lnTo>
                  <a:cubicBezTo>
                    <a:pt x="55880" y="2297816"/>
                    <a:pt x="0" y="2241936"/>
                    <a:pt x="0" y="2173356"/>
                  </a:cubicBezTo>
                  <a:lnTo>
                    <a:pt x="0" y="124460"/>
                  </a:lnTo>
                  <a:cubicBezTo>
                    <a:pt x="0" y="55880"/>
                    <a:pt x="55880" y="0"/>
                    <a:pt x="124460" y="0"/>
                  </a:cubicBezTo>
                  <a:lnTo>
                    <a:pt x="921120" y="0"/>
                  </a:lnTo>
                  <a:cubicBezTo>
                    <a:pt x="989700" y="0"/>
                    <a:pt x="1045580" y="55880"/>
                    <a:pt x="1045580" y="124460"/>
                  </a:cubicBezTo>
                  <a:lnTo>
                    <a:pt x="1045580" y="2173356"/>
                  </a:lnTo>
                  <a:cubicBezTo>
                    <a:pt x="1045580" y="2241936"/>
                    <a:pt x="989700" y="2297816"/>
                    <a:pt x="921120" y="2297816"/>
                  </a:cubicBezTo>
                  <a:close/>
                </a:path>
              </a:pathLst>
            </a:custGeom>
            <a:solidFill>
              <a:srgbClr val="1D7151"/>
            </a:solid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6922304" y="2251466"/>
            <a:ext cx="5218452" cy="7703428"/>
          </a:xfrm>
          <a:custGeom>
            <a:avLst/>
            <a:gdLst/>
            <a:ahLst/>
            <a:cxnLst/>
            <a:rect r="r" b="b" t="t" l="l"/>
            <a:pathLst>
              <a:path h="7703428" w="5218452">
                <a:moveTo>
                  <a:pt x="0" y="0"/>
                </a:moveTo>
                <a:lnTo>
                  <a:pt x="5218451" y="0"/>
                </a:lnTo>
                <a:lnTo>
                  <a:pt x="5218451" y="7703429"/>
                </a:lnTo>
                <a:lnTo>
                  <a:pt x="0" y="7703429"/>
                </a:lnTo>
                <a:lnTo>
                  <a:pt x="0" y="0"/>
                </a:lnTo>
                <a:close/>
              </a:path>
            </a:pathLst>
          </a:custGeom>
          <a:blipFill>
            <a:blip r:embed="rId2"/>
            <a:stretch>
              <a:fillRect l="0" t="0" r="0" b="0"/>
            </a:stretch>
          </a:blipFill>
        </p:spPr>
      </p:sp>
      <p:sp>
        <p:nvSpPr>
          <p:cNvPr name="Freeform 3" id="3"/>
          <p:cNvSpPr/>
          <p:nvPr/>
        </p:nvSpPr>
        <p:spPr>
          <a:xfrm flipH="false" flipV="false" rot="0">
            <a:off x="1912039" y="3160118"/>
            <a:ext cx="3685354" cy="1197025"/>
          </a:xfrm>
          <a:custGeom>
            <a:avLst/>
            <a:gdLst/>
            <a:ahLst/>
            <a:cxnLst/>
            <a:rect r="r" b="b" t="t" l="l"/>
            <a:pathLst>
              <a:path h="1197025" w="3685354">
                <a:moveTo>
                  <a:pt x="0" y="0"/>
                </a:moveTo>
                <a:lnTo>
                  <a:pt x="3685355" y="0"/>
                </a:lnTo>
                <a:lnTo>
                  <a:pt x="3685355" y="1197025"/>
                </a:lnTo>
                <a:lnTo>
                  <a:pt x="0" y="1197025"/>
                </a:lnTo>
                <a:lnTo>
                  <a:pt x="0" y="0"/>
                </a:lnTo>
                <a:close/>
              </a:path>
            </a:pathLst>
          </a:custGeom>
          <a:blipFill>
            <a:blip r:embed="rId3"/>
            <a:stretch>
              <a:fillRect l="-1572" t="-74451" r="-1572" b="0"/>
            </a:stretch>
          </a:blipFill>
        </p:spPr>
      </p:sp>
      <p:sp>
        <p:nvSpPr>
          <p:cNvPr name="TextBox 4" id="4"/>
          <p:cNvSpPr txBox="true"/>
          <p:nvPr/>
        </p:nvSpPr>
        <p:spPr>
          <a:xfrm rot="0">
            <a:off x="1028700" y="1361831"/>
            <a:ext cx="13420269" cy="1278889"/>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Idea</a:t>
            </a:r>
            <a:r>
              <a:rPr lang="en-US" sz="2200">
                <a:solidFill>
                  <a:srgbClr val="061313"/>
                </a:solidFill>
                <a:latin typeface="Open Sauce"/>
                <a:ea typeface="Open Sauce"/>
                <a:cs typeface="Open Sauce"/>
                <a:sym typeface="Open Sauce"/>
              </a:rPr>
              <a:t>: Cada proceso señala que DESEA entrar usando </a:t>
            </a:r>
            <a:r>
              <a:rPr lang="en-US" sz="2200" i="true">
                <a:solidFill>
                  <a:srgbClr val="1D7151"/>
                </a:solidFill>
                <a:latin typeface="Open Sauce Italics"/>
                <a:ea typeface="Open Sauce Italics"/>
                <a:cs typeface="Open Sauce Italics"/>
                <a:sym typeface="Open Sauce Italics"/>
              </a:rPr>
              <a:t>estadoHilo[ ]</a:t>
            </a:r>
            <a:r>
              <a:rPr lang="en-US" sz="2200">
                <a:solidFill>
                  <a:srgbClr val="061313"/>
                </a:solidFill>
                <a:latin typeface="Open Sauce"/>
                <a:ea typeface="Open Sauce"/>
                <a:cs typeface="Open Sauce"/>
                <a:sym typeface="Open Sauce"/>
              </a:rPr>
              <a:t>. Si el otro no está dentro, entra.</a:t>
            </a:r>
          </a:p>
          <a:p>
            <a:pPr algn="l" marL="474983" indent="-237491" lvl="1">
              <a:lnSpc>
                <a:spcPts val="3520"/>
              </a:lnSpc>
              <a:buFont typeface="Arial"/>
              <a:buChar char="•"/>
            </a:pPr>
            <a:r>
              <a:rPr lang="en-US" sz="2200">
                <a:solidFill>
                  <a:srgbClr val="061313"/>
                </a:solidFill>
                <a:latin typeface="Open Sauce"/>
                <a:ea typeface="Open Sauce"/>
                <a:cs typeface="Open Sauce"/>
                <a:sym typeface="Open Sauce"/>
              </a:rPr>
              <a:t>Si H0 quiere entrar, revisa si H1 está dentro.</a:t>
            </a:r>
          </a:p>
          <a:p>
            <a:pPr algn="l" marL="474983" indent="-237491" lvl="1">
              <a:lnSpc>
                <a:spcPts val="3520"/>
              </a:lnSpc>
              <a:buFont typeface="Arial"/>
              <a:buChar char="•"/>
            </a:pPr>
            <a:r>
              <a:rPr lang="en-US" sz="2200">
                <a:solidFill>
                  <a:srgbClr val="061313"/>
                </a:solidFill>
                <a:latin typeface="Open Sauce"/>
                <a:ea typeface="Open Sauce"/>
                <a:cs typeface="Open Sauce"/>
                <a:sym typeface="Open Sauce"/>
              </a:rPr>
              <a:t>Si H1 está dentro, espera que salga.</a:t>
            </a:r>
          </a:p>
        </p:txBody>
      </p:sp>
      <p:sp>
        <p:nvSpPr>
          <p:cNvPr name="TextBox 5" id="5"/>
          <p:cNvSpPr txBox="true"/>
          <p:nvPr/>
        </p:nvSpPr>
        <p:spPr>
          <a:xfrm rot="0">
            <a:off x="1028700" y="563681"/>
            <a:ext cx="16230600" cy="781049"/>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Dekker V2 - Flag de intención</a:t>
            </a:r>
          </a:p>
        </p:txBody>
      </p:sp>
      <p:sp>
        <p:nvSpPr>
          <p:cNvPr name="TextBox 6" id="6"/>
          <p:cNvSpPr txBox="true"/>
          <p:nvPr/>
        </p:nvSpPr>
        <p:spPr>
          <a:xfrm rot="0">
            <a:off x="12578905" y="2194316"/>
            <a:ext cx="4821015" cy="48133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7" id="7"/>
          <p:cNvSpPr txBox="true"/>
          <p:nvPr/>
        </p:nvSpPr>
        <p:spPr>
          <a:xfrm rot="0">
            <a:off x="12578905" y="2707396"/>
            <a:ext cx="4821015" cy="6612745"/>
          </a:xfrm>
          <a:prstGeom prst="rect">
            <a:avLst/>
          </a:prstGeom>
        </p:spPr>
        <p:txBody>
          <a:bodyPr anchor="t" rtlCol="false" tIns="0" lIns="0" bIns="0" rIns="0">
            <a:spAutoFit/>
          </a:bodyPr>
          <a:lstStyle/>
          <a:p>
            <a:pPr algn="l">
              <a:lnSpc>
                <a:spcPts val="3080"/>
              </a:lnSpc>
              <a:spcBef>
                <a:spcPct val="0"/>
              </a:spcBef>
            </a:pPr>
            <a:r>
              <a:rPr lang="en-US" b="true" sz="2200">
                <a:solidFill>
                  <a:srgbClr val="000000"/>
                </a:solidFill>
                <a:latin typeface="Open Sauce Bold"/>
                <a:ea typeface="Open Sauce Bold"/>
                <a:cs typeface="Open Sauce Bold"/>
                <a:sym typeface="Open Sauce Bold"/>
              </a:rPr>
              <a:t>Estado inicial</a:t>
            </a:r>
            <a:r>
              <a:rPr lang="en-US" sz="2200">
                <a:solidFill>
                  <a:srgbClr val="000000"/>
                </a:solidFill>
                <a:latin typeface="Open Sauce"/>
                <a:ea typeface="Open Sauce"/>
                <a:cs typeface="Open Sauce"/>
                <a:sym typeface="Open Sauce"/>
              </a:rPr>
              <a:t>:</a:t>
            </a:r>
          </a:p>
          <a:p>
            <a:pPr algn="l">
              <a:lnSpc>
                <a:spcPts val="3080"/>
              </a:lnSpc>
              <a:spcBef>
                <a:spcPct val="0"/>
              </a:spcBef>
            </a:pPr>
            <a:r>
              <a:rPr lang="en-US" sz="2200">
                <a:solidFill>
                  <a:srgbClr val="000000"/>
                </a:solidFill>
                <a:latin typeface="Open Sauce"/>
                <a:ea typeface="Open Sauce"/>
                <a:cs typeface="Open Sauce"/>
                <a:sym typeface="Open Sauce"/>
              </a:rPr>
              <a:t>saldo = 1000, estadoHilo[0] = 0 (false) y estadoHilo[1] = 0 (false)</a:t>
            </a:r>
          </a:p>
          <a:p>
            <a:pPr algn="l">
              <a:lnSpc>
                <a:spcPts val="3080"/>
              </a:lnSpc>
              <a:spcBef>
                <a:spcPct val="0"/>
              </a:spcBef>
            </a:pP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 H0 ve que estadoHilo[1] = 0 y pasa el bucle.</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ve que estadoHilo[0] = 0 aún y también pasa.</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activa bandera estadoHilo[0]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activa su bandera estadoHilo[1]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ejecuta SC: </a:t>
            </a:r>
          </a:p>
          <a:p>
            <a:pPr algn="l">
              <a:lnSpc>
                <a:spcPts val="3080"/>
              </a:lnSpc>
              <a:spcBef>
                <a:spcPct val="0"/>
              </a:spcBef>
            </a:pPr>
            <a:r>
              <a:rPr lang="en-US" sz="2200">
                <a:solidFill>
                  <a:srgbClr val="000000"/>
                </a:solidFill>
                <a:latin typeface="Open Sauce"/>
                <a:ea typeface="Open Sauce"/>
                <a:cs typeface="Open Sauce"/>
                <a:sym typeface="Open Sauce"/>
              </a:rPr>
              <a:t>      saldo = 1000 - 500 = 500</a:t>
            </a:r>
          </a:p>
          <a:p>
            <a:pPr algn="l" marL="474981" indent="-237491" lvl="1">
              <a:lnSpc>
                <a:spcPts val="3080"/>
              </a:lnSpc>
              <a:spcBef>
                <a:spcPct val="0"/>
              </a:spcBef>
              <a:buAutoNum type="arabicPeriod" startAt="1"/>
            </a:pPr>
            <a:r>
              <a:rPr lang="en-US" b="true" sz="2200">
                <a:solidFill>
                  <a:srgbClr val="000000"/>
                </a:solidFill>
                <a:latin typeface="Open Sauce Bold"/>
                <a:ea typeface="Open Sauce Bold"/>
                <a:cs typeface="Open Sauce Bold"/>
                <a:sym typeface="Open Sauce Bold"/>
              </a:rPr>
              <a:t>Colisión</a:t>
            </a:r>
            <a:r>
              <a:rPr lang="en-US" sz="2200">
                <a:solidFill>
                  <a:srgbClr val="000000"/>
                </a:solidFill>
                <a:latin typeface="Open Sauce"/>
                <a:ea typeface="Open Sauce"/>
                <a:cs typeface="Open Sauce"/>
                <a:sym typeface="Open Sauce"/>
              </a:rPr>
              <a:t>: H1 tambien entra en SC: saldo = 1000 - 300 = </a:t>
            </a:r>
            <a:r>
              <a:rPr lang="en-US" b="true" sz="2200">
                <a:solidFill>
                  <a:srgbClr val="1D7151"/>
                </a:solidFill>
                <a:latin typeface="Open Sauce Bold"/>
                <a:ea typeface="Open Sauce Bold"/>
                <a:cs typeface="Open Sauce Bold"/>
                <a:sym typeface="Open Sauce Bold"/>
              </a:rPr>
              <a:t>700</a:t>
            </a:r>
          </a:p>
          <a:p>
            <a:pPr algn="l">
              <a:lnSpc>
                <a:spcPts val="3080"/>
              </a:lnSpc>
              <a:spcBef>
                <a:spcPct val="0"/>
              </a:spcBef>
            </a:pPr>
            <a:r>
              <a:rPr lang="en-US" sz="2200">
                <a:solidFill>
                  <a:srgbClr val="000000"/>
                </a:solidFill>
                <a:latin typeface="Open Sauce"/>
                <a:ea typeface="Open Sauce"/>
                <a:cs typeface="Open Sauce"/>
                <a:sym typeface="Open Sauce"/>
              </a:rPr>
              <a:t>¡Falla la exclusión mutua!</a:t>
            </a:r>
          </a:p>
        </p:txBody>
      </p:sp>
      <p:sp>
        <p:nvSpPr>
          <p:cNvPr name="TextBox 8" id="8"/>
          <p:cNvSpPr txBox="true"/>
          <p:nvPr/>
        </p:nvSpPr>
        <p:spPr>
          <a:xfrm rot="0">
            <a:off x="1912039" y="2678821"/>
            <a:ext cx="3685354"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grpSp>
        <p:nvGrpSpPr>
          <p:cNvPr name="Group 9" id="9"/>
          <p:cNvGrpSpPr/>
          <p:nvPr/>
        </p:nvGrpSpPr>
        <p:grpSpPr>
          <a:xfrm rot="0">
            <a:off x="1028700" y="4557796"/>
            <a:ext cx="5452033" cy="5055361"/>
            <a:chOff x="0" y="0"/>
            <a:chExt cx="7269377" cy="6740481"/>
          </a:xfrm>
        </p:grpSpPr>
        <p:sp>
          <p:nvSpPr>
            <p:cNvPr name="TextBox 10" id="10"/>
            <p:cNvSpPr txBox="true"/>
            <p:nvPr/>
          </p:nvSpPr>
          <p:spPr>
            <a:xfrm rot="0">
              <a:off x="0" y="-57150"/>
              <a:ext cx="7269377"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a:t>
              </a:r>
            </a:p>
          </p:txBody>
        </p:sp>
        <p:sp>
          <p:nvSpPr>
            <p:cNvPr name="TextBox 11" id="11"/>
            <p:cNvSpPr txBox="true"/>
            <p:nvPr/>
          </p:nvSpPr>
          <p:spPr>
            <a:xfrm rot="0">
              <a:off x="0" y="536955"/>
              <a:ext cx="7269377" cy="6203527"/>
            </a:xfrm>
            <a:prstGeom prst="rect">
              <a:avLst/>
            </a:prstGeom>
          </p:spPr>
          <p:txBody>
            <a:bodyPr anchor="t" rtlCol="false" tIns="0" lIns="0" bIns="0" rIns="0">
              <a:spAutoFit/>
            </a:bodyPr>
            <a:lstStyle/>
            <a:p>
              <a:pPr algn="just">
                <a:lnSpc>
                  <a:spcPts val="3080"/>
                </a:lnSpc>
              </a:pPr>
              <a:r>
                <a:rPr lang="en-US" sz="2200" b="true">
                  <a:solidFill>
                    <a:srgbClr val="061313"/>
                  </a:solidFill>
                  <a:latin typeface="Open Sauce Bold"/>
                  <a:ea typeface="Open Sauce Bold"/>
                  <a:cs typeface="Open Sauce Bold"/>
                  <a:sym typeface="Open Sauce Bold"/>
                </a:rPr>
                <a:t>No garantiza la exclusión mutua</a:t>
              </a:r>
              <a:r>
                <a:rPr lang="en-US" sz="2200">
                  <a:solidFill>
                    <a:srgbClr val="061313"/>
                  </a:solidFill>
                  <a:latin typeface="Open Sauce"/>
                  <a:ea typeface="Open Sauce"/>
                  <a:cs typeface="Open Sauce"/>
                  <a:sym typeface="Open Sauce"/>
                </a:rPr>
                <a:t>: </a:t>
              </a:r>
            </a:p>
            <a:p>
              <a:pPr algn="just">
                <a:lnSpc>
                  <a:spcPts val="3080"/>
                </a:lnSpc>
              </a:pPr>
              <a:r>
                <a:rPr lang="en-US" sz="2200">
                  <a:solidFill>
                    <a:srgbClr val="061313"/>
                  </a:solidFill>
                  <a:latin typeface="Open Sauce"/>
                  <a:ea typeface="Open Sauce"/>
                  <a:cs typeface="Open Sauce"/>
                  <a:sym typeface="Open Sauce"/>
                </a:rPr>
                <a:t>Como existe un “hueco” de tiempo entre que el hilo comprueba la bandeja ajena y levanta la suya, el otro hilo puede aprovechar ese instante para entrar también.</a:t>
              </a:r>
            </a:p>
            <a:p>
              <a:pPr algn="just">
                <a:lnSpc>
                  <a:spcPts val="3080"/>
                </a:lnSpc>
                <a:spcBef>
                  <a:spcPct val="0"/>
                </a:spcBef>
              </a:pPr>
              <a:r>
                <a:rPr lang="en-US" sz="2200">
                  <a:solidFill>
                    <a:srgbClr val="061313"/>
                  </a:solidFill>
                  <a:latin typeface="Open Sauce"/>
                  <a:ea typeface="Open Sauce"/>
                  <a:cs typeface="Open Sauce"/>
                  <a:sym typeface="Open Sauce"/>
                </a:rPr>
                <a:t>Si el Hilo 1 realiza su comprobación justo en ese pequeño intervalo, también verá la bandera del hilo 0 en </a:t>
              </a:r>
              <a:r>
                <a:rPr lang="en-US" sz="2200" i="true">
                  <a:solidFill>
                    <a:srgbClr val="1D7151"/>
                  </a:solidFill>
                  <a:latin typeface="Open Sauce Italics"/>
                  <a:ea typeface="Open Sauce Italics"/>
                  <a:cs typeface="Open Sauce Italics"/>
                  <a:sym typeface="Open Sauce Italics"/>
                </a:rPr>
                <a:t>false</a:t>
              </a:r>
              <a:r>
                <a:rPr lang="en-US" sz="2200">
                  <a:solidFill>
                    <a:srgbClr val="061313"/>
                  </a:solidFill>
                  <a:latin typeface="Open Sauce"/>
                  <a:ea typeface="Open Sauce"/>
                  <a:cs typeface="Open Sauce"/>
                  <a:sym typeface="Open Sauce"/>
                </a:rPr>
                <a:t>. Como resultado, </a:t>
              </a:r>
              <a:r>
                <a:rPr lang="en-US" b="true" sz="2200">
                  <a:solidFill>
                    <a:srgbClr val="1D7151"/>
                  </a:solidFill>
                  <a:latin typeface="Open Sauce Bold"/>
                  <a:ea typeface="Open Sauce Bold"/>
                  <a:cs typeface="Open Sauce Bold"/>
                  <a:sym typeface="Open Sauce Bold"/>
                </a:rPr>
                <a:t>ambos procesos pondrán sus banderas en </a:t>
              </a:r>
              <a:r>
                <a:rPr lang="en-US" sz="2200" i="true">
                  <a:solidFill>
                    <a:srgbClr val="1D7151"/>
                  </a:solidFill>
                  <a:latin typeface="Open Sauce Italics"/>
                  <a:ea typeface="Open Sauce Italics"/>
                  <a:cs typeface="Open Sauce Italics"/>
                  <a:sym typeface="Open Sauce Italics"/>
                </a:rPr>
                <a:t>true</a:t>
              </a:r>
              <a:r>
                <a:rPr lang="en-US" sz="2200">
                  <a:solidFill>
                    <a:srgbClr val="1D7151"/>
                  </a:solidFill>
                  <a:latin typeface="Open Sauce"/>
                  <a:ea typeface="Open Sauce"/>
                  <a:cs typeface="Open Sauce"/>
                  <a:sym typeface="Open Sauce"/>
                </a:rPr>
                <a:t> </a:t>
              </a:r>
              <a:r>
                <a:rPr lang="en-US" b="true" sz="2200">
                  <a:solidFill>
                    <a:srgbClr val="1D7151"/>
                  </a:solidFill>
                  <a:latin typeface="Open Sauce Bold"/>
                  <a:ea typeface="Open Sauce Bold"/>
                  <a:cs typeface="Open Sauce Bold"/>
                  <a:sym typeface="Open Sauce Bold"/>
                </a:rPr>
                <a:t>y ambos entrarán a la sección crítica a la vez</a:t>
              </a:r>
              <a:r>
                <a:rPr lang="en-US" sz="2200">
                  <a:solidFill>
                    <a:srgbClr val="061313"/>
                  </a:solidFill>
                  <a:latin typeface="Open Sauce"/>
                  <a:ea typeface="Open Sauce"/>
                  <a:cs typeface="Open Sauce"/>
                  <a:sym typeface="Open Sauce"/>
                </a:rPr>
                <a:t>.</a:t>
              </a:r>
            </a:p>
          </p:txBody>
        </p:sp>
      </p:grpSp>
      <p:sp>
        <p:nvSpPr>
          <p:cNvPr name="TextBox 12" id="12"/>
          <p:cNvSpPr txBox="true"/>
          <p:nvPr/>
        </p:nvSpPr>
        <p:spPr>
          <a:xfrm rot="0">
            <a:off x="17493849" y="8921360"/>
            <a:ext cx="362229" cy="490822"/>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5</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7060149" y="1787442"/>
            <a:ext cx="5148714" cy="7966681"/>
          </a:xfrm>
          <a:custGeom>
            <a:avLst/>
            <a:gdLst/>
            <a:ahLst/>
            <a:cxnLst/>
            <a:rect r="r" b="b" t="t" l="l"/>
            <a:pathLst>
              <a:path h="7966681" w="5148714">
                <a:moveTo>
                  <a:pt x="0" y="0"/>
                </a:moveTo>
                <a:lnTo>
                  <a:pt x="5148715" y="0"/>
                </a:lnTo>
                <a:lnTo>
                  <a:pt x="5148715" y="7966681"/>
                </a:lnTo>
                <a:lnTo>
                  <a:pt x="0" y="7966681"/>
                </a:lnTo>
                <a:lnTo>
                  <a:pt x="0" y="0"/>
                </a:lnTo>
                <a:close/>
              </a:path>
            </a:pathLst>
          </a:custGeom>
          <a:blipFill>
            <a:blip r:embed="rId2"/>
            <a:stretch>
              <a:fillRect l="0" t="0" r="0" b="0"/>
            </a:stretch>
          </a:blipFill>
        </p:spPr>
      </p:sp>
      <p:sp>
        <p:nvSpPr>
          <p:cNvPr name="Freeform 3" id="3"/>
          <p:cNvSpPr/>
          <p:nvPr/>
        </p:nvSpPr>
        <p:spPr>
          <a:xfrm flipH="false" flipV="false" rot="0">
            <a:off x="1943028" y="3802928"/>
            <a:ext cx="3719284" cy="1497374"/>
          </a:xfrm>
          <a:custGeom>
            <a:avLst/>
            <a:gdLst/>
            <a:ahLst/>
            <a:cxnLst/>
            <a:rect r="r" b="b" t="t" l="l"/>
            <a:pathLst>
              <a:path h="1497374" w="3719284">
                <a:moveTo>
                  <a:pt x="0" y="0"/>
                </a:moveTo>
                <a:lnTo>
                  <a:pt x="3719283" y="0"/>
                </a:lnTo>
                <a:lnTo>
                  <a:pt x="3719283" y="1497374"/>
                </a:lnTo>
                <a:lnTo>
                  <a:pt x="0" y="1497374"/>
                </a:lnTo>
                <a:lnTo>
                  <a:pt x="0" y="0"/>
                </a:lnTo>
                <a:close/>
              </a:path>
            </a:pathLst>
          </a:custGeom>
          <a:blipFill>
            <a:blip r:embed="rId3"/>
            <a:stretch>
              <a:fillRect l="0" t="0" r="0" b="0"/>
            </a:stretch>
          </a:blipFill>
        </p:spPr>
      </p:sp>
      <p:sp>
        <p:nvSpPr>
          <p:cNvPr name="TextBox 4" id="4"/>
          <p:cNvSpPr txBox="true"/>
          <p:nvPr/>
        </p:nvSpPr>
        <p:spPr>
          <a:xfrm rot="0">
            <a:off x="1028700" y="1304971"/>
            <a:ext cx="13065166" cy="402656"/>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Idea</a:t>
            </a:r>
            <a:r>
              <a:rPr lang="en-US" sz="2200">
                <a:solidFill>
                  <a:srgbClr val="061313"/>
                </a:solidFill>
                <a:latin typeface="Open Sauce"/>
                <a:ea typeface="Open Sauce"/>
                <a:cs typeface="Open Sauce"/>
                <a:sym typeface="Open Sauce"/>
              </a:rPr>
              <a:t>: Usa AMBAS variables. </a:t>
            </a:r>
            <a:r>
              <a:rPr lang="en-US" sz="2200" i="true">
                <a:solidFill>
                  <a:srgbClr val="1D7151"/>
                </a:solidFill>
                <a:latin typeface="Open Sauce Italics"/>
                <a:ea typeface="Open Sauce Italics"/>
                <a:cs typeface="Open Sauce Italics"/>
                <a:sym typeface="Open Sauce Italics"/>
              </a:rPr>
              <a:t>flag </a:t>
            </a:r>
            <a:r>
              <a:rPr lang="en-US" sz="2200">
                <a:solidFill>
                  <a:srgbClr val="061313"/>
                </a:solidFill>
                <a:latin typeface="Open Sauce"/>
                <a:ea typeface="Open Sauce"/>
                <a:cs typeface="Open Sauce"/>
                <a:sym typeface="Open Sauce"/>
              </a:rPr>
              <a:t>para intención, </a:t>
            </a:r>
            <a:r>
              <a:rPr lang="en-US" sz="2200" i="true">
                <a:solidFill>
                  <a:srgbClr val="1D7151"/>
                </a:solidFill>
                <a:latin typeface="Open Sauce Italics"/>
                <a:ea typeface="Open Sauce Italics"/>
                <a:cs typeface="Open Sauce Italics"/>
                <a:sym typeface="Open Sauce Italics"/>
              </a:rPr>
              <a:t>turn </a:t>
            </a:r>
            <a:r>
              <a:rPr lang="en-US" sz="2200">
                <a:solidFill>
                  <a:srgbClr val="061313"/>
                </a:solidFill>
                <a:latin typeface="Open Sauce"/>
                <a:ea typeface="Open Sauce"/>
                <a:cs typeface="Open Sauce"/>
                <a:sym typeface="Open Sauce"/>
              </a:rPr>
              <a:t>para romper empates.</a:t>
            </a:r>
          </a:p>
        </p:txBody>
      </p:sp>
      <p:sp>
        <p:nvSpPr>
          <p:cNvPr name="TextBox 5" id="5"/>
          <p:cNvSpPr txBox="true"/>
          <p:nvPr/>
        </p:nvSpPr>
        <p:spPr>
          <a:xfrm rot="0">
            <a:off x="1028700" y="554038"/>
            <a:ext cx="16230600" cy="781049"/>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Dekker V3 - Flag + Turn</a:t>
            </a:r>
          </a:p>
        </p:txBody>
      </p:sp>
      <p:sp>
        <p:nvSpPr>
          <p:cNvPr name="TextBox 6" id="6"/>
          <p:cNvSpPr txBox="true"/>
          <p:nvPr/>
        </p:nvSpPr>
        <p:spPr>
          <a:xfrm rot="0">
            <a:off x="1029521" y="1749342"/>
            <a:ext cx="5802028" cy="1544585"/>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Open Sauce"/>
                <a:ea typeface="Open Sauce"/>
                <a:cs typeface="Open Sauce"/>
                <a:sym typeface="Open Sauce"/>
              </a:rPr>
              <a:t>Un proceso debe señalizar su intencion de entrar a la seccion critica antes de comprobar si el otro proceso está interesado.</a:t>
            </a:r>
          </a:p>
        </p:txBody>
      </p:sp>
      <p:sp>
        <p:nvSpPr>
          <p:cNvPr name="TextBox 7" id="7"/>
          <p:cNvSpPr txBox="true"/>
          <p:nvPr/>
        </p:nvSpPr>
        <p:spPr>
          <a:xfrm rot="0">
            <a:off x="1029521" y="3321631"/>
            <a:ext cx="5674162"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sp>
        <p:nvSpPr>
          <p:cNvPr name="TextBox 8" id="8"/>
          <p:cNvSpPr txBox="true"/>
          <p:nvPr/>
        </p:nvSpPr>
        <p:spPr>
          <a:xfrm rot="0">
            <a:off x="12438285" y="1487249"/>
            <a:ext cx="4821015"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9" id="9"/>
          <p:cNvSpPr txBox="true"/>
          <p:nvPr/>
        </p:nvSpPr>
        <p:spPr>
          <a:xfrm rot="0">
            <a:off x="12438285" y="2000328"/>
            <a:ext cx="4821015" cy="5440971"/>
          </a:xfrm>
          <a:prstGeom prst="rect">
            <a:avLst/>
          </a:prstGeom>
        </p:spPr>
        <p:txBody>
          <a:bodyPr anchor="t" rtlCol="false" tIns="0" lIns="0" bIns="0" rIns="0">
            <a:spAutoFit/>
          </a:bodyPr>
          <a:lstStyle/>
          <a:p>
            <a:pPr algn="l">
              <a:lnSpc>
                <a:spcPts val="3080"/>
              </a:lnSpc>
              <a:spcBef>
                <a:spcPct val="0"/>
              </a:spcBef>
            </a:pPr>
            <a:r>
              <a:rPr lang="en-US" b="true" sz="2200">
                <a:solidFill>
                  <a:srgbClr val="000000"/>
                </a:solidFill>
                <a:latin typeface="Open Sauce Bold"/>
                <a:ea typeface="Open Sauce Bold"/>
                <a:cs typeface="Open Sauce Bold"/>
                <a:sym typeface="Open Sauce Bold"/>
              </a:rPr>
              <a:t>Estado inicial</a:t>
            </a:r>
            <a:r>
              <a:rPr lang="en-US" sz="2200">
                <a:solidFill>
                  <a:srgbClr val="000000"/>
                </a:solidFill>
                <a:latin typeface="Open Sauce"/>
                <a:ea typeface="Open Sauce"/>
                <a:cs typeface="Open Sauce"/>
                <a:sym typeface="Open Sauce"/>
              </a:rPr>
              <a:t>:</a:t>
            </a:r>
          </a:p>
          <a:p>
            <a:pPr algn="l">
              <a:lnSpc>
                <a:spcPts val="3080"/>
              </a:lnSpc>
              <a:spcBef>
                <a:spcPct val="0"/>
              </a:spcBef>
            </a:pPr>
            <a:r>
              <a:rPr lang="en-US" sz="2200">
                <a:solidFill>
                  <a:srgbClr val="000000"/>
                </a:solidFill>
                <a:latin typeface="Open Sauce"/>
                <a:ea typeface="Open Sauce"/>
                <a:cs typeface="Open Sauce"/>
                <a:sym typeface="Open Sauce"/>
              </a:rPr>
              <a:t>saldo = 1000, estadoHilo[0] = 0 (false) y estadoHilo[1] = 0 (false)</a:t>
            </a:r>
          </a:p>
          <a:p>
            <a:pPr algn="l">
              <a:lnSpc>
                <a:spcPts val="3080"/>
              </a:lnSpc>
              <a:spcBef>
                <a:spcPct val="0"/>
              </a:spcBef>
            </a:pP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 H0 declara intencíon de entrar, estadoHijo[0]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declara intención también estadoHijo[0]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ve que H1 quiere entrar, entonces espera.</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Pero H1 ve que H0 quiere entrar, entonces también espera.</a:t>
            </a:r>
          </a:p>
          <a:p>
            <a:pPr algn="l" marL="474981" indent="-237491" lvl="1">
              <a:lnSpc>
                <a:spcPts val="3080"/>
              </a:lnSpc>
              <a:spcBef>
                <a:spcPct val="0"/>
              </a:spcBef>
              <a:buAutoNum type="arabicPeriod" startAt="1"/>
            </a:pPr>
            <a:r>
              <a:rPr lang="en-US" b="true" sz="2200">
                <a:solidFill>
                  <a:srgbClr val="1D7151"/>
                </a:solidFill>
                <a:latin typeface="Open Sauce Bold"/>
                <a:ea typeface="Open Sauce Bold"/>
                <a:cs typeface="Open Sauce Bold"/>
                <a:sym typeface="Open Sauce Bold"/>
              </a:rPr>
              <a:t>¡Interbloqueo (Deadlock)!</a:t>
            </a:r>
          </a:p>
        </p:txBody>
      </p:sp>
      <p:sp>
        <p:nvSpPr>
          <p:cNvPr name="TextBox 10" id="10"/>
          <p:cNvSpPr txBox="true"/>
          <p:nvPr/>
        </p:nvSpPr>
        <p:spPr>
          <a:xfrm rot="0">
            <a:off x="1028700" y="5501559"/>
            <a:ext cx="5674983"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a:t>
            </a:r>
          </a:p>
        </p:txBody>
      </p:sp>
      <p:sp>
        <p:nvSpPr>
          <p:cNvPr name="TextBox 11" id="11"/>
          <p:cNvSpPr txBox="true"/>
          <p:nvPr/>
        </p:nvSpPr>
        <p:spPr>
          <a:xfrm rot="0">
            <a:off x="1028700" y="5992381"/>
            <a:ext cx="5674983" cy="3888132"/>
          </a:xfrm>
          <a:prstGeom prst="rect">
            <a:avLst/>
          </a:prstGeom>
        </p:spPr>
        <p:txBody>
          <a:bodyPr anchor="t" rtlCol="false" tIns="0" lIns="0" bIns="0" rIns="0">
            <a:spAutoFit/>
          </a:bodyPr>
          <a:lstStyle/>
          <a:p>
            <a:pPr algn="l">
              <a:lnSpc>
                <a:spcPts val="3079"/>
              </a:lnSpc>
            </a:pPr>
            <a:r>
              <a:rPr lang="en-US" sz="2199">
                <a:solidFill>
                  <a:srgbClr val="000000"/>
                </a:solidFill>
                <a:latin typeface="Open Sauce"/>
                <a:ea typeface="Open Sauce"/>
                <a:cs typeface="Open Sauce"/>
                <a:sym typeface="Open Sauce"/>
              </a:rPr>
              <a:t>Aunque esta versión si garantiza la exclusión mutua, introduce un fallo crítico:  el </a:t>
            </a:r>
            <a:r>
              <a:rPr lang="en-US" sz="2199" b="true">
                <a:solidFill>
                  <a:srgbClr val="000000"/>
                </a:solidFill>
                <a:latin typeface="Open Sauce Bold"/>
                <a:ea typeface="Open Sauce Bold"/>
                <a:cs typeface="Open Sauce Bold"/>
                <a:sym typeface="Open Sauce Bold"/>
              </a:rPr>
              <a:t>interbloqueo </a:t>
            </a:r>
            <a:r>
              <a:rPr lang="en-US" sz="2199">
                <a:solidFill>
                  <a:srgbClr val="000000"/>
                </a:solidFill>
                <a:latin typeface="Open Sauce"/>
                <a:ea typeface="Open Sauce"/>
                <a:cs typeface="Open Sauce"/>
                <a:sym typeface="Open Sauce"/>
              </a:rPr>
              <a:t>o deadlock.</a:t>
            </a:r>
          </a:p>
          <a:p>
            <a:pPr algn="l">
              <a:lnSpc>
                <a:spcPts val="3079"/>
              </a:lnSpc>
            </a:pPr>
          </a:p>
          <a:p>
            <a:pPr algn="l">
              <a:lnSpc>
                <a:spcPts val="3079"/>
              </a:lnSpc>
              <a:spcBef>
                <a:spcPct val="0"/>
              </a:spcBef>
            </a:pPr>
            <a:r>
              <a:rPr lang="en-US" sz="2199">
                <a:solidFill>
                  <a:srgbClr val="000000"/>
                </a:solidFill>
                <a:latin typeface="Open Sauce"/>
                <a:ea typeface="Open Sauce"/>
                <a:cs typeface="Open Sauce"/>
                <a:sym typeface="Open Sauce"/>
              </a:rPr>
              <a:t>El error ocurre cuando ambos procesos levantan sus banderas casi simultáneamente. Como ambos han declarado su intención de entrar antes de preguntar por el otro, </a:t>
            </a:r>
            <a:r>
              <a:rPr lang="en-US" b="true" sz="2199">
                <a:solidFill>
                  <a:srgbClr val="000000"/>
                </a:solidFill>
                <a:latin typeface="Open Sauce Bold"/>
                <a:ea typeface="Open Sauce Bold"/>
                <a:cs typeface="Open Sauce Bold"/>
                <a:sym typeface="Open Sauce Bold"/>
              </a:rPr>
              <a:t>ambos </a:t>
            </a:r>
            <a:r>
              <a:rPr lang="en-US" sz="2199">
                <a:solidFill>
                  <a:srgbClr val="000000"/>
                </a:solidFill>
                <a:latin typeface="Open Sauce"/>
                <a:ea typeface="Open Sauce"/>
                <a:cs typeface="Open Sauce"/>
                <a:sym typeface="Open Sauce"/>
              </a:rPr>
              <a:t>verán que el compañero tambien quiere entrar.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1756014" y="3658108"/>
            <a:ext cx="3695320" cy="1273706"/>
          </a:xfrm>
          <a:custGeom>
            <a:avLst/>
            <a:gdLst/>
            <a:ahLst/>
            <a:cxnLst/>
            <a:rect r="r" b="b" t="t" l="l"/>
            <a:pathLst>
              <a:path h="1273706" w="3695320">
                <a:moveTo>
                  <a:pt x="0" y="0"/>
                </a:moveTo>
                <a:lnTo>
                  <a:pt x="3695320" y="0"/>
                </a:lnTo>
                <a:lnTo>
                  <a:pt x="3695320" y="1273706"/>
                </a:lnTo>
                <a:lnTo>
                  <a:pt x="0" y="1273706"/>
                </a:lnTo>
                <a:lnTo>
                  <a:pt x="0" y="0"/>
                </a:lnTo>
                <a:close/>
              </a:path>
            </a:pathLst>
          </a:custGeom>
          <a:blipFill>
            <a:blip r:embed="rId2"/>
            <a:stretch>
              <a:fillRect l="0" t="0" r="0" b="0"/>
            </a:stretch>
          </a:blipFill>
        </p:spPr>
      </p:sp>
      <p:sp>
        <p:nvSpPr>
          <p:cNvPr name="Freeform 3" id="3"/>
          <p:cNvSpPr/>
          <p:nvPr/>
        </p:nvSpPr>
        <p:spPr>
          <a:xfrm flipH="false" flipV="false" rot="0">
            <a:off x="6569026" y="2617283"/>
            <a:ext cx="5412466" cy="5052435"/>
          </a:xfrm>
          <a:custGeom>
            <a:avLst/>
            <a:gdLst/>
            <a:ahLst/>
            <a:cxnLst/>
            <a:rect r="r" b="b" t="t" l="l"/>
            <a:pathLst>
              <a:path h="5052435" w="5412466">
                <a:moveTo>
                  <a:pt x="0" y="0"/>
                </a:moveTo>
                <a:lnTo>
                  <a:pt x="5412466" y="0"/>
                </a:lnTo>
                <a:lnTo>
                  <a:pt x="5412466" y="5052434"/>
                </a:lnTo>
                <a:lnTo>
                  <a:pt x="0" y="5052434"/>
                </a:lnTo>
                <a:lnTo>
                  <a:pt x="0" y="0"/>
                </a:lnTo>
                <a:close/>
              </a:path>
            </a:pathLst>
          </a:custGeom>
          <a:blipFill>
            <a:blip r:embed="rId3"/>
            <a:stretch>
              <a:fillRect l="0" t="0" r="0" b="0"/>
            </a:stretch>
          </a:blipFill>
        </p:spPr>
      </p:sp>
      <p:sp>
        <p:nvSpPr>
          <p:cNvPr name="Freeform 4" id="4"/>
          <p:cNvSpPr/>
          <p:nvPr/>
        </p:nvSpPr>
        <p:spPr>
          <a:xfrm flipH="false" flipV="false" rot="0">
            <a:off x="1028700" y="5143500"/>
            <a:ext cx="5173063" cy="4806016"/>
          </a:xfrm>
          <a:custGeom>
            <a:avLst/>
            <a:gdLst/>
            <a:ahLst/>
            <a:cxnLst/>
            <a:rect r="r" b="b" t="t" l="l"/>
            <a:pathLst>
              <a:path h="4806016" w="5173063">
                <a:moveTo>
                  <a:pt x="0" y="0"/>
                </a:moveTo>
                <a:lnTo>
                  <a:pt x="5173063" y="0"/>
                </a:lnTo>
                <a:lnTo>
                  <a:pt x="5173063" y="4806016"/>
                </a:lnTo>
                <a:lnTo>
                  <a:pt x="0" y="4806016"/>
                </a:lnTo>
                <a:lnTo>
                  <a:pt x="0" y="0"/>
                </a:lnTo>
                <a:close/>
              </a:path>
            </a:pathLst>
          </a:custGeom>
          <a:blipFill>
            <a:blip r:embed="rId4"/>
            <a:stretch>
              <a:fillRect l="0" t="0" r="0" b="0"/>
            </a:stretch>
          </a:blipFill>
        </p:spPr>
      </p:sp>
      <p:sp>
        <p:nvSpPr>
          <p:cNvPr name="TextBox 5" id="5"/>
          <p:cNvSpPr txBox="true"/>
          <p:nvPr/>
        </p:nvSpPr>
        <p:spPr>
          <a:xfrm rot="0">
            <a:off x="1028700" y="554038"/>
            <a:ext cx="16230600" cy="781049"/>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Dekker V4 - Intención de retirada</a:t>
            </a:r>
          </a:p>
        </p:txBody>
      </p:sp>
      <p:sp>
        <p:nvSpPr>
          <p:cNvPr name="TextBox 6" id="6"/>
          <p:cNvSpPr txBox="true"/>
          <p:nvPr/>
        </p:nvSpPr>
        <p:spPr>
          <a:xfrm rot="0">
            <a:off x="1756014" y="3176811"/>
            <a:ext cx="3718436"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sp>
        <p:nvSpPr>
          <p:cNvPr name="TextBox 7" id="7"/>
          <p:cNvSpPr txBox="true"/>
          <p:nvPr/>
        </p:nvSpPr>
        <p:spPr>
          <a:xfrm rot="0">
            <a:off x="1028700" y="1304971"/>
            <a:ext cx="9171423" cy="1717304"/>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Idea</a:t>
            </a:r>
            <a:r>
              <a:rPr lang="en-US" sz="2200">
                <a:solidFill>
                  <a:srgbClr val="061313"/>
                </a:solidFill>
                <a:latin typeface="Open Sauce"/>
                <a:ea typeface="Open Sauce"/>
                <a:cs typeface="Open Sauce"/>
                <a:sym typeface="Open Sauce"/>
              </a:rPr>
              <a:t>: Introduce un protocolo de “paso atrás”. En lugar de quedarse bloqueado esperando con la bandera levantada, el proceso detecta que el otro también quiere entrar y, baja su propia bandera, espera, y vuelve a intentarlo.</a:t>
            </a:r>
          </a:p>
        </p:txBody>
      </p:sp>
      <p:sp>
        <p:nvSpPr>
          <p:cNvPr name="TextBox 8" id="8"/>
          <p:cNvSpPr txBox="true"/>
          <p:nvPr/>
        </p:nvSpPr>
        <p:spPr>
          <a:xfrm rot="0">
            <a:off x="12438285" y="1487249"/>
            <a:ext cx="4821015"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9" id="9"/>
          <p:cNvSpPr txBox="true"/>
          <p:nvPr/>
        </p:nvSpPr>
        <p:spPr>
          <a:xfrm rot="0">
            <a:off x="12438285" y="2000328"/>
            <a:ext cx="4821015" cy="6612745"/>
          </a:xfrm>
          <a:prstGeom prst="rect">
            <a:avLst/>
          </a:prstGeom>
        </p:spPr>
        <p:txBody>
          <a:bodyPr anchor="t" rtlCol="false" tIns="0" lIns="0" bIns="0" rIns="0">
            <a:spAutoFit/>
          </a:bodyPr>
          <a:lstStyle/>
          <a:p>
            <a:pPr algn="l">
              <a:lnSpc>
                <a:spcPts val="3080"/>
              </a:lnSpc>
              <a:spcBef>
                <a:spcPct val="0"/>
              </a:spcBef>
            </a:pPr>
            <a:r>
              <a:rPr lang="en-US" b="true" sz="2200">
                <a:solidFill>
                  <a:srgbClr val="000000"/>
                </a:solidFill>
                <a:latin typeface="Open Sauce Bold"/>
                <a:ea typeface="Open Sauce Bold"/>
                <a:cs typeface="Open Sauce Bold"/>
                <a:sym typeface="Open Sauce Bold"/>
              </a:rPr>
              <a:t>Estado inicial</a:t>
            </a:r>
            <a:r>
              <a:rPr lang="en-US" sz="2200">
                <a:solidFill>
                  <a:srgbClr val="000000"/>
                </a:solidFill>
                <a:latin typeface="Open Sauce"/>
                <a:ea typeface="Open Sauce"/>
                <a:cs typeface="Open Sauce"/>
                <a:sym typeface="Open Sauce"/>
              </a:rPr>
              <a:t>:</a:t>
            </a:r>
          </a:p>
          <a:p>
            <a:pPr algn="l">
              <a:lnSpc>
                <a:spcPts val="3080"/>
              </a:lnSpc>
              <a:spcBef>
                <a:spcPct val="0"/>
              </a:spcBef>
            </a:pPr>
            <a:r>
              <a:rPr lang="en-US" sz="2200">
                <a:solidFill>
                  <a:srgbClr val="000000"/>
                </a:solidFill>
                <a:latin typeface="Open Sauce"/>
                <a:ea typeface="Open Sauce"/>
                <a:cs typeface="Open Sauce"/>
                <a:sym typeface="Open Sauce"/>
              </a:rPr>
              <a:t>saldo = 1000, estadoHilo[0] = 0 (false) y estadoHilo[1] = 0 (false)</a:t>
            </a:r>
          </a:p>
          <a:p>
            <a:pPr algn="l">
              <a:lnSpc>
                <a:spcPts val="3080"/>
              </a:lnSpc>
              <a:spcBef>
                <a:spcPct val="0"/>
              </a:spcBef>
            </a:pP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quiere entrar, estadoHilo[0]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quiere entrar también, estadoHilo[1]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y H1 entran en bucle de cortesía.</a:t>
            </a:r>
          </a:p>
          <a:p>
            <a:pPr algn="l" marL="474981" indent="-237491" lvl="1">
              <a:lnSpc>
                <a:spcPts val="3080"/>
              </a:lnSpc>
              <a:spcBef>
                <a:spcPct val="0"/>
              </a:spcBef>
              <a:buAutoNum type="arabicPeriod" startAt="1"/>
            </a:pPr>
            <a:r>
              <a:rPr lang="en-US" b="true" sz="2200">
                <a:solidFill>
                  <a:srgbClr val="000000"/>
                </a:solidFill>
                <a:latin typeface="Open Sauce Bold"/>
                <a:ea typeface="Open Sauce Bold"/>
                <a:cs typeface="Open Sauce Bold"/>
                <a:sym typeface="Open Sauce Bold"/>
              </a:rPr>
              <a:t>Cortesía</a:t>
            </a:r>
            <a:r>
              <a:rPr lang="en-US" sz="2200">
                <a:solidFill>
                  <a:srgbClr val="000000"/>
                </a:solidFill>
                <a:latin typeface="Open Sauce"/>
                <a:ea typeface="Open Sauce"/>
                <a:cs typeface="Open Sauce"/>
                <a:sym typeface="Open Sauce"/>
              </a:rPr>
              <a:t>: H0 baja su bandera, estadoHilo[0] = 0</a:t>
            </a:r>
          </a:p>
          <a:p>
            <a:pPr algn="l" marL="474981" indent="-237491" lvl="1">
              <a:lnSpc>
                <a:spcPts val="3080"/>
              </a:lnSpc>
              <a:spcBef>
                <a:spcPct val="0"/>
              </a:spcBef>
              <a:buAutoNum type="arabicPeriod" startAt="1"/>
            </a:pPr>
            <a:r>
              <a:rPr lang="en-US" b="true" sz="2200">
                <a:solidFill>
                  <a:srgbClr val="000000"/>
                </a:solidFill>
                <a:latin typeface="Open Sauce Bold"/>
                <a:ea typeface="Open Sauce Bold"/>
                <a:cs typeface="Open Sauce Bold"/>
                <a:sym typeface="Open Sauce Bold"/>
              </a:rPr>
              <a:t>Cortesía</a:t>
            </a:r>
            <a:r>
              <a:rPr lang="en-US" sz="2200">
                <a:solidFill>
                  <a:srgbClr val="000000"/>
                </a:solidFill>
                <a:latin typeface="Open Sauce"/>
                <a:ea typeface="Open Sauce"/>
                <a:cs typeface="Open Sauce"/>
                <a:sym typeface="Open Sauce"/>
              </a:rPr>
              <a:t>: H1 baja su bandera, estadoHilo[1] = 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reintenta.</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reintenta simultáneamente.</a:t>
            </a:r>
          </a:p>
          <a:p>
            <a:pPr algn="l" marL="474981" indent="-237491" lvl="1">
              <a:lnSpc>
                <a:spcPts val="3080"/>
              </a:lnSpc>
              <a:spcBef>
                <a:spcPct val="0"/>
              </a:spcBef>
              <a:buAutoNum type="arabicPeriod" startAt="1"/>
            </a:pPr>
            <a:r>
              <a:rPr lang="en-US" b="true" sz="2200">
                <a:solidFill>
                  <a:srgbClr val="1D7151"/>
                </a:solidFill>
                <a:latin typeface="Open Sauce Bold"/>
                <a:ea typeface="Open Sauce Bold"/>
                <a:cs typeface="Open Sauce Bold"/>
                <a:sym typeface="Open Sauce Bold"/>
              </a:rPr>
              <a:t>¡Bucle infinito (Livelock)!</a:t>
            </a:r>
          </a:p>
        </p:txBody>
      </p:sp>
      <p:sp>
        <p:nvSpPr>
          <p:cNvPr name="TextBox 10" id="10"/>
          <p:cNvSpPr txBox="true"/>
          <p:nvPr/>
        </p:nvSpPr>
        <p:spPr>
          <a:xfrm rot="0">
            <a:off x="6569026" y="7762473"/>
            <a:ext cx="5412466"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a:t>
            </a:r>
          </a:p>
        </p:txBody>
      </p:sp>
      <p:sp>
        <p:nvSpPr>
          <p:cNvPr name="TextBox 11" id="11"/>
          <p:cNvSpPr txBox="true"/>
          <p:nvPr/>
        </p:nvSpPr>
        <p:spPr>
          <a:xfrm rot="0">
            <a:off x="6569026" y="8205671"/>
            <a:ext cx="5412466" cy="1544585"/>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Open Sauce"/>
                <a:ea typeface="Open Sauce"/>
                <a:cs typeface="Open Sauce"/>
                <a:sym typeface="Open Sauce"/>
              </a:rPr>
              <a:t>Aunque elimina el interbloqueo, introduce un nuevo problema de vitalicad: el livelock o postergación indefinida.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7772866" y="1335087"/>
            <a:ext cx="4556688" cy="5985998"/>
          </a:xfrm>
          <a:custGeom>
            <a:avLst/>
            <a:gdLst/>
            <a:ahLst/>
            <a:cxnLst/>
            <a:rect r="r" b="b" t="t" l="l"/>
            <a:pathLst>
              <a:path h="5985998" w="4556688">
                <a:moveTo>
                  <a:pt x="0" y="0"/>
                </a:moveTo>
                <a:lnTo>
                  <a:pt x="4556689" y="0"/>
                </a:lnTo>
                <a:lnTo>
                  <a:pt x="4556689" y="5985998"/>
                </a:lnTo>
                <a:lnTo>
                  <a:pt x="0" y="5985998"/>
                </a:lnTo>
                <a:lnTo>
                  <a:pt x="0" y="0"/>
                </a:lnTo>
                <a:close/>
              </a:path>
            </a:pathLst>
          </a:custGeom>
          <a:blipFill>
            <a:blip r:embed="rId2"/>
            <a:stretch>
              <a:fillRect l="0" t="0" r="0" b="0"/>
            </a:stretch>
          </a:blipFill>
        </p:spPr>
      </p:sp>
      <p:sp>
        <p:nvSpPr>
          <p:cNvPr name="Freeform 3" id="3"/>
          <p:cNvSpPr/>
          <p:nvPr/>
        </p:nvSpPr>
        <p:spPr>
          <a:xfrm flipH="false" flipV="false" rot="0">
            <a:off x="421111" y="5245641"/>
            <a:ext cx="7118057" cy="4363391"/>
          </a:xfrm>
          <a:custGeom>
            <a:avLst/>
            <a:gdLst/>
            <a:ahLst/>
            <a:cxnLst/>
            <a:rect r="r" b="b" t="t" l="l"/>
            <a:pathLst>
              <a:path h="4363391" w="7118057">
                <a:moveTo>
                  <a:pt x="0" y="0"/>
                </a:moveTo>
                <a:lnTo>
                  <a:pt x="7118056" y="0"/>
                </a:lnTo>
                <a:lnTo>
                  <a:pt x="7118056" y="4363391"/>
                </a:lnTo>
                <a:lnTo>
                  <a:pt x="0" y="4363391"/>
                </a:lnTo>
                <a:lnTo>
                  <a:pt x="0" y="0"/>
                </a:lnTo>
                <a:close/>
              </a:path>
            </a:pathLst>
          </a:custGeom>
          <a:blipFill>
            <a:blip r:embed="rId3"/>
            <a:stretch>
              <a:fillRect l="0" t="0" r="0" b="0"/>
            </a:stretch>
          </a:blipFill>
        </p:spPr>
      </p:sp>
      <p:sp>
        <p:nvSpPr>
          <p:cNvPr name="Freeform 4" id="4"/>
          <p:cNvSpPr/>
          <p:nvPr/>
        </p:nvSpPr>
        <p:spPr>
          <a:xfrm flipH="false" flipV="false" rot="0">
            <a:off x="8342591" y="7984594"/>
            <a:ext cx="3292271" cy="1365088"/>
          </a:xfrm>
          <a:custGeom>
            <a:avLst/>
            <a:gdLst/>
            <a:ahLst/>
            <a:cxnLst/>
            <a:rect r="r" b="b" t="t" l="l"/>
            <a:pathLst>
              <a:path h="1365088" w="3292271">
                <a:moveTo>
                  <a:pt x="0" y="0"/>
                </a:moveTo>
                <a:lnTo>
                  <a:pt x="3292271" y="0"/>
                </a:lnTo>
                <a:lnTo>
                  <a:pt x="3292271" y="1365088"/>
                </a:lnTo>
                <a:lnTo>
                  <a:pt x="0" y="1365088"/>
                </a:lnTo>
                <a:lnTo>
                  <a:pt x="0" y="0"/>
                </a:lnTo>
                <a:close/>
              </a:path>
            </a:pathLst>
          </a:custGeom>
          <a:blipFill>
            <a:blip r:embed="rId4"/>
            <a:stretch>
              <a:fillRect l="0" t="0" r="0" b="0"/>
            </a:stretch>
          </a:blipFill>
        </p:spPr>
      </p:sp>
      <p:sp>
        <p:nvSpPr>
          <p:cNvPr name="TextBox 5" id="5"/>
          <p:cNvSpPr txBox="true"/>
          <p:nvPr/>
        </p:nvSpPr>
        <p:spPr>
          <a:xfrm rot="0">
            <a:off x="1028700" y="430213"/>
            <a:ext cx="16230600" cy="781049"/>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Dekker V5 - Versión final</a:t>
            </a:r>
          </a:p>
        </p:txBody>
      </p:sp>
      <p:sp>
        <p:nvSpPr>
          <p:cNvPr name="TextBox 6" id="6"/>
          <p:cNvSpPr txBox="true"/>
          <p:nvPr/>
        </p:nvSpPr>
        <p:spPr>
          <a:xfrm rot="0">
            <a:off x="421111" y="1258887"/>
            <a:ext cx="9171423" cy="402656"/>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Idea</a:t>
            </a:r>
            <a:r>
              <a:rPr lang="en-US" sz="2200">
                <a:solidFill>
                  <a:srgbClr val="061313"/>
                </a:solidFill>
                <a:latin typeface="Open Sauce"/>
                <a:ea typeface="Open Sauce"/>
                <a:cs typeface="Open Sauce"/>
                <a:sym typeface="Open Sauce"/>
              </a:rPr>
              <a:t>: Introduce el concepto de </a:t>
            </a:r>
            <a:r>
              <a:rPr lang="en-US" sz="2200" b="true">
                <a:solidFill>
                  <a:srgbClr val="061313"/>
                </a:solidFill>
                <a:latin typeface="Open Sauce Bold"/>
                <a:ea typeface="Open Sauce Bold"/>
                <a:cs typeface="Open Sauce Bold"/>
                <a:sym typeface="Open Sauce Bold"/>
              </a:rPr>
              <a:t>hilo favorecido</a:t>
            </a:r>
            <a:r>
              <a:rPr lang="en-US" sz="2200">
                <a:solidFill>
                  <a:srgbClr val="061313"/>
                </a:solidFill>
                <a:latin typeface="Open Sauce"/>
                <a:ea typeface="Open Sauce"/>
                <a:cs typeface="Open Sauce"/>
                <a:sym typeface="Open Sauce"/>
              </a:rPr>
              <a:t>.</a:t>
            </a:r>
          </a:p>
        </p:txBody>
      </p:sp>
      <p:sp>
        <p:nvSpPr>
          <p:cNvPr name="TextBox 7" id="7"/>
          <p:cNvSpPr txBox="true"/>
          <p:nvPr/>
        </p:nvSpPr>
        <p:spPr>
          <a:xfrm rot="0">
            <a:off x="421111" y="1652025"/>
            <a:ext cx="7326607" cy="3470169"/>
          </a:xfrm>
          <a:prstGeom prst="rect">
            <a:avLst/>
          </a:prstGeom>
        </p:spPr>
        <p:txBody>
          <a:bodyPr anchor="t" rtlCol="false" tIns="0" lIns="0" bIns="0" rIns="0">
            <a:spAutoFit/>
          </a:bodyPr>
          <a:lstStyle/>
          <a:p>
            <a:pPr algn="l" marL="474983" indent="-237491" lvl="1">
              <a:lnSpc>
                <a:spcPts val="3520"/>
              </a:lnSpc>
              <a:buAutoNum type="arabicPeriod" startAt="1"/>
            </a:pPr>
            <a:r>
              <a:rPr lang="en-US" sz="2200">
                <a:solidFill>
                  <a:srgbClr val="061313"/>
                </a:solidFill>
                <a:latin typeface="Open Sauce"/>
                <a:ea typeface="Open Sauce"/>
                <a:cs typeface="Open Sauce"/>
                <a:sym typeface="Open Sauce"/>
              </a:rPr>
              <a:t>Un proceso marca su intención.</a:t>
            </a:r>
          </a:p>
          <a:p>
            <a:pPr algn="l" marL="474983" indent="-237491" lvl="1">
              <a:lnSpc>
                <a:spcPts val="3520"/>
              </a:lnSpc>
              <a:buAutoNum type="arabicPeriod" startAt="1"/>
            </a:pPr>
            <a:r>
              <a:rPr lang="en-US" sz="2200">
                <a:solidFill>
                  <a:srgbClr val="061313"/>
                </a:solidFill>
                <a:latin typeface="Open Sauce"/>
                <a:ea typeface="Open Sauce"/>
                <a:cs typeface="Open Sauce"/>
                <a:sym typeface="Open Sauce"/>
              </a:rPr>
              <a:t>Si el otro proceso tambien tiene su bandera arriba, el proceso comprueba de quién es el turno</a:t>
            </a:r>
          </a:p>
          <a:p>
            <a:pPr algn="l" marL="474983" indent="-237491" lvl="1">
              <a:lnSpc>
                <a:spcPts val="3520"/>
              </a:lnSpc>
              <a:buAutoNum type="arabicPeriod" startAt="1"/>
            </a:pPr>
            <a:r>
              <a:rPr lang="en-US" sz="2200">
                <a:solidFill>
                  <a:srgbClr val="061313"/>
                </a:solidFill>
                <a:latin typeface="Open Sauce"/>
                <a:ea typeface="Open Sauce"/>
                <a:cs typeface="Open Sauce"/>
                <a:sym typeface="Open Sauce"/>
              </a:rPr>
              <a:t>Si el turno del oponente, el proceso baja su propia bandera y espera activamente a que el turno cambie.</a:t>
            </a:r>
          </a:p>
          <a:p>
            <a:pPr algn="l" marL="474983" indent="-237491" lvl="1">
              <a:lnSpc>
                <a:spcPts val="3520"/>
              </a:lnSpc>
              <a:buAutoNum type="arabicPeriod" startAt="1"/>
            </a:pPr>
            <a:r>
              <a:rPr lang="en-US" sz="2200">
                <a:solidFill>
                  <a:srgbClr val="061313"/>
                </a:solidFill>
                <a:latin typeface="Open Sauce"/>
                <a:ea typeface="Open Sauce"/>
                <a:cs typeface="Open Sauce"/>
                <a:sym typeface="Open Sauce"/>
              </a:rPr>
              <a:t>Una vez recupera el turno, levanta su bandera nuevamente y entra a la sección crítica.</a:t>
            </a:r>
          </a:p>
        </p:txBody>
      </p:sp>
      <p:sp>
        <p:nvSpPr>
          <p:cNvPr name="TextBox 8" id="8"/>
          <p:cNvSpPr txBox="true"/>
          <p:nvPr/>
        </p:nvSpPr>
        <p:spPr>
          <a:xfrm rot="0">
            <a:off x="12438285" y="1487249"/>
            <a:ext cx="4821015"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9" id="9"/>
          <p:cNvSpPr txBox="true"/>
          <p:nvPr/>
        </p:nvSpPr>
        <p:spPr>
          <a:xfrm rot="0">
            <a:off x="12438285" y="2000328"/>
            <a:ext cx="4821015" cy="8175109"/>
          </a:xfrm>
          <a:prstGeom prst="rect">
            <a:avLst/>
          </a:prstGeom>
        </p:spPr>
        <p:txBody>
          <a:bodyPr anchor="t" rtlCol="false" tIns="0" lIns="0" bIns="0" rIns="0">
            <a:spAutoFit/>
          </a:bodyPr>
          <a:lstStyle/>
          <a:p>
            <a:pPr algn="l">
              <a:lnSpc>
                <a:spcPts val="3080"/>
              </a:lnSpc>
              <a:spcBef>
                <a:spcPct val="0"/>
              </a:spcBef>
            </a:pPr>
            <a:r>
              <a:rPr lang="en-US" b="true" sz="2200">
                <a:solidFill>
                  <a:srgbClr val="000000"/>
                </a:solidFill>
                <a:latin typeface="Open Sauce Bold"/>
                <a:ea typeface="Open Sauce Bold"/>
                <a:cs typeface="Open Sauce Bold"/>
                <a:sym typeface="Open Sauce Bold"/>
              </a:rPr>
              <a:t>Estado inicial</a:t>
            </a:r>
            <a:r>
              <a:rPr lang="en-US" sz="2200">
                <a:solidFill>
                  <a:srgbClr val="000000"/>
                </a:solidFill>
                <a:latin typeface="Open Sauce"/>
                <a:ea typeface="Open Sauce"/>
                <a:cs typeface="Open Sauce"/>
                <a:sym typeface="Open Sauce"/>
              </a:rPr>
              <a:t>:</a:t>
            </a:r>
          </a:p>
          <a:p>
            <a:pPr algn="l">
              <a:lnSpc>
                <a:spcPts val="3080"/>
              </a:lnSpc>
              <a:spcBef>
                <a:spcPct val="0"/>
              </a:spcBef>
            </a:pPr>
            <a:r>
              <a:rPr lang="en-US" sz="2200">
                <a:solidFill>
                  <a:srgbClr val="000000"/>
                </a:solidFill>
                <a:latin typeface="Open Sauce"/>
                <a:ea typeface="Open Sauce"/>
                <a:cs typeface="Open Sauce"/>
                <a:sym typeface="Open Sauce"/>
              </a:rPr>
              <a:t>saldo = 1000, flag[0] = 0, flag[1] = 0, turn = 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quiere entrar, flag[0]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quiere entrar también, flag[1]=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ve a H1, pero como </a:t>
            </a:r>
          </a:p>
          <a:p>
            <a:pPr algn="l">
              <a:lnSpc>
                <a:spcPts val="3080"/>
              </a:lnSpc>
              <a:spcBef>
                <a:spcPct val="0"/>
              </a:spcBef>
            </a:pPr>
            <a:r>
              <a:rPr lang="en-US" sz="2200">
                <a:solidFill>
                  <a:srgbClr val="000000"/>
                </a:solidFill>
                <a:latin typeface="Open Sauce"/>
                <a:ea typeface="Open Sauce"/>
                <a:cs typeface="Open Sauce"/>
                <a:sym typeface="Open Sauce"/>
              </a:rPr>
              <a:t>      turn == 0, insiste.</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ve a H0, pero como </a:t>
            </a:r>
          </a:p>
          <a:p>
            <a:pPr algn="l">
              <a:lnSpc>
                <a:spcPts val="3080"/>
              </a:lnSpc>
              <a:spcBef>
                <a:spcPct val="0"/>
              </a:spcBef>
            </a:pPr>
            <a:r>
              <a:rPr lang="en-US" sz="2200">
                <a:solidFill>
                  <a:srgbClr val="000000"/>
                </a:solidFill>
                <a:latin typeface="Open Sauce"/>
                <a:ea typeface="Open Sauce"/>
                <a:cs typeface="Open Sauce"/>
                <a:sym typeface="Open Sauce"/>
              </a:rPr>
              <a:t>      turn == 0, debe ceder.</a:t>
            </a:r>
          </a:p>
          <a:p>
            <a:pPr algn="l" marL="474981" indent="-237491" lvl="1">
              <a:lnSpc>
                <a:spcPts val="3080"/>
              </a:lnSpc>
              <a:spcBef>
                <a:spcPct val="0"/>
              </a:spcBef>
              <a:buAutoNum type="arabicPeriod" startAt="1"/>
            </a:pPr>
            <a:r>
              <a:rPr lang="en-US" b="true" sz="2200">
                <a:solidFill>
                  <a:srgbClr val="000000"/>
                </a:solidFill>
                <a:latin typeface="Open Sauce Bold"/>
                <a:ea typeface="Open Sauce Bold"/>
                <a:cs typeface="Open Sauce Bold"/>
                <a:sym typeface="Open Sauce Bold"/>
              </a:rPr>
              <a:t>Cortesía</a:t>
            </a:r>
            <a:r>
              <a:rPr lang="en-US" sz="2200">
                <a:solidFill>
                  <a:srgbClr val="000000"/>
                </a:solidFill>
                <a:latin typeface="Open Sauce"/>
                <a:ea typeface="Open Sauce"/>
                <a:cs typeface="Open Sauce"/>
                <a:sym typeface="Open Sauce"/>
              </a:rPr>
              <a:t>: H1 baja su bandera, flag[1] = 0, espera su turno.</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entra en SC, saldo = 1000 - 500 = 500. H1 se bloquea.</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termina su turno y lo cede a H1; baja su bandera flag[0] = 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sale de espera, sube bandera flag[1] = 1 y entra a SC.</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modifica saldo = 500 - 300 = 200.</a:t>
            </a:r>
          </a:p>
          <a:p>
            <a:pPr algn="l">
              <a:lnSpc>
                <a:spcPts val="3080"/>
              </a:lnSpc>
              <a:spcBef>
                <a:spcPct val="0"/>
              </a:spcBef>
            </a:pPr>
            <a:r>
              <a:rPr lang="en-US" b="true" sz="2200">
                <a:solidFill>
                  <a:srgbClr val="1D7151"/>
                </a:solidFill>
                <a:latin typeface="Open Sauce Bold"/>
                <a:ea typeface="Open Sauce Bold"/>
                <a:cs typeface="Open Sauce Bold"/>
                <a:sym typeface="Open Sauce Bold"/>
              </a:rPr>
              <a:t>¡Resultado correcto saldo = 200!</a:t>
            </a:r>
          </a:p>
        </p:txBody>
      </p:sp>
      <p:sp>
        <p:nvSpPr>
          <p:cNvPr name="TextBox 10" id="10"/>
          <p:cNvSpPr txBox="true"/>
          <p:nvPr/>
        </p:nvSpPr>
        <p:spPr>
          <a:xfrm rot="0">
            <a:off x="8342591" y="7503297"/>
            <a:ext cx="3292271"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11087105" y="1491034"/>
            <a:ext cx="6172195" cy="7941380"/>
          </a:xfrm>
          <a:custGeom>
            <a:avLst/>
            <a:gdLst/>
            <a:ahLst/>
            <a:cxnLst/>
            <a:rect r="r" b="b" t="t" l="l"/>
            <a:pathLst>
              <a:path h="7941380" w="6172195">
                <a:moveTo>
                  <a:pt x="0" y="0"/>
                </a:moveTo>
                <a:lnTo>
                  <a:pt x="6172195" y="0"/>
                </a:lnTo>
                <a:lnTo>
                  <a:pt x="6172195" y="7941380"/>
                </a:lnTo>
                <a:lnTo>
                  <a:pt x="0" y="7941380"/>
                </a:lnTo>
                <a:lnTo>
                  <a:pt x="0" y="0"/>
                </a:lnTo>
                <a:close/>
              </a:path>
            </a:pathLst>
          </a:custGeom>
          <a:blipFill>
            <a:blip r:embed="rId2"/>
            <a:stretch>
              <a:fillRect l="0" t="0" r="0" b="0"/>
            </a:stretch>
          </a:blipFill>
        </p:spPr>
      </p:sp>
      <p:sp>
        <p:nvSpPr>
          <p:cNvPr name="Freeform 3" id="3"/>
          <p:cNvSpPr/>
          <p:nvPr/>
        </p:nvSpPr>
        <p:spPr>
          <a:xfrm flipH="false" flipV="false" rot="0">
            <a:off x="929308" y="7283498"/>
            <a:ext cx="4034259" cy="1267078"/>
          </a:xfrm>
          <a:custGeom>
            <a:avLst/>
            <a:gdLst/>
            <a:ahLst/>
            <a:cxnLst/>
            <a:rect r="r" b="b" t="t" l="l"/>
            <a:pathLst>
              <a:path h="1267078" w="4034259">
                <a:moveTo>
                  <a:pt x="0" y="0"/>
                </a:moveTo>
                <a:lnTo>
                  <a:pt x="4034259" y="0"/>
                </a:lnTo>
                <a:lnTo>
                  <a:pt x="4034259" y="1267078"/>
                </a:lnTo>
                <a:lnTo>
                  <a:pt x="0" y="1267078"/>
                </a:lnTo>
                <a:lnTo>
                  <a:pt x="0" y="0"/>
                </a:lnTo>
                <a:close/>
              </a:path>
            </a:pathLst>
          </a:custGeom>
          <a:blipFill>
            <a:blip r:embed="rId3"/>
            <a:stretch>
              <a:fillRect l="0" t="0" r="0" b="0"/>
            </a:stretch>
          </a:blipFill>
        </p:spPr>
      </p:sp>
      <p:sp>
        <p:nvSpPr>
          <p:cNvPr name="TextBox 4" id="4"/>
          <p:cNvSpPr txBox="true"/>
          <p:nvPr/>
        </p:nvSpPr>
        <p:spPr>
          <a:xfrm rot="0">
            <a:off x="1028700" y="590584"/>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Peterson</a:t>
            </a:r>
          </a:p>
        </p:txBody>
      </p:sp>
      <p:sp>
        <p:nvSpPr>
          <p:cNvPr name="TextBox 5" id="5"/>
          <p:cNvSpPr txBox="true"/>
          <p:nvPr/>
        </p:nvSpPr>
        <p:spPr>
          <a:xfrm rot="0">
            <a:off x="1028700" y="1414834"/>
            <a:ext cx="9171423" cy="1279088"/>
          </a:xfrm>
          <a:prstGeom prst="rect">
            <a:avLst/>
          </a:prstGeom>
        </p:spPr>
        <p:txBody>
          <a:bodyPr anchor="t" rtlCol="false" tIns="0" lIns="0" bIns="0" rIns="0">
            <a:spAutoFit/>
          </a:bodyPr>
          <a:lstStyle/>
          <a:p>
            <a:pPr algn="l">
              <a:lnSpc>
                <a:spcPts val="3520"/>
              </a:lnSpc>
            </a:pPr>
            <a:r>
              <a:rPr lang="en-US" sz="2200">
                <a:solidFill>
                  <a:srgbClr val="061313"/>
                </a:solidFill>
                <a:latin typeface="Open Sauce"/>
                <a:ea typeface="Open Sauce"/>
                <a:cs typeface="Open Sauce"/>
                <a:sym typeface="Open Sauce"/>
              </a:rPr>
              <a:t>Supera la complejidad de la versión final de dekker al combiar de forma más sencilla el uso de </a:t>
            </a:r>
            <a:r>
              <a:rPr lang="en-US" sz="2200" b="true">
                <a:solidFill>
                  <a:srgbClr val="061313"/>
                </a:solidFill>
                <a:latin typeface="Open Sauce Bold"/>
                <a:ea typeface="Open Sauce Bold"/>
                <a:cs typeface="Open Sauce Bold"/>
                <a:sym typeface="Open Sauce Bold"/>
              </a:rPr>
              <a:t>banderas de intención</a:t>
            </a:r>
            <a:r>
              <a:rPr lang="en-US" sz="2200">
                <a:solidFill>
                  <a:srgbClr val="061313"/>
                </a:solidFill>
                <a:latin typeface="Open Sauce"/>
                <a:ea typeface="Open Sauce"/>
                <a:cs typeface="Open Sauce"/>
                <a:sym typeface="Open Sauce"/>
              </a:rPr>
              <a:t> y una </a:t>
            </a:r>
            <a:r>
              <a:rPr lang="en-US" sz="2200" b="true">
                <a:solidFill>
                  <a:srgbClr val="061313"/>
                </a:solidFill>
                <a:latin typeface="Open Sauce Bold"/>
                <a:ea typeface="Open Sauce Bold"/>
                <a:cs typeface="Open Sauce Bold"/>
                <a:sym typeface="Open Sauce Bold"/>
              </a:rPr>
              <a:t>variable de turno</a:t>
            </a:r>
            <a:r>
              <a:rPr lang="en-US" sz="2200">
                <a:solidFill>
                  <a:srgbClr val="061313"/>
                </a:solidFill>
                <a:latin typeface="Open Sauce"/>
                <a:ea typeface="Open Sauce"/>
                <a:cs typeface="Open Sauce"/>
                <a:sym typeface="Open Sauce"/>
              </a:rPr>
              <a:t>.</a:t>
            </a:r>
          </a:p>
        </p:txBody>
      </p:sp>
      <p:sp>
        <p:nvSpPr>
          <p:cNvPr name="TextBox 6" id="6"/>
          <p:cNvSpPr txBox="true"/>
          <p:nvPr/>
        </p:nvSpPr>
        <p:spPr>
          <a:xfrm rot="0">
            <a:off x="1028700" y="2741547"/>
            <a:ext cx="9171423" cy="3908385"/>
          </a:xfrm>
          <a:prstGeom prst="rect">
            <a:avLst/>
          </a:prstGeom>
        </p:spPr>
        <p:txBody>
          <a:bodyPr anchor="t" rtlCol="false" tIns="0" lIns="0" bIns="0" rIns="0">
            <a:spAutoFit/>
          </a:bodyPr>
          <a:lstStyle/>
          <a:p>
            <a:pPr algn="l">
              <a:lnSpc>
                <a:spcPts val="3520"/>
              </a:lnSpc>
            </a:pPr>
            <a:r>
              <a:rPr lang="en-US" sz="2200">
                <a:solidFill>
                  <a:srgbClr val="061313"/>
                </a:solidFill>
                <a:latin typeface="Open Sauce"/>
                <a:ea typeface="Open Sauce"/>
                <a:cs typeface="Open Sauce"/>
                <a:sym typeface="Open Sauce"/>
              </a:rPr>
              <a:t>Idea: La lógica central es la “cortesía forzada”. Cuando un hilo Pi desea entrar en su sección crítica:</a:t>
            </a:r>
          </a:p>
          <a:p>
            <a:pPr algn="l" marL="474983" indent="-237491" lvl="1">
              <a:lnSpc>
                <a:spcPts val="3520"/>
              </a:lnSpc>
              <a:buAutoNum type="arabicPeriod" startAt="1"/>
            </a:pPr>
            <a:r>
              <a:rPr lang="en-US" b="true" sz="2200">
                <a:solidFill>
                  <a:srgbClr val="061313"/>
                </a:solidFill>
                <a:latin typeface="Open Sauce Bold"/>
                <a:ea typeface="Open Sauce Bold"/>
                <a:cs typeface="Open Sauce Bold"/>
                <a:sym typeface="Open Sauce Bold"/>
              </a:rPr>
              <a:t>Levanta su bandera</a:t>
            </a:r>
            <a:r>
              <a:rPr lang="en-US" sz="2200">
                <a:solidFill>
                  <a:srgbClr val="061313"/>
                </a:solidFill>
                <a:latin typeface="Open Sauce"/>
                <a:ea typeface="Open Sauce"/>
                <a:cs typeface="Open Sauce"/>
                <a:sym typeface="Open Sauce"/>
              </a:rPr>
              <a:t> indicando que está listo (</a:t>
            </a:r>
            <a:r>
              <a:rPr lang="en-US" sz="2200" i="true">
                <a:solidFill>
                  <a:srgbClr val="1D7151"/>
                </a:solidFill>
                <a:latin typeface="Open Sauce Italics"/>
                <a:ea typeface="Open Sauce Italics"/>
                <a:cs typeface="Open Sauce Italics"/>
                <a:sym typeface="Open Sauce Italics"/>
              </a:rPr>
              <a:t>flag[i] = true</a:t>
            </a:r>
            <a:r>
              <a:rPr lang="en-US" sz="2200">
                <a:solidFill>
                  <a:srgbClr val="061313"/>
                </a:solidFill>
                <a:latin typeface="Open Sauce"/>
                <a:ea typeface="Open Sauce"/>
                <a:cs typeface="Open Sauce"/>
                <a:sym typeface="Open Sauce"/>
              </a:rPr>
              <a:t>).</a:t>
            </a:r>
          </a:p>
          <a:p>
            <a:pPr algn="l" marL="474983" indent="-237491" lvl="1">
              <a:lnSpc>
                <a:spcPts val="3520"/>
              </a:lnSpc>
              <a:buAutoNum type="arabicPeriod" startAt="1"/>
            </a:pPr>
            <a:r>
              <a:rPr lang="en-US" b="true" sz="2200">
                <a:solidFill>
                  <a:srgbClr val="061313"/>
                </a:solidFill>
                <a:latin typeface="Open Sauce Bold"/>
                <a:ea typeface="Open Sauce Bold"/>
                <a:cs typeface="Open Sauce Bold"/>
                <a:sym typeface="Open Sauce Bold"/>
              </a:rPr>
              <a:t>Cede inmediatamente el turno</a:t>
            </a:r>
            <a:r>
              <a:rPr lang="en-US" sz="2200">
                <a:solidFill>
                  <a:srgbClr val="061313"/>
                </a:solidFill>
                <a:latin typeface="Open Sauce"/>
                <a:ea typeface="Open Sauce"/>
                <a:cs typeface="Open Sauce"/>
                <a:sym typeface="Open Sauce"/>
              </a:rPr>
              <a:t> al otro hilo Pj (</a:t>
            </a:r>
            <a:r>
              <a:rPr lang="en-US" sz="2200" i="true">
                <a:solidFill>
                  <a:srgbClr val="1D7151"/>
                </a:solidFill>
                <a:latin typeface="Open Sauce Italics"/>
                <a:ea typeface="Open Sauce Italics"/>
                <a:cs typeface="Open Sauce Italics"/>
                <a:sym typeface="Open Sauce Italics"/>
              </a:rPr>
              <a:t>turn = j</a:t>
            </a:r>
            <a:r>
              <a:rPr lang="en-US" sz="2200">
                <a:solidFill>
                  <a:srgbClr val="061313"/>
                </a:solidFill>
                <a:latin typeface="Open Sauce"/>
                <a:ea typeface="Open Sauce"/>
                <a:cs typeface="Open Sauce"/>
                <a:sym typeface="Open Sauce"/>
              </a:rPr>
              <a:t>).</a:t>
            </a:r>
          </a:p>
          <a:p>
            <a:pPr algn="l" marL="474983" indent="-237491" lvl="1">
              <a:lnSpc>
                <a:spcPts val="3520"/>
              </a:lnSpc>
              <a:buAutoNum type="arabicPeriod" startAt="1"/>
            </a:pPr>
            <a:r>
              <a:rPr lang="en-US" b="true" sz="2200">
                <a:solidFill>
                  <a:srgbClr val="061313"/>
                </a:solidFill>
                <a:latin typeface="Open Sauce Bold"/>
                <a:ea typeface="Open Sauce Bold"/>
                <a:cs typeface="Open Sauce Bold"/>
                <a:sym typeface="Open Sauce Bold"/>
              </a:rPr>
              <a:t>Espera </a:t>
            </a:r>
            <a:r>
              <a:rPr lang="en-US" sz="2200">
                <a:solidFill>
                  <a:srgbClr val="061313"/>
                </a:solidFill>
                <a:latin typeface="Open Sauce"/>
                <a:ea typeface="Open Sauce"/>
                <a:cs typeface="Open Sauce"/>
                <a:sym typeface="Open Sauce"/>
              </a:rPr>
              <a:t>solo si el otro hilo también quiere entrar y es el turno del otro hilo (</a:t>
            </a:r>
            <a:r>
              <a:rPr lang="en-US" sz="2200" i="true">
                <a:solidFill>
                  <a:srgbClr val="1D7151"/>
                </a:solidFill>
                <a:latin typeface="Open Sauce Italics"/>
                <a:ea typeface="Open Sauce Italics"/>
                <a:cs typeface="Open Sauce Italics"/>
                <a:sym typeface="Open Sauce Italics"/>
              </a:rPr>
              <a:t>while (flag[j] &amp;&amp; turn == j</a:t>
            </a:r>
            <a:r>
              <a:rPr lang="en-US" sz="2200">
                <a:solidFill>
                  <a:srgbClr val="061313"/>
                </a:solidFill>
                <a:latin typeface="Open Sauce"/>
                <a:ea typeface="Open Sauce"/>
                <a:cs typeface="Open Sauce"/>
                <a:sym typeface="Open Sauce"/>
              </a:rPr>
              <a:t>).</a:t>
            </a:r>
          </a:p>
          <a:p>
            <a:pPr algn="l">
              <a:lnSpc>
                <a:spcPts val="3520"/>
              </a:lnSpc>
            </a:pPr>
            <a:r>
              <a:rPr lang="en-US" sz="2200">
                <a:solidFill>
                  <a:srgbClr val="061313"/>
                </a:solidFill>
                <a:latin typeface="Open Sauce"/>
                <a:ea typeface="Open Sauce"/>
                <a:cs typeface="Open Sauce"/>
                <a:sym typeface="Open Sauce"/>
              </a:rPr>
              <a:t>Esta estructura garantiza que, si ambos intentan entrar simultáneamente, la última asignación a la variable turn determinará quién espera, permitiendo que el otro progrese.</a:t>
            </a:r>
          </a:p>
        </p:txBody>
      </p:sp>
      <p:sp>
        <p:nvSpPr>
          <p:cNvPr name="TextBox 7" id="7"/>
          <p:cNvSpPr txBox="true"/>
          <p:nvPr/>
        </p:nvSpPr>
        <p:spPr>
          <a:xfrm rot="0">
            <a:off x="929308" y="6802201"/>
            <a:ext cx="4034259"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sp>
        <p:nvSpPr>
          <p:cNvPr name="TextBox 8" id="8"/>
          <p:cNvSpPr txBox="true"/>
          <p:nvPr/>
        </p:nvSpPr>
        <p:spPr>
          <a:xfrm rot="0">
            <a:off x="5182642" y="6802201"/>
            <a:ext cx="5699654"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a:t>
            </a:r>
          </a:p>
        </p:txBody>
      </p:sp>
      <p:sp>
        <p:nvSpPr>
          <p:cNvPr name="TextBox 9" id="9"/>
          <p:cNvSpPr txBox="true"/>
          <p:nvPr/>
        </p:nvSpPr>
        <p:spPr>
          <a:xfrm rot="0">
            <a:off x="5182642" y="7188374"/>
            <a:ext cx="5699654" cy="2593736"/>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Espera activa</a:t>
            </a:r>
            <a:r>
              <a:rPr lang="en-US" sz="2200">
                <a:solidFill>
                  <a:srgbClr val="061313"/>
                </a:solidFill>
                <a:latin typeface="Open Sauce"/>
                <a:ea typeface="Open Sauce"/>
                <a:cs typeface="Open Sauce"/>
                <a:sym typeface="Open Sauce"/>
              </a:rPr>
              <a:t>: El hilo consume ciclos de CPU ejecutando un bucle mientras espera, lo que degrada la eficiencia del sistema.</a:t>
            </a:r>
          </a:p>
          <a:p>
            <a:pPr algn="l">
              <a:lnSpc>
                <a:spcPts val="3520"/>
              </a:lnSpc>
            </a:pPr>
            <a:r>
              <a:rPr lang="en-US" sz="2200" b="true">
                <a:solidFill>
                  <a:srgbClr val="061313"/>
                </a:solidFill>
                <a:latin typeface="Open Sauce Bold"/>
                <a:ea typeface="Open Sauce Bold"/>
                <a:cs typeface="Open Sauce Bold"/>
                <a:sym typeface="Open Sauce Bold"/>
              </a:rPr>
              <a:t>Limitado a 2 procesos</a:t>
            </a:r>
            <a:r>
              <a:rPr lang="en-US" sz="2200">
                <a:solidFill>
                  <a:srgbClr val="061313"/>
                </a:solidFill>
                <a:latin typeface="Open Sauce"/>
                <a:ea typeface="Open Sauce"/>
                <a:cs typeface="Open Sauce"/>
                <a:sym typeface="Open Sauce"/>
              </a:rPr>
              <a:t>: En su forma básica, solo sirve para dos hilos.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TextBox 2" id="2"/>
          <p:cNvSpPr txBox="true"/>
          <p:nvPr/>
        </p:nvSpPr>
        <p:spPr>
          <a:xfrm rot="0">
            <a:off x="1028700" y="590584"/>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 Peterson</a:t>
            </a:r>
          </a:p>
        </p:txBody>
      </p:sp>
      <p:grpSp>
        <p:nvGrpSpPr>
          <p:cNvPr name="Group 3" id="3"/>
          <p:cNvGrpSpPr/>
          <p:nvPr/>
        </p:nvGrpSpPr>
        <p:grpSpPr>
          <a:xfrm rot="0">
            <a:off x="10192108" y="1639342"/>
            <a:ext cx="5699654" cy="7008317"/>
            <a:chOff x="0" y="0"/>
            <a:chExt cx="7599538" cy="9344423"/>
          </a:xfrm>
        </p:grpSpPr>
        <p:sp>
          <p:nvSpPr>
            <p:cNvPr name="TextBox 4" id="4"/>
            <p:cNvSpPr txBox="true"/>
            <p:nvPr/>
          </p:nvSpPr>
          <p:spPr>
            <a:xfrm rot="0">
              <a:off x="0" y="-57150"/>
              <a:ext cx="7599538"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5" id="5"/>
            <p:cNvSpPr txBox="true"/>
            <p:nvPr/>
          </p:nvSpPr>
          <p:spPr>
            <a:xfrm rot="0">
              <a:off x="0" y="536955"/>
              <a:ext cx="7599538" cy="8807468"/>
            </a:xfrm>
            <a:prstGeom prst="rect">
              <a:avLst/>
            </a:prstGeom>
          </p:spPr>
          <p:txBody>
            <a:bodyPr anchor="t" rtlCol="false" tIns="0" lIns="0" bIns="0" rIns="0">
              <a:spAutoFit/>
            </a:bodyPr>
            <a:lstStyle/>
            <a:p>
              <a:pPr algn="l">
                <a:lnSpc>
                  <a:spcPts val="3080"/>
                </a:lnSpc>
                <a:spcBef>
                  <a:spcPct val="0"/>
                </a:spcBef>
              </a:pPr>
              <a:r>
                <a:rPr lang="en-US" b="true" sz="2200">
                  <a:solidFill>
                    <a:srgbClr val="000000"/>
                  </a:solidFill>
                  <a:latin typeface="Open Sauce Bold"/>
                  <a:ea typeface="Open Sauce Bold"/>
                  <a:cs typeface="Open Sauce Bold"/>
                  <a:sym typeface="Open Sauce Bold"/>
                </a:rPr>
                <a:t>Estado inicial</a:t>
              </a:r>
              <a:r>
                <a:rPr lang="en-US" sz="2200">
                  <a:solidFill>
                    <a:srgbClr val="000000"/>
                  </a:solidFill>
                  <a:latin typeface="Open Sauce"/>
                  <a:ea typeface="Open Sauce"/>
                  <a:cs typeface="Open Sauce"/>
                  <a:sym typeface="Open Sauce"/>
                </a:rPr>
                <a:t>:</a:t>
              </a:r>
            </a:p>
            <a:p>
              <a:pPr algn="l">
                <a:lnSpc>
                  <a:spcPts val="3080"/>
                </a:lnSpc>
                <a:spcBef>
                  <a:spcPct val="0"/>
                </a:spcBef>
              </a:pPr>
              <a:r>
                <a:rPr lang="en-US" sz="2200">
                  <a:solidFill>
                    <a:srgbClr val="000000"/>
                  </a:solidFill>
                  <a:latin typeface="Open Sauce"/>
                  <a:ea typeface="Open Sauce"/>
                  <a:cs typeface="Open Sauce"/>
                  <a:sym typeface="Open Sauce"/>
                </a:rPr>
                <a:t>saldo = 1000, flag[0] = 0, flag[1] = 0, turn = 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quiere entrar, flag[0] = true</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quiere entrar, flag[1] = true</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cede el turno a H1, turn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cede el turno a H0 (sobreescribe) turn = 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rompe el bucle y entra SC.</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se bloquea en el bucle.</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modifica saldo = 1000 - 500 = 500.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termina y baja su bandera, flag[0] = false</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detecta flag[0] = false, sale del bucle y entra en SC</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modifica saldo = 500 - 300 = 200.</a:t>
              </a:r>
            </a:p>
            <a:p>
              <a:pPr algn="l">
                <a:lnSpc>
                  <a:spcPts val="3080"/>
                </a:lnSpc>
                <a:spcBef>
                  <a:spcPct val="0"/>
                </a:spcBef>
              </a:pPr>
              <a:r>
                <a:rPr lang="en-US" b="true" sz="2200">
                  <a:solidFill>
                    <a:srgbClr val="1D7151"/>
                  </a:solidFill>
                  <a:latin typeface="Open Sauce Bold"/>
                  <a:ea typeface="Open Sauce Bold"/>
                  <a:cs typeface="Open Sauce Bold"/>
                  <a:sym typeface="Open Sauce Bold"/>
                </a:rPr>
                <a:t>¡Resultado Correcto: saldo = 200!</a:t>
              </a:r>
            </a:p>
          </p:txBody>
        </p:sp>
      </p:grpSp>
      <p:sp>
        <p:nvSpPr>
          <p:cNvPr name="Freeform 6" id="6"/>
          <p:cNvSpPr/>
          <p:nvPr/>
        </p:nvSpPr>
        <p:spPr>
          <a:xfrm flipH="false" flipV="false" rot="0">
            <a:off x="2971805" y="1639342"/>
            <a:ext cx="6172195" cy="7941380"/>
          </a:xfrm>
          <a:custGeom>
            <a:avLst/>
            <a:gdLst/>
            <a:ahLst/>
            <a:cxnLst/>
            <a:rect r="r" b="b" t="t" l="l"/>
            <a:pathLst>
              <a:path h="7941380" w="6172195">
                <a:moveTo>
                  <a:pt x="0" y="0"/>
                </a:moveTo>
                <a:lnTo>
                  <a:pt x="6172195" y="0"/>
                </a:lnTo>
                <a:lnTo>
                  <a:pt x="6172195" y="7941380"/>
                </a:lnTo>
                <a:lnTo>
                  <a:pt x="0" y="794138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158328" y="9125884"/>
            <a:ext cx="831328" cy="2322232"/>
            <a:chOff x="0" y="0"/>
            <a:chExt cx="1108437" cy="3096310"/>
          </a:xfrm>
        </p:grpSpPr>
        <p:grpSp>
          <p:nvGrpSpPr>
            <p:cNvPr name="Group 3" id="3"/>
            <p:cNvGrpSpPr/>
            <p:nvPr/>
          </p:nvGrpSpPr>
          <p:grpSpPr>
            <a:xfrm rot="0">
              <a:off x="0" y="0"/>
              <a:ext cx="1108437" cy="3096310"/>
              <a:chOff x="0" y="0"/>
              <a:chExt cx="1045580" cy="2920724"/>
            </a:xfrm>
          </p:grpSpPr>
          <p:sp>
            <p:nvSpPr>
              <p:cNvPr name="Freeform 4" id="4"/>
              <p:cNvSpPr/>
              <p:nvPr/>
            </p:nvSpPr>
            <p:spPr>
              <a:xfrm flipH="false" flipV="false" rot="0">
                <a:off x="0" y="0"/>
                <a:ext cx="1045580" cy="2920724"/>
              </a:xfrm>
              <a:custGeom>
                <a:avLst/>
                <a:gdLst/>
                <a:ahLst/>
                <a:cxnLst/>
                <a:rect r="r" b="b" t="t" l="l"/>
                <a:pathLst>
                  <a:path h="2920724" w="1045580">
                    <a:moveTo>
                      <a:pt x="921119" y="2920724"/>
                    </a:moveTo>
                    <a:lnTo>
                      <a:pt x="124460" y="2920724"/>
                    </a:lnTo>
                    <a:cubicBezTo>
                      <a:pt x="55880" y="2920724"/>
                      <a:pt x="0" y="2864844"/>
                      <a:pt x="0" y="2796264"/>
                    </a:cubicBezTo>
                    <a:lnTo>
                      <a:pt x="0" y="124460"/>
                    </a:lnTo>
                    <a:cubicBezTo>
                      <a:pt x="0" y="55880"/>
                      <a:pt x="55880" y="0"/>
                      <a:pt x="124460" y="0"/>
                    </a:cubicBezTo>
                    <a:lnTo>
                      <a:pt x="921120" y="0"/>
                    </a:lnTo>
                    <a:cubicBezTo>
                      <a:pt x="989700" y="0"/>
                      <a:pt x="1045580" y="55880"/>
                      <a:pt x="1045580" y="124460"/>
                    </a:cubicBezTo>
                    <a:lnTo>
                      <a:pt x="1045580" y="2796264"/>
                    </a:lnTo>
                    <a:cubicBezTo>
                      <a:pt x="1045580" y="2864844"/>
                      <a:pt x="989700" y="2920724"/>
                      <a:pt x="921120" y="2920724"/>
                    </a:cubicBezTo>
                    <a:close/>
                  </a:path>
                </a:pathLst>
              </a:custGeom>
              <a:solidFill>
                <a:srgbClr val="1D7151"/>
              </a:solidFill>
            </p:spPr>
          </p:sp>
        </p:grpSp>
        <p:sp>
          <p:nvSpPr>
            <p:cNvPr name="TextBox 5" id="5"/>
            <p:cNvSpPr txBox="true"/>
            <p:nvPr/>
          </p:nvSpPr>
          <p:spPr>
            <a:xfrm rot="0">
              <a:off x="272383" y="317805"/>
              <a:ext cx="523321" cy="632204"/>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11</a:t>
              </a:r>
            </a:p>
          </p:txBody>
        </p:sp>
      </p:grpSp>
      <p:sp>
        <p:nvSpPr>
          <p:cNvPr name="Freeform 6" id="6"/>
          <p:cNvSpPr/>
          <p:nvPr/>
        </p:nvSpPr>
        <p:spPr>
          <a:xfrm flipH="false" flipV="false" rot="0">
            <a:off x="11735895" y="1491034"/>
            <a:ext cx="5939069" cy="5793942"/>
          </a:xfrm>
          <a:custGeom>
            <a:avLst/>
            <a:gdLst/>
            <a:ahLst/>
            <a:cxnLst/>
            <a:rect r="r" b="b" t="t" l="l"/>
            <a:pathLst>
              <a:path h="5793942" w="5939069">
                <a:moveTo>
                  <a:pt x="0" y="0"/>
                </a:moveTo>
                <a:lnTo>
                  <a:pt x="5939069" y="0"/>
                </a:lnTo>
                <a:lnTo>
                  <a:pt x="5939069" y="5793942"/>
                </a:lnTo>
                <a:lnTo>
                  <a:pt x="0" y="5793942"/>
                </a:lnTo>
                <a:lnTo>
                  <a:pt x="0" y="0"/>
                </a:lnTo>
                <a:close/>
              </a:path>
            </a:pathLst>
          </a:custGeom>
          <a:blipFill>
            <a:blip r:embed="rId2"/>
            <a:stretch>
              <a:fillRect l="0" t="0" r="0" b="0"/>
            </a:stretch>
          </a:blipFill>
        </p:spPr>
      </p:sp>
      <p:sp>
        <p:nvSpPr>
          <p:cNvPr name="Freeform 7" id="7"/>
          <p:cNvSpPr/>
          <p:nvPr/>
        </p:nvSpPr>
        <p:spPr>
          <a:xfrm flipH="false" flipV="false" rot="0">
            <a:off x="4916800" y="5883256"/>
            <a:ext cx="6673893" cy="3919588"/>
          </a:xfrm>
          <a:custGeom>
            <a:avLst/>
            <a:gdLst/>
            <a:ahLst/>
            <a:cxnLst/>
            <a:rect r="r" b="b" t="t" l="l"/>
            <a:pathLst>
              <a:path h="3919588" w="6673893">
                <a:moveTo>
                  <a:pt x="0" y="0"/>
                </a:moveTo>
                <a:lnTo>
                  <a:pt x="6673892" y="0"/>
                </a:lnTo>
                <a:lnTo>
                  <a:pt x="6673892" y="3919587"/>
                </a:lnTo>
                <a:lnTo>
                  <a:pt x="0" y="3919587"/>
                </a:lnTo>
                <a:lnTo>
                  <a:pt x="0" y="0"/>
                </a:lnTo>
                <a:close/>
              </a:path>
            </a:pathLst>
          </a:custGeom>
          <a:blipFill>
            <a:blip r:embed="rId3"/>
            <a:stretch>
              <a:fillRect l="0" t="0" r="0" b="0"/>
            </a:stretch>
          </a:blipFill>
        </p:spPr>
      </p:sp>
      <p:grpSp>
        <p:nvGrpSpPr>
          <p:cNvPr name="Group 8" id="8"/>
          <p:cNvGrpSpPr/>
          <p:nvPr/>
        </p:nvGrpSpPr>
        <p:grpSpPr>
          <a:xfrm rot="0">
            <a:off x="1132531" y="4974071"/>
            <a:ext cx="3237588" cy="4828772"/>
            <a:chOff x="0" y="0"/>
            <a:chExt cx="4316784" cy="6438363"/>
          </a:xfrm>
        </p:grpSpPr>
        <p:sp>
          <p:nvSpPr>
            <p:cNvPr name="Freeform 9" id="9"/>
            <p:cNvSpPr/>
            <p:nvPr/>
          </p:nvSpPr>
          <p:spPr>
            <a:xfrm flipH="false" flipV="false" rot="0">
              <a:off x="0" y="565530"/>
              <a:ext cx="4316784" cy="5872833"/>
            </a:xfrm>
            <a:custGeom>
              <a:avLst/>
              <a:gdLst/>
              <a:ahLst/>
              <a:cxnLst/>
              <a:rect r="r" b="b" t="t" l="l"/>
              <a:pathLst>
                <a:path h="5872833" w="4316784">
                  <a:moveTo>
                    <a:pt x="0" y="0"/>
                  </a:moveTo>
                  <a:lnTo>
                    <a:pt x="4316784" y="0"/>
                  </a:lnTo>
                  <a:lnTo>
                    <a:pt x="4316784" y="5872833"/>
                  </a:lnTo>
                  <a:lnTo>
                    <a:pt x="0" y="5872833"/>
                  </a:lnTo>
                  <a:lnTo>
                    <a:pt x="0" y="0"/>
                  </a:lnTo>
                  <a:close/>
                </a:path>
              </a:pathLst>
            </a:custGeom>
            <a:blipFill>
              <a:blip r:embed="rId4"/>
              <a:stretch>
                <a:fillRect l="0" t="0" r="0" b="0"/>
              </a:stretch>
            </a:blipFill>
          </p:spPr>
        </p:sp>
        <p:sp>
          <p:nvSpPr>
            <p:cNvPr name="TextBox 10" id="10"/>
            <p:cNvSpPr txBox="true"/>
            <p:nvPr/>
          </p:nvSpPr>
          <p:spPr>
            <a:xfrm rot="0">
              <a:off x="0" y="-57150"/>
              <a:ext cx="4316784"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grpSp>
      <p:sp>
        <p:nvSpPr>
          <p:cNvPr name="Freeform 11" id="11"/>
          <p:cNvSpPr/>
          <p:nvPr/>
        </p:nvSpPr>
        <p:spPr>
          <a:xfrm flipH="false" flipV="false" rot="0">
            <a:off x="11735895" y="7843050"/>
            <a:ext cx="5459770" cy="1975575"/>
          </a:xfrm>
          <a:custGeom>
            <a:avLst/>
            <a:gdLst/>
            <a:ahLst/>
            <a:cxnLst/>
            <a:rect r="r" b="b" t="t" l="l"/>
            <a:pathLst>
              <a:path h="1975575" w="5459770">
                <a:moveTo>
                  <a:pt x="0" y="0"/>
                </a:moveTo>
                <a:lnTo>
                  <a:pt x="5459769" y="0"/>
                </a:lnTo>
                <a:lnTo>
                  <a:pt x="5459769" y="1975574"/>
                </a:lnTo>
                <a:lnTo>
                  <a:pt x="0" y="1975574"/>
                </a:lnTo>
                <a:lnTo>
                  <a:pt x="0" y="0"/>
                </a:lnTo>
                <a:close/>
              </a:path>
            </a:pathLst>
          </a:custGeom>
          <a:blipFill>
            <a:blip r:embed="rId5"/>
            <a:stretch>
              <a:fillRect l="0" t="0" r="0" b="0"/>
            </a:stretch>
          </a:blipFill>
        </p:spPr>
      </p:sp>
      <p:sp>
        <p:nvSpPr>
          <p:cNvPr name="TextBox 12" id="12"/>
          <p:cNvSpPr txBox="true"/>
          <p:nvPr/>
        </p:nvSpPr>
        <p:spPr>
          <a:xfrm rot="0">
            <a:off x="1028700" y="590584"/>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Panadería de Lamport</a:t>
            </a:r>
          </a:p>
        </p:txBody>
      </p:sp>
      <p:sp>
        <p:nvSpPr>
          <p:cNvPr name="TextBox 13" id="13"/>
          <p:cNvSpPr txBox="true"/>
          <p:nvPr/>
        </p:nvSpPr>
        <p:spPr>
          <a:xfrm rot="0">
            <a:off x="814584" y="1414834"/>
            <a:ext cx="10776109" cy="1279088"/>
          </a:xfrm>
          <a:prstGeom prst="rect">
            <a:avLst/>
          </a:prstGeom>
        </p:spPr>
        <p:txBody>
          <a:bodyPr anchor="t" rtlCol="false" tIns="0" lIns="0" bIns="0" rIns="0">
            <a:spAutoFit/>
          </a:bodyPr>
          <a:lstStyle/>
          <a:p>
            <a:pPr algn="l">
              <a:lnSpc>
                <a:spcPts val="3520"/>
              </a:lnSpc>
            </a:pPr>
            <a:r>
              <a:rPr lang="en-US" sz="2200">
                <a:solidFill>
                  <a:srgbClr val="061313"/>
                </a:solidFill>
                <a:latin typeface="Open Sauce"/>
                <a:ea typeface="Open Sauce"/>
                <a:cs typeface="Open Sauce"/>
                <a:sym typeface="Open Sauce"/>
              </a:rPr>
              <a:t>Resuelve el problema de la exclusión mutua para un número n de procersos. Cada cliente recibe un número  al llegar y es atendido cuando su número es el más bajo. Se basa en la numeración incremental.</a:t>
            </a:r>
          </a:p>
        </p:txBody>
      </p:sp>
      <p:grpSp>
        <p:nvGrpSpPr>
          <p:cNvPr name="Group 14" id="14"/>
          <p:cNvGrpSpPr/>
          <p:nvPr/>
        </p:nvGrpSpPr>
        <p:grpSpPr>
          <a:xfrm rot="0">
            <a:off x="4968174" y="2817747"/>
            <a:ext cx="6627140" cy="2941684"/>
            <a:chOff x="0" y="0"/>
            <a:chExt cx="8836186" cy="3922245"/>
          </a:xfrm>
        </p:grpSpPr>
        <p:sp>
          <p:nvSpPr>
            <p:cNvPr name="TextBox 15" id="15"/>
            <p:cNvSpPr txBox="true"/>
            <p:nvPr/>
          </p:nvSpPr>
          <p:spPr>
            <a:xfrm rot="0">
              <a:off x="0" y="-57150"/>
              <a:ext cx="8836186"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a:t>
              </a:r>
            </a:p>
          </p:txBody>
        </p:sp>
        <p:sp>
          <p:nvSpPr>
            <p:cNvPr name="TextBox 16" id="16"/>
            <p:cNvSpPr txBox="true"/>
            <p:nvPr/>
          </p:nvSpPr>
          <p:spPr>
            <a:xfrm rot="0">
              <a:off x="0" y="489330"/>
              <a:ext cx="8836186" cy="3432915"/>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Eficiencia</a:t>
              </a:r>
              <a:r>
                <a:rPr lang="en-US" sz="2200">
                  <a:solidFill>
                    <a:srgbClr val="061313"/>
                  </a:solidFill>
                  <a:latin typeface="Open Sauce"/>
                  <a:ea typeface="Open Sauce"/>
                  <a:cs typeface="Open Sauce"/>
                  <a:sym typeface="Open Sauce"/>
                </a:rPr>
                <a:t>: Al igual que Peterson, utiliza espera activa, lo que consume ciclos CPU.</a:t>
              </a:r>
            </a:p>
            <a:p>
              <a:pPr algn="l">
                <a:lnSpc>
                  <a:spcPts val="3520"/>
                </a:lnSpc>
              </a:pPr>
              <a:r>
                <a:rPr lang="en-US" sz="2200" b="true">
                  <a:solidFill>
                    <a:srgbClr val="061313"/>
                  </a:solidFill>
                  <a:latin typeface="Open Sauce Bold"/>
                  <a:ea typeface="Open Sauce Bold"/>
                  <a:cs typeface="Open Sauce Bold"/>
                  <a:sym typeface="Open Sauce Bold"/>
                </a:rPr>
                <a:t>Complejidad</a:t>
              </a:r>
              <a:r>
                <a:rPr lang="en-US" sz="2200">
                  <a:solidFill>
                    <a:srgbClr val="061313"/>
                  </a:solidFill>
                  <a:latin typeface="Open Sauce"/>
                  <a:ea typeface="Open Sauce"/>
                  <a:cs typeface="Open Sauce"/>
                  <a:sym typeface="Open Sauce"/>
                </a:rPr>
                <a:t>: Difícil de implementar.</a:t>
              </a:r>
            </a:p>
            <a:p>
              <a:pPr algn="l">
                <a:lnSpc>
                  <a:spcPts val="3520"/>
                </a:lnSpc>
              </a:pPr>
              <a:r>
                <a:rPr lang="en-US" sz="2200" b="true">
                  <a:solidFill>
                    <a:srgbClr val="061313"/>
                  </a:solidFill>
                  <a:latin typeface="Open Sauce Bold"/>
                  <a:ea typeface="Open Sauce Bold"/>
                  <a:cs typeface="Open Sauce Bold"/>
                  <a:sym typeface="Open Sauce Bold"/>
                </a:rPr>
                <a:t>Multiprocesadores</a:t>
              </a:r>
              <a:r>
                <a:rPr lang="en-US" sz="2200">
                  <a:solidFill>
                    <a:srgbClr val="061313"/>
                  </a:solidFill>
                  <a:latin typeface="Open Sauce"/>
                  <a:ea typeface="Open Sauce"/>
                  <a:cs typeface="Open Sauce"/>
                  <a:sym typeface="Open Sauce"/>
                </a:rPr>
                <a:t>: Puede tener problemas de rendimiento o coherencia de memoria en arquitecturas multiprocesador modernas.</a:t>
              </a:r>
            </a:p>
          </p:txBody>
        </p:sp>
      </p:grpSp>
      <p:sp>
        <p:nvSpPr>
          <p:cNvPr name="TextBox 17" id="17"/>
          <p:cNvSpPr txBox="true"/>
          <p:nvPr/>
        </p:nvSpPr>
        <p:spPr>
          <a:xfrm rot="0">
            <a:off x="11735895" y="7361752"/>
            <a:ext cx="5189092"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Creación n-hilos</a:t>
            </a:r>
          </a:p>
        </p:txBody>
      </p:sp>
      <p:sp>
        <p:nvSpPr>
          <p:cNvPr name="TextBox 18" id="18"/>
          <p:cNvSpPr txBox="true"/>
          <p:nvPr/>
        </p:nvSpPr>
        <p:spPr>
          <a:xfrm rot="0">
            <a:off x="814584" y="2741547"/>
            <a:ext cx="4010716" cy="2155520"/>
          </a:xfrm>
          <a:prstGeom prst="rect">
            <a:avLst/>
          </a:prstGeom>
        </p:spPr>
        <p:txBody>
          <a:bodyPr anchor="t" rtlCol="false" tIns="0" lIns="0" bIns="0" rIns="0">
            <a:spAutoFit/>
          </a:bodyPr>
          <a:lstStyle/>
          <a:p>
            <a:pPr algn="l">
              <a:lnSpc>
                <a:spcPts val="3520"/>
              </a:lnSpc>
            </a:pPr>
            <a:r>
              <a:rPr lang="en-US" sz="2200" b="true">
                <a:solidFill>
                  <a:srgbClr val="061313"/>
                </a:solidFill>
                <a:latin typeface="Open Sauce Bold"/>
                <a:ea typeface="Open Sauce Bold"/>
                <a:cs typeface="Open Sauce Bold"/>
                <a:sym typeface="Open Sauce Bold"/>
              </a:rPr>
              <a:t>Toma de turno</a:t>
            </a:r>
            <a:r>
              <a:rPr lang="en-US" sz="2200">
                <a:solidFill>
                  <a:srgbClr val="061313"/>
                </a:solidFill>
                <a:latin typeface="Open Sauce"/>
                <a:ea typeface="Open Sauce"/>
                <a:cs typeface="Open Sauce"/>
                <a:sym typeface="Open Sauce"/>
              </a:rPr>
              <a:t>: antes de entrar en SC, cada hilo “toma un número.</a:t>
            </a:r>
          </a:p>
          <a:p>
            <a:pPr algn="l">
              <a:lnSpc>
                <a:spcPts val="3520"/>
              </a:lnSpc>
            </a:pPr>
            <a:r>
              <a:rPr lang="en-US" sz="2200">
                <a:solidFill>
                  <a:srgbClr val="061313"/>
                </a:solidFill>
                <a:latin typeface="Open Sauce"/>
                <a:ea typeface="Open Sauce"/>
                <a:cs typeface="Open Sauce"/>
                <a:sym typeface="Open Sauce"/>
              </a:rPr>
              <a:t>Los hilos entran en orden creciente a sus tickets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6728354" y="4427938"/>
            <a:ext cx="5939069" cy="5793942"/>
          </a:xfrm>
          <a:custGeom>
            <a:avLst/>
            <a:gdLst/>
            <a:ahLst/>
            <a:cxnLst/>
            <a:rect r="r" b="b" t="t" l="l"/>
            <a:pathLst>
              <a:path h="5793942" w="5939069">
                <a:moveTo>
                  <a:pt x="0" y="0"/>
                </a:moveTo>
                <a:lnTo>
                  <a:pt x="5939069" y="0"/>
                </a:lnTo>
                <a:lnTo>
                  <a:pt x="5939069" y="5793942"/>
                </a:lnTo>
                <a:lnTo>
                  <a:pt x="0" y="5793942"/>
                </a:lnTo>
                <a:lnTo>
                  <a:pt x="0" y="0"/>
                </a:lnTo>
                <a:close/>
              </a:path>
            </a:pathLst>
          </a:custGeom>
          <a:blipFill>
            <a:blip r:embed="rId2"/>
            <a:stretch>
              <a:fillRect l="0" t="0" r="0" b="0"/>
            </a:stretch>
          </a:blipFill>
        </p:spPr>
      </p:sp>
      <p:sp>
        <p:nvSpPr>
          <p:cNvPr name="Freeform 3" id="3"/>
          <p:cNvSpPr/>
          <p:nvPr/>
        </p:nvSpPr>
        <p:spPr>
          <a:xfrm flipH="false" flipV="false" rot="0">
            <a:off x="12855571" y="4427938"/>
            <a:ext cx="5166905" cy="5443444"/>
          </a:xfrm>
          <a:custGeom>
            <a:avLst/>
            <a:gdLst/>
            <a:ahLst/>
            <a:cxnLst/>
            <a:rect r="r" b="b" t="t" l="l"/>
            <a:pathLst>
              <a:path h="5443444" w="5166905">
                <a:moveTo>
                  <a:pt x="0" y="0"/>
                </a:moveTo>
                <a:lnTo>
                  <a:pt x="5166906" y="0"/>
                </a:lnTo>
                <a:lnTo>
                  <a:pt x="5166906" y="5443444"/>
                </a:lnTo>
                <a:lnTo>
                  <a:pt x="0" y="5443444"/>
                </a:lnTo>
                <a:lnTo>
                  <a:pt x="0" y="0"/>
                </a:lnTo>
                <a:close/>
              </a:path>
            </a:pathLst>
          </a:custGeom>
          <a:blipFill>
            <a:blip r:embed="rId3"/>
            <a:stretch>
              <a:fillRect l="0" t="0" r="0" b="0"/>
            </a:stretch>
          </a:blipFill>
        </p:spPr>
      </p:sp>
      <p:sp>
        <p:nvSpPr>
          <p:cNvPr name="TextBox 4" id="4"/>
          <p:cNvSpPr txBox="true"/>
          <p:nvPr/>
        </p:nvSpPr>
        <p:spPr>
          <a:xfrm rot="0">
            <a:off x="1028700" y="590584"/>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Panadería de Lamport</a:t>
            </a:r>
          </a:p>
        </p:txBody>
      </p:sp>
      <p:grpSp>
        <p:nvGrpSpPr>
          <p:cNvPr name="Group 5" id="5"/>
          <p:cNvGrpSpPr/>
          <p:nvPr/>
        </p:nvGrpSpPr>
        <p:grpSpPr>
          <a:xfrm rot="0">
            <a:off x="1028700" y="1559180"/>
            <a:ext cx="5699654" cy="8180090"/>
            <a:chOff x="0" y="0"/>
            <a:chExt cx="7599538" cy="10906787"/>
          </a:xfrm>
        </p:grpSpPr>
        <p:sp>
          <p:nvSpPr>
            <p:cNvPr name="TextBox 6" id="6"/>
            <p:cNvSpPr txBox="true"/>
            <p:nvPr/>
          </p:nvSpPr>
          <p:spPr>
            <a:xfrm rot="0">
              <a:off x="0" y="-57150"/>
              <a:ext cx="7599538"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7" id="7"/>
            <p:cNvSpPr txBox="true"/>
            <p:nvPr/>
          </p:nvSpPr>
          <p:spPr>
            <a:xfrm rot="0">
              <a:off x="0" y="536955"/>
              <a:ext cx="7599538" cy="10369832"/>
            </a:xfrm>
            <a:prstGeom prst="rect">
              <a:avLst/>
            </a:prstGeom>
          </p:spPr>
          <p:txBody>
            <a:bodyPr anchor="t" rtlCol="false" tIns="0" lIns="0" bIns="0" rIns="0">
              <a:spAutoFit/>
            </a:bodyPr>
            <a:lstStyle/>
            <a:p>
              <a:pPr algn="l">
                <a:lnSpc>
                  <a:spcPts val="3080"/>
                </a:lnSpc>
                <a:spcBef>
                  <a:spcPct val="0"/>
                </a:spcBef>
              </a:pPr>
              <a:r>
                <a:rPr lang="en-US" b="true" sz="2200">
                  <a:solidFill>
                    <a:srgbClr val="000000"/>
                  </a:solidFill>
                  <a:latin typeface="Open Sauce Bold"/>
                  <a:ea typeface="Open Sauce Bold"/>
                  <a:cs typeface="Open Sauce Bold"/>
                  <a:sym typeface="Open Sauce Bold"/>
                </a:rPr>
                <a:t>Estado inicial</a:t>
              </a:r>
              <a:r>
                <a:rPr lang="en-US" sz="2200">
                  <a:solidFill>
                    <a:srgbClr val="000000"/>
                  </a:solidFill>
                  <a:latin typeface="Open Sauce"/>
                  <a:ea typeface="Open Sauce"/>
                  <a:cs typeface="Open Sauce"/>
                  <a:sym typeface="Open Sauce"/>
                </a:rPr>
                <a:t>:</a:t>
              </a:r>
            </a:p>
            <a:p>
              <a:pPr algn="l">
                <a:lnSpc>
                  <a:spcPts val="3080"/>
                </a:lnSpc>
                <a:spcBef>
                  <a:spcPct val="0"/>
                </a:spcBef>
              </a:pPr>
              <a:r>
                <a:rPr lang="en-US" sz="2200">
                  <a:solidFill>
                    <a:srgbClr val="000000"/>
                  </a:solidFill>
                  <a:latin typeface="Open Sauce"/>
                  <a:ea typeface="Open Sauce"/>
                  <a:cs typeface="Open Sauce"/>
                  <a:sym typeface="Open Sauce"/>
                </a:rPr>
                <a:t>NUM_THREADS = 3, saldo = 1000, choosing = [0, 0, 0], number = [0, 0, 0]</a:t>
              </a:r>
            </a:p>
            <a:p>
              <a:pPr algn="l">
                <a:lnSpc>
                  <a:spcPts val="3080"/>
                </a:lnSpc>
                <a:spcBef>
                  <a:spcPct val="0"/>
                </a:spcBef>
              </a:pP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 Los tres Hilos H0, H1 y H2 anuncian elección; choosing = [1, 1,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obtiene ticket: calcula max( number[0, 0, 0] ) = 0 → number[0]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H0 termina elección de ticket con choosing[0] = 0.</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y H2 obtienen sus tickets → choosing[0, 0, 0] y number[1, 2, 3]</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Cada hilo ejecuta su bucle para esperar a los demás. H0 ticket = 1: number[j=0, 1, 2] &lt; 1 = false → no espera, entra directo a SC.</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espera a H0 porque ticket0 = 1 &lt; ticket2 = 1</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H2 espera mientras H0 y H1 tengan ticket != 0.</a:t>
              </a:r>
            </a:p>
          </p:txBody>
        </p:sp>
      </p:grpSp>
      <p:sp>
        <p:nvSpPr>
          <p:cNvPr name="TextBox 8" id="8"/>
          <p:cNvSpPr txBox="true"/>
          <p:nvPr/>
        </p:nvSpPr>
        <p:spPr>
          <a:xfrm rot="0">
            <a:off x="6728354" y="1521080"/>
            <a:ext cx="9588170" cy="2716358"/>
          </a:xfrm>
          <a:prstGeom prst="rect">
            <a:avLst/>
          </a:prstGeom>
        </p:spPr>
        <p:txBody>
          <a:bodyPr anchor="t" rtlCol="false" tIns="0" lIns="0" bIns="0" rIns="0">
            <a:spAutoFit/>
          </a:bodyPr>
          <a:lstStyle/>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H0 en SC modifica saldo -= 100 → 900</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H0 sale SC number[0] = 0 y termina.</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H1 ya tiene ticket libre y entra a SC.</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H1 modifica saldo -= 100 → 800 y libera el ticket</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Al terminar numero[0, 1, 2] = [0, 0, 3]. </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H2 ejecuta su SC y modifica saldo -= 100 → 700. H2 libera su ticket.</a:t>
            </a:r>
          </a:p>
          <a:p>
            <a:pPr algn="l">
              <a:lnSpc>
                <a:spcPts val="3079"/>
              </a:lnSpc>
              <a:spcBef>
                <a:spcPct val="0"/>
              </a:spcBef>
            </a:pPr>
            <a:r>
              <a:rPr lang="en-US" b="true" sz="2199">
                <a:solidFill>
                  <a:srgbClr val="1D7151"/>
                </a:solidFill>
                <a:latin typeface="Open Sauce Bold"/>
                <a:ea typeface="Open Sauce Bold"/>
                <a:cs typeface="Open Sauce Bold"/>
                <a:sym typeface="Open Sauce Bold"/>
              </a:rPr>
              <a:t>!Resultado final: saldo = 700¡</a:t>
            </a:r>
          </a:p>
        </p:txBody>
      </p:sp>
      <p:grpSp>
        <p:nvGrpSpPr>
          <p:cNvPr name="Group 9" id="9"/>
          <p:cNvGrpSpPr/>
          <p:nvPr/>
        </p:nvGrpSpPr>
        <p:grpSpPr>
          <a:xfrm rot="0">
            <a:off x="197372" y="9060763"/>
            <a:ext cx="831328" cy="2322232"/>
            <a:chOff x="0" y="0"/>
            <a:chExt cx="1108437" cy="3096310"/>
          </a:xfrm>
        </p:grpSpPr>
        <p:grpSp>
          <p:nvGrpSpPr>
            <p:cNvPr name="Group 10" id="10"/>
            <p:cNvGrpSpPr/>
            <p:nvPr/>
          </p:nvGrpSpPr>
          <p:grpSpPr>
            <a:xfrm rot="0">
              <a:off x="0" y="0"/>
              <a:ext cx="1108437" cy="3096310"/>
              <a:chOff x="0" y="0"/>
              <a:chExt cx="1045580" cy="2920724"/>
            </a:xfrm>
          </p:grpSpPr>
          <p:sp>
            <p:nvSpPr>
              <p:cNvPr name="Freeform 11" id="11"/>
              <p:cNvSpPr/>
              <p:nvPr/>
            </p:nvSpPr>
            <p:spPr>
              <a:xfrm flipH="false" flipV="false" rot="0">
                <a:off x="0" y="0"/>
                <a:ext cx="1045580" cy="2920724"/>
              </a:xfrm>
              <a:custGeom>
                <a:avLst/>
                <a:gdLst/>
                <a:ahLst/>
                <a:cxnLst/>
                <a:rect r="r" b="b" t="t" l="l"/>
                <a:pathLst>
                  <a:path h="2920724" w="1045580">
                    <a:moveTo>
                      <a:pt x="921119" y="2920724"/>
                    </a:moveTo>
                    <a:lnTo>
                      <a:pt x="124460" y="2920724"/>
                    </a:lnTo>
                    <a:cubicBezTo>
                      <a:pt x="55880" y="2920724"/>
                      <a:pt x="0" y="2864844"/>
                      <a:pt x="0" y="2796264"/>
                    </a:cubicBezTo>
                    <a:lnTo>
                      <a:pt x="0" y="124460"/>
                    </a:lnTo>
                    <a:cubicBezTo>
                      <a:pt x="0" y="55880"/>
                      <a:pt x="55880" y="0"/>
                      <a:pt x="124460" y="0"/>
                    </a:cubicBezTo>
                    <a:lnTo>
                      <a:pt x="921120" y="0"/>
                    </a:lnTo>
                    <a:cubicBezTo>
                      <a:pt x="989700" y="0"/>
                      <a:pt x="1045580" y="55880"/>
                      <a:pt x="1045580" y="124460"/>
                    </a:cubicBezTo>
                    <a:lnTo>
                      <a:pt x="1045580" y="2796264"/>
                    </a:lnTo>
                    <a:cubicBezTo>
                      <a:pt x="1045580" y="2864844"/>
                      <a:pt x="989700" y="2920724"/>
                      <a:pt x="921120" y="2920724"/>
                    </a:cubicBezTo>
                    <a:close/>
                  </a:path>
                </a:pathLst>
              </a:custGeom>
              <a:solidFill>
                <a:srgbClr val="1D7151"/>
              </a:solidFill>
            </p:spPr>
          </p:sp>
        </p:grpSp>
        <p:sp>
          <p:nvSpPr>
            <p:cNvPr name="TextBox 12" id="12"/>
            <p:cNvSpPr txBox="true"/>
            <p:nvPr/>
          </p:nvSpPr>
          <p:spPr>
            <a:xfrm rot="0">
              <a:off x="272383" y="317805"/>
              <a:ext cx="523321" cy="632204"/>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12</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765325"/>
            <a:chOff x="0" y="0"/>
            <a:chExt cx="5666449" cy="856823"/>
          </a:xfrm>
        </p:grpSpPr>
        <p:sp>
          <p:nvSpPr>
            <p:cNvPr name="Freeform 3" id="3"/>
            <p:cNvSpPr/>
            <p:nvPr/>
          </p:nvSpPr>
          <p:spPr>
            <a:xfrm flipH="false" flipV="false" rot="0">
              <a:off x="0" y="0"/>
              <a:ext cx="5666449" cy="856823"/>
            </a:xfrm>
            <a:custGeom>
              <a:avLst/>
              <a:gdLst/>
              <a:ahLst/>
              <a:cxnLst/>
              <a:rect r="r" b="b" t="t" l="l"/>
              <a:pathLst>
                <a:path h="856823" w="5666449">
                  <a:moveTo>
                    <a:pt x="0" y="0"/>
                  </a:moveTo>
                  <a:lnTo>
                    <a:pt x="5666449" y="0"/>
                  </a:lnTo>
                  <a:lnTo>
                    <a:pt x="5666449" y="856823"/>
                  </a:lnTo>
                  <a:lnTo>
                    <a:pt x="0" y="856823"/>
                  </a:lnTo>
                  <a:close/>
                </a:path>
              </a:pathLst>
            </a:custGeom>
            <a:solidFill>
              <a:srgbClr val="1D7151"/>
            </a:solidFill>
          </p:spPr>
        </p:sp>
      </p:grpSp>
      <p:sp>
        <p:nvSpPr>
          <p:cNvPr name="Freeform 4" id="4"/>
          <p:cNvSpPr/>
          <p:nvPr/>
        </p:nvSpPr>
        <p:spPr>
          <a:xfrm flipH="false" flipV="false" rot="0">
            <a:off x="-428141" y="2769951"/>
            <a:ext cx="9572141" cy="7517049"/>
          </a:xfrm>
          <a:custGeom>
            <a:avLst/>
            <a:gdLst/>
            <a:ahLst/>
            <a:cxnLst/>
            <a:rect r="r" b="b" t="t" l="l"/>
            <a:pathLst>
              <a:path h="7517049" w="9572141">
                <a:moveTo>
                  <a:pt x="0" y="0"/>
                </a:moveTo>
                <a:lnTo>
                  <a:pt x="9572141" y="0"/>
                </a:lnTo>
                <a:lnTo>
                  <a:pt x="9572141" y="7517049"/>
                </a:lnTo>
                <a:lnTo>
                  <a:pt x="0" y="7517049"/>
                </a:lnTo>
                <a:lnTo>
                  <a:pt x="0" y="0"/>
                </a:lnTo>
                <a:close/>
              </a:path>
            </a:pathLst>
          </a:custGeom>
          <a:blipFill>
            <a:blip r:embed="rId2"/>
            <a:stretch>
              <a:fillRect l="0" t="0" r="-17869" b="0"/>
            </a:stretch>
          </a:blipFill>
        </p:spPr>
      </p:sp>
      <p:sp>
        <p:nvSpPr>
          <p:cNvPr name="TextBox 5" id="5"/>
          <p:cNvSpPr txBox="true"/>
          <p:nvPr/>
        </p:nvSpPr>
        <p:spPr>
          <a:xfrm rot="0">
            <a:off x="902664" y="234536"/>
            <a:ext cx="11576103" cy="2029554"/>
          </a:xfrm>
          <a:prstGeom prst="rect">
            <a:avLst/>
          </a:prstGeom>
        </p:spPr>
        <p:txBody>
          <a:bodyPr anchor="t" rtlCol="false" tIns="0" lIns="0" bIns="0" rIns="0">
            <a:spAutoFit/>
          </a:bodyPr>
          <a:lstStyle/>
          <a:p>
            <a:pPr algn="l">
              <a:lnSpc>
                <a:spcPts val="16238"/>
              </a:lnSpc>
            </a:pPr>
            <a:r>
              <a:rPr lang="en-US" sz="11598">
                <a:solidFill>
                  <a:srgbClr val="F2EDDB"/>
                </a:solidFill>
                <a:latin typeface="Sugo Display"/>
                <a:ea typeface="Sugo Display"/>
                <a:cs typeface="Sugo Display"/>
                <a:sym typeface="Sugo Display"/>
              </a:rPr>
              <a:t>Soluciones de Hardware</a:t>
            </a:r>
          </a:p>
        </p:txBody>
      </p:sp>
      <p:sp>
        <p:nvSpPr>
          <p:cNvPr name="TextBox 6" id="6"/>
          <p:cNvSpPr txBox="true"/>
          <p:nvPr/>
        </p:nvSpPr>
        <p:spPr>
          <a:xfrm rot="0">
            <a:off x="9585673" y="3390628"/>
            <a:ext cx="8067447" cy="5443492"/>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uce"/>
                <a:ea typeface="Open Sauce"/>
                <a:cs typeface="Open Sauce"/>
                <a:sym typeface="Open Sauce"/>
              </a:rPr>
              <a:t>Aprovech</a:t>
            </a:r>
            <a:r>
              <a:rPr lang="en-US" sz="2799">
                <a:solidFill>
                  <a:srgbClr val="000000"/>
                </a:solidFill>
                <a:latin typeface="Open Sauce"/>
                <a:ea typeface="Open Sauce"/>
                <a:cs typeface="Open Sauce"/>
                <a:sym typeface="Open Sauce"/>
              </a:rPr>
              <a:t>an capacidades específicas del procesador para simplificar la sincronización:</a:t>
            </a:r>
          </a:p>
          <a:p>
            <a:pPr algn="l" marL="604518" indent="-302259" lvl="1">
              <a:lnSpc>
                <a:spcPts val="3919"/>
              </a:lnSpc>
              <a:spcBef>
                <a:spcPct val="0"/>
              </a:spcBef>
              <a:buFont typeface="Arial"/>
              <a:buChar char="•"/>
            </a:pPr>
            <a:r>
              <a:rPr lang="en-US" b="true" sz="2799">
                <a:solidFill>
                  <a:srgbClr val="000000"/>
                </a:solidFill>
                <a:latin typeface="Open Sauce Bold"/>
                <a:ea typeface="Open Sauce Bold"/>
                <a:cs typeface="Open Sauce Bold"/>
                <a:sym typeface="Open Sauce Bold"/>
              </a:rPr>
              <a:t>Inhabilitación de interrupciones</a:t>
            </a:r>
            <a:r>
              <a:rPr lang="en-US" sz="2799">
                <a:solidFill>
                  <a:srgbClr val="000000"/>
                </a:solidFill>
                <a:latin typeface="Open Sauce"/>
                <a:ea typeface="Open Sauce"/>
                <a:cs typeface="Open Sauce"/>
                <a:sym typeface="Open Sauce"/>
              </a:rPr>
              <a:t>: En sistemas monoprocesador, desactivar las interrupciones impide que el proceso sea desalojado mientras está en su sección crítica.</a:t>
            </a:r>
          </a:p>
          <a:p>
            <a:pPr algn="l" marL="604518" indent="-302259" lvl="1">
              <a:lnSpc>
                <a:spcPts val="3919"/>
              </a:lnSpc>
              <a:spcBef>
                <a:spcPct val="0"/>
              </a:spcBef>
              <a:buFont typeface="Arial"/>
              <a:buChar char="•"/>
            </a:pPr>
            <a:r>
              <a:rPr lang="en-US" b="true" sz="2799">
                <a:solidFill>
                  <a:srgbClr val="000000"/>
                </a:solidFill>
                <a:latin typeface="Open Sauce Bold"/>
                <a:ea typeface="Open Sauce Bold"/>
                <a:cs typeface="Open Sauce Bold"/>
                <a:sym typeface="Open Sauce Bold"/>
              </a:rPr>
              <a:t>Instrucciones atómicas</a:t>
            </a:r>
            <a:r>
              <a:rPr lang="en-US" sz="2799">
                <a:solidFill>
                  <a:srgbClr val="000000"/>
                </a:solidFill>
                <a:latin typeface="Open Sauce"/>
                <a:ea typeface="Open Sauce"/>
                <a:cs typeface="Open Sauce"/>
                <a:sym typeface="Open Sauce"/>
              </a:rPr>
              <a:t>: Instrucciones de máquina especiales que realizan varias acciones (como leer y escribir) como una única unidad interrumpible.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158328" y="9125884"/>
            <a:ext cx="831328" cy="2322232"/>
            <a:chOff x="0" y="0"/>
            <a:chExt cx="1108437" cy="3096310"/>
          </a:xfrm>
        </p:grpSpPr>
        <p:grpSp>
          <p:nvGrpSpPr>
            <p:cNvPr name="Group 3" id="3"/>
            <p:cNvGrpSpPr/>
            <p:nvPr/>
          </p:nvGrpSpPr>
          <p:grpSpPr>
            <a:xfrm rot="0">
              <a:off x="0" y="0"/>
              <a:ext cx="1108437" cy="3096310"/>
              <a:chOff x="0" y="0"/>
              <a:chExt cx="1045580" cy="2920724"/>
            </a:xfrm>
          </p:grpSpPr>
          <p:sp>
            <p:nvSpPr>
              <p:cNvPr name="Freeform 4" id="4"/>
              <p:cNvSpPr/>
              <p:nvPr/>
            </p:nvSpPr>
            <p:spPr>
              <a:xfrm flipH="false" flipV="false" rot="0">
                <a:off x="0" y="0"/>
                <a:ext cx="1045580" cy="2920724"/>
              </a:xfrm>
              <a:custGeom>
                <a:avLst/>
                <a:gdLst/>
                <a:ahLst/>
                <a:cxnLst/>
                <a:rect r="r" b="b" t="t" l="l"/>
                <a:pathLst>
                  <a:path h="2920724" w="1045580">
                    <a:moveTo>
                      <a:pt x="921119" y="2920724"/>
                    </a:moveTo>
                    <a:lnTo>
                      <a:pt x="124460" y="2920724"/>
                    </a:lnTo>
                    <a:cubicBezTo>
                      <a:pt x="55880" y="2920724"/>
                      <a:pt x="0" y="2864844"/>
                      <a:pt x="0" y="2796264"/>
                    </a:cubicBezTo>
                    <a:lnTo>
                      <a:pt x="0" y="124460"/>
                    </a:lnTo>
                    <a:cubicBezTo>
                      <a:pt x="0" y="55880"/>
                      <a:pt x="55880" y="0"/>
                      <a:pt x="124460" y="0"/>
                    </a:cubicBezTo>
                    <a:lnTo>
                      <a:pt x="921120" y="0"/>
                    </a:lnTo>
                    <a:cubicBezTo>
                      <a:pt x="989700" y="0"/>
                      <a:pt x="1045580" y="55880"/>
                      <a:pt x="1045580" y="124460"/>
                    </a:cubicBezTo>
                    <a:lnTo>
                      <a:pt x="1045580" y="2796264"/>
                    </a:lnTo>
                    <a:cubicBezTo>
                      <a:pt x="1045580" y="2864844"/>
                      <a:pt x="989700" y="2920724"/>
                      <a:pt x="921120" y="2920724"/>
                    </a:cubicBezTo>
                    <a:close/>
                  </a:path>
                </a:pathLst>
              </a:custGeom>
              <a:solidFill>
                <a:srgbClr val="1D7151"/>
              </a:solidFill>
            </p:spPr>
          </p:sp>
        </p:grpSp>
        <p:sp>
          <p:nvSpPr>
            <p:cNvPr name="TextBox 5" id="5"/>
            <p:cNvSpPr txBox="true"/>
            <p:nvPr/>
          </p:nvSpPr>
          <p:spPr>
            <a:xfrm rot="0">
              <a:off x="272383" y="317805"/>
              <a:ext cx="523321" cy="632204"/>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13</a:t>
              </a:r>
            </a:p>
          </p:txBody>
        </p:sp>
      </p:grpSp>
      <p:sp>
        <p:nvSpPr>
          <p:cNvPr name="Freeform 6" id="6"/>
          <p:cNvSpPr/>
          <p:nvPr/>
        </p:nvSpPr>
        <p:spPr>
          <a:xfrm flipH="false" flipV="false" rot="0">
            <a:off x="11690436" y="1028700"/>
            <a:ext cx="5678019" cy="6272752"/>
          </a:xfrm>
          <a:custGeom>
            <a:avLst/>
            <a:gdLst/>
            <a:ahLst/>
            <a:cxnLst/>
            <a:rect r="r" b="b" t="t" l="l"/>
            <a:pathLst>
              <a:path h="6272752" w="5678019">
                <a:moveTo>
                  <a:pt x="0" y="0"/>
                </a:moveTo>
                <a:lnTo>
                  <a:pt x="5678019" y="0"/>
                </a:lnTo>
                <a:lnTo>
                  <a:pt x="5678019" y="6272752"/>
                </a:lnTo>
                <a:lnTo>
                  <a:pt x="0" y="6272752"/>
                </a:lnTo>
                <a:lnTo>
                  <a:pt x="0" y="0"/>
                </a:lnTo>
                <a:close/>
              </a:path>
            </a:pathLst>
          </a:custGeom>
          <a:blipFill>
            <a:blip r:embed="rId2"/>
            <a:stretch>
              <a:fillRect l="0" t="0" r="0" b="0"/>
            </a:stretch>
          </a:blipFill>
        </p:spPr>
      </p:sp>
      <p:sp>
        <p:nvSpPr>
          <p:cNvPr name="Freeform 7" id="7"/>
          <p:cNvSpPr/>
          <p:nvPr/>
        </p:nvSpPr>
        <p:spPr>
          <a:xfrm flipH="false" flipV="false" rot="0">
            <a:off x="11472126" y="7927978"/>
            <a:ext cx="5896328" cy="1470678"/>
          </a:xfrm>
          <a:custGeom>
            <a:avLst/>
            <a:gdLst/>
            <a:ahLst/>
            <a:cxnLst/>
            <a:rect r="r" b="b" t="t" l="l"/>
            <a:pathLst>
              <a:path h="1470678" w="5896328">
                <a:moveTo>
                  <a:pt x="0" y="0"/>
                </a:moveTo>
                <a:lnTo>
                  <a:pt x="5896329" y="0"/>
                </a:lnTo>
                <a:lnTo>
                  <a:pt x="5896329" y="1470678"/>
                </a:lnTo>
                <a:lnTo>
                  <a:pt x="0" y="1470678"/>
                </a:lnTo>
                <a:lnTo>
                  <a:pt x="0" y="0"/>
                </a:lnTo>
                <a:close/>
              </a:path>
            </a:pathLst>
          </a:custGeom>
          <a:blipFill>
            <a:blip r:embed="rId3"/>
            <a:stretch>
              <a:fillRect l="0" t="0" r="0" b="0"/>
            </a:stretch>
          </a:blipFill>
        </p:spPr>
      </p:sp>
      <p:sp>
        <p:nvSpPr>
          <p:cNvPr name="TextBox 8" id="8"/>
          <p:cNvSpPr txBox="true"/>
          <p:nvPr/>
        </p:nvSpPr>
        <p:spPr>
          <a:xfrm rot="0">
            <a:off x="1028700" y="542959"/>
            <a:ext cx="10415783"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Test and Set</a:t>
            </a:r>
          </a:p>
        </p:txBody>
      </p:sp>
      <p:sp>
        <p:nvSpPr>
          <p:cNvPr name="TextBox 9" id="9"/>
          <p:cNvSpPr txBox="true"/>
          <p:nvPr/>
        </p:nvSpPr>
        <p:spPr>
          <a:xfrm rot="0">
            <a:off x="1028700" y="1333466"/>
            <a:ext cx="10415783" cy="763402"/>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Open Sauce"/>
                <a:ea typeface="Open Sauce"/>
                <a:cs typeface="Open Sauce"/>
                <a:sym typeface="Open Sauce"/>
              </a:rPr>
              <a:t>Test&amp;Set (TAS) es una instrucción atómica proporcionada por el hardware. Se basa en spinlocks.</a:t>
            </a:r>
          </a:p>
        </p:txBody>
      </p:sp>
      <p:grpSp>
        <p:nvGrpSpPr>
          <p:cNvPr name="Group 10" id="10"/>
          <p:cNvGrpSpPr/>
          <p:nvPr/>
        </p:nvGrpSpPr>
        <p:grpSpPr>
          <a:xfrm rot="0">
            <a:off x="989656" y="4659886"/>
            <a:ext cx="5949619" cy="4187591"/>
            <a:chOff x="0" y="0"/>
            <a:chExt cx="7932825" cy="5583455"/>
          </a:xfrm>
        </p:grpSpPr>
        <p:sp>
          <p:nvSpPr>
            <p:cNvPr name="Freeform 11" id="11"/>
            <p:cNvSpPr/>
            <p:nvPr/>
          </p:nvSpPr>
          <p:spPr>
            <a:xfrm flipH="false" flipV="false" rot="0">
              <a:off x="0" y="681334"/>
              <a:ext cx="7932825" cy="4902121"/>
            </a:xfrm>
            <a:custGeom>
              <a:avLst/>
              <a:gdLst/>
              <a:ahLst/>
              <a:cxnLst/>
              <a:rect r="r" b="b" t="t" l="l"/>
              <a:pathLst>
                <a:path h="4902121" w="7932825">
                  <a:moveTo>
                    <a:pt x="0" y="0"/>
                  </a:moveTo>
                  <a:lnTo>
                    <a:pt x="7932825" y="0"/>
                  </a:lnTo>
                  <a:lnTo>
                    <a:pt x="7932825" y="4902121"/>
                  </a:lnTo>
                  <a:lnTo>
                    <a:pt x="0" y="4902121"/>
                  </a:lnTo>
                  <a:lnTo>
                    <a:pt x="0" y="0"/>
                  </a:lnTo>
                  <a:close/>
                </a:path>
              </a:pathLst>
            </a:custGeom>
            <a:blipFill>
              <a:blip r:embed="rId4"/>
              <a:stretch>
                <a:fillRect l="0" t="0" r="0" b="0"/>
              </a:stretch>
            </a:blipFill>
          </p:spPr>
        </p:sp>
        <p:sp>
          <p:nvSpPr>
            <p:cNvPr name="TextBox 12" id="12"/>
            <p:cNvSpPr txBox="true"/>
            <p:nvPr/>
          </p:nvSpPr>
          <p:spPr>
            <a:xfrm rot="0">
              <a:off x="0" y="-57150"/>
              <a:ext cx="7932825"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grpSp>
      <p:sp>
        <p:nvSpPr>
          <p:cNvPr name="TextBox 13" id="13"/>
          <p:cNvSpPr txBox="true"/>
          <p:nvPr/>
        </p:nvSpPr>
        <p:spPr>
          <a:xfrm rot="0">
            <a:off x="11472126" y="7446681"/>
            <a:ext cx="5896328"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Operación atómica</a:t>
            </a:r>
          </a:p>
        </p:txBody>
      </p:sp>
      <p:sp>
        <p:nvSpPr>
          <p:cNvPr name="TextBox 14" id="14"/>
          <p:cNvSpPr txBox="true"/>
          <p:nvPr/>
        </p:nvSpPr>
        <p:spPr>
          <a:xfrm rot="0">
            <a:off x="1028700" y="2102333"/>
            <a:ext cx="10415783" cy="2325767"/>
          </a:xfrm>
          <a:prstGeom prst="rect">
            <a:avLst/>
          </a:prstGeom>
        </p:spPr>
        <p:txBody>
          <a:bodyPr anchor="t" rtlCol="false" tIns="0" lIns="0" bIns="0" rIns="0">
            <a:spAutoFit/>
          </a:bodyPr>
          <a:lstStyle/>
          <a:p>
            <a:pPr algn="l">
              <a:lnSpc>
                <a:spcPts val="3079"/>
              </a:lnSpc>
            </a:pPr>
            <a:r>
              <a:rPr lang="en-US" sz="2199" b="true">
                <a:solidFill>
                  <a:srgbClr val="000000"/>
                </a:solidFill>
                <a:latin typeface="Open Sauce Bold"/>
                <a:ea typeface="Open Sauce Bold"/>
                <a:cs typeface="Open Sauce Bold"/>
                <a:sym typeface="Open Sauce Bold"/>
              </a:rPr>
              <a:t>Idea</a:t>
            </a:r>
            <a:r>
              <a:rPr lang="en-US" sz="2199">
                <a:solidFill>
                  <a:srgbClr val="000000"/>
                </a:solidFill>
                <a:latin typeface="Open Sauce"/>
                <a:ea typeface="Open Sauce"/>
                <a:cs typeface="Open Sauce"/>
                <a:sym typeface="Open Sauce"/>
              </a:rPr>
              <a:t>:</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Se usa una variable compartida </a:t>
            </a:r>
            <a:r>
              <a:rPr lang="en-US" sz="2199" i="true">
                <a:solidFill>
                  <a:srgbClr val="1D7151"/>
                </a:solidFill>
                <a:latin typeface="Open Sauce Italics"/>
                <a:ea typeface="Open Sauce Italics"/>
                <a:cs typeface="Open Sauce Italics"/>
                <a:sym typeface="Open Sauce Italics"/>
              </a:rPr>
              <a:t>lock </a:t>
            </a:r>
            <a:r>
              <a:rPr lang="en-US" sz="2199">
                <a:solidFill>
                  <a:srgbClr val="000000"/>
                </a:solidFill>
                <a:latin typeface="Open Sauce"/>
                <a:ea typeface="Open Sauce"/>
                <a:cs typeface="Open Sauce"/>
                <a:sym typeface="Open Sauce"/>
              </a:rPr>
              <a:t>→ lock=0: libre, lock=1: ocupado.</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Para entrar a la SC, un hilo ejecuta TAS.</a:t>
            </a:r>
          </a:p>
          <a:p>
            <a:pPr algn="l" marL="949959" indent="-316653" lvl="2">
              <a:lnSpc>
                <a:spcPts val="3079"/>
              </a:lnSpc>
              <a:buAutoNum type="alphaLcPeriod" startAt="1"/>
            </a:pPr>
            <a:r>
              <a:rPr lang="en-US" sz="2199">
                <a:solidFill>
                  <a:srgbClr val="000000"/>
                </a:solidFill>
                <a:latin typeface="Open Sauce"/>
                <a:ea typeface="Open Sauce"/>
                <a:cs typeface="Open Sauce"/>
                <a:sym typeface="Open Sauce"/>
              </a:rPr>
              <a:t>Si retorna 0 (lock está libre), el hilo adquiere el lock y entra a SC.</a:t>
            </a:r>
          </a:p>
          <a:p>
            <a:pPr algn="l" marL="949959" indent="-316653" lvl="2">
              <a:lnSpc>
                <a:spcPts val="3079"/>
              </a:lnSpc>
              <a:buAutoNum type="alphaLcPeriod" startAt="1"/>
            </a:pPr>
            <a:r>
              <a:rPr lang="en-US" sz="2199">
                <a:solidFill>
                  <a:srgbClr val="000000"/>
                </a:solidFill>
                <a:latin typeface="Open Sauce"/>
                <a:ea typeface="Open Sauce"/>
                <a:cs typeface="Open Sauce"/>
                <a:sym typeface="Open Sauce"/>
              </a:rPr>
              <a:t>Si retorna 1 (lock ocupado), el hilo espera activamente y reintenta.</a:t>
            </a:r>
          </a:p>
          <a:p>
            <a:pPr algn="l" marL="474979" indent="-237490" lvl="1">
              <a:lnSpc>
                <a:spcPts val="3079"/>
              </a:lnSpc>
              <a:spcBef>
                <a:spcPct val="0"/>
              </a:spcBef>
              <a:buAutoNum type="arabicPeriod" startAt="1"/>
            </a:pPr>
            <a:r>
              <a:rPr lang="en-US" sz="2199">
                <a:solidFill>
                  <a:srgbClr val="000000"/>
                </a:solidFill>
                <a:latin typeface="Open Sauce"/>
                <a:ea typeface="Open Sauce"/>
                <a:cs typeface="Open Sauce"/>
                <a:sym typeface="Open Sauce"/>
              </a:rPr>
              <a:t>Al salir de la SC, lock = 0 para liberar.</a:t>
            </a:r>
          </a:p>
        </p:txBody>
      </p:sp>
      <p:grpSp>
        <p:nvGrpSpPr>
          <p:cNvPr name="Group 15" id="15"/>
          <p:cNvGrpSpPr/>
          <p:nvPr/>
        </p:nvGrpSpPr>
        <p:grpSpPr>
          <a:xfrm rot="0">
            <a:off x="7117598" y="4475725"/>
            <a:ext cx="4354528" cy="5445952"/>
            <a:chOff x="0" y="0"/>
            <a:chExt cx="5806037" cy="7261270"/>
          </a:xfrm>
        </p:grpSpPr>
        <p:sp>
          <p:nvSpPr>
            <p:cNvPr name="TextBox 16" id="16"/>
            <p:cNvSpPr txBox="true"/>
            <p:nvPr/>
          </p:nvSpPr>
          <p:spPr>
            <a:xfrm rot="0">
              <a:off x="0" y="-57150"/>
              <a:ext cx="5664727"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17" id="17"/>
            <p:cNvSpPr txBox="true"/>
            <p:nvPr/>
          </p:nvSpPr>
          <p:spPr>
            <a:xfrm rot="0">
              <a:off x="0" y="536955"/>
              <a:ext cx="5806037" cy="6724315"/>
            </a:xfrm>
            <a:prstGeom prst="rect">
              <a:avLst/>
            </a:prstGeom>
          </p:spPr>
          <p:txBody>
            <a:bodyPr anchor="t" rtlCol="false" tIns="0" lIns="0" bIns="0" rIns="0">
              <a:spAutoFit/>
            </a:bodyPr>
            <a:lstStyle/>
            <a:p>
              <a:pPr algn="l">
                <a:lnSpc>
                  <a:spcPts val="3080"/>
                </a:lnSpc>
              </a:pPr>
              <a:r>
                <a:rPr lang="en-US" sz="2200">
                  <a:solidFill>
                    <a:srgbClr val="000000"/>
                  </a:solidFill>
                  <a:latin typeface="Open Sauce"/>
                  <a:ea typeface="Open Sauce"/>
                  <a:cs typeface="Open Sauce"/>
                  <a:sym typeface="Open Sauce"/>
                </a:rPr>
                <a:t>E</a:t>
              </a:r>
              <a:r>
                <a:rPr lang="en-US" sz="2200" b="true">
                  <a:solidFill>
                    <a:srgbClr val="000000"/>
                  </a:solidFill>
                  <a:latin typeface="Open Sauce Bold"/>
                  <a:ea typeface="Open Sauce Bold"/>
                  <a:cs typeface="Open Sauce Bold"/>
                  <a:sym typeface="Open Sauce Bold"/>
                </a:rPr>
                <a:t>stado inicial</a:t>
              </a:r>
              <a:r>
                <a:rPr lang="en-US" sz="2200">
                  <a:solidFill>
                    <a:srgbClr val="000000"/>
                  </a:solidFill>
                  <a:latin typeface="Open Sauce"/>
                  <a:ea typeface="Open Sauce"/>
                  <a:cs typeface="Open Sauce"/>
                  <a:sym typeface="Open Sauce"/>
                </a:rPr>
                <a:t>: saldo = 1000, lock = 0.</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ejecuta TAS y retorna 0.</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adquiere lock → 1 y entra SC.</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H1 ejecuta TAS(lock) = 1 y espera (spinning) el cambio.</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modifica saldo -= 500 = 500 y libera lock → 0.</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H1 ejecuta TAS y retorna 0, lock → 1 y entra a SC.</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H1 modifica saldo -= 300 = 200 y libera lock → 0.</a:t>
              </a:r>
            </a:p>
          </p:txBody>
        </p:sp>
      </p:grpSp>
      <p:sp>
        <p:nvSpPr>
          <p:cNvPr name="TextBox 18" id="18"/>
          <p:cNvSpPr txBox="true"/>
          <p:nvPr/>
        </p:nvSpPr>
        <p:spPr>
          <a:xfrm rot="0">
            <a:off x="2584746" y="9031638"/>
            <a:ext cx="4354528" cy="405699"/>
          </a:xfrm>
          <a:prstGeom prst="rect">
            <a:avLst/>
          </a:prstGeom>
        </p:spPr>
        <p:txBody>
          <a:bodyPr anchor="t" rtlCol="false" tIns="0" lIns="0" bIns="0" rIns="0">
            <a:spAutoFit/>
          </a:bodyPr>
          <a:lstStyle/>
          <a:p>
            <a:pPr algn="l">
              <a:lnSpc>
                <a:spcPts val="3359"/>
              </a:lnSpc>
              <a:spcBef>
                <a:spcPct val="0"/>
              </a:spcBef>
            </a:pPr>
            <a:r>
              <a:rPr lang="en-US" b="true" sz="2400">
                <a:solidFill>
                  <a:srgbClr val="1D7151"/>
                </a:solidFill>
                <a:latin typeface="Open Sauce Bold"/>
                <a:ea typeface="Open Sauce Bold"/>
                <a:cs typeface="Open Sauce Bold"/>
                <a:sym typeface="Open Sauce Bold"/>
              </a:rPr>
              <a:t>¿Resultado: saldo = 200!</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158328" y="9125884"/>
            <a:ext cx="831328" cy="2322232"/>
            <a:chOff x="0" y="0"/>
            <a:chExt cx="1108437" cy="3096310"/>
          </a:xfrm>
        </p:grpSpPr>
        <p:grpSp>
          <p:nvGrpSpPr>
            <p:cNvPr name="Group 3" id="3"/>
            <p:cNvGrpSpPr/>
            <p:nvPr/>
          </p:nvGrpSpPr>
          <p:grpSpPr>
            <a:xfrm rot="0">
              <a:off x="0" y="0"/>
              <a:ext cx="1108437" cy="3096310"/>
              <a:chOff x="0" y="0"/>
              <a:chExt cx="1045580" cy="2920724"/>
            </a:xfrm>
          </p:grpSpPr>
          <p:sp>
            <p:nvSpPr>
              <p:cNvPr name="Freeform 4" id="4"/>
              <p:cNvSpPr/>
              <p:nvPr/>
            </p:nvSpPr>
            <p:spPr>
              <a:xfrm flipH="false" flipV="false" rot="0">
                <a:off x="0" y="0"/>
                <a:ext cx="1045580" cy="2920724"/>
              </a:xfrm>
              <a:custGeom>
                <a:avLst/>
                <a:gdLst/>
                <a:ahLst/>
                <a:cxnLst/>
                <a:rect r="r" b="b" t="t" l="l"/>
                <a:pathLst>
                  <a:path h="2920724" w="1045580">
                    <a:moveTo>
                      <a:pt x="921119" y="2920724"/>
                    </a:moveTo>
                    <a:lnTo>
                      <a:pt x="124460" y="2920724"/>
                    </a:lnTo>
                    <a:cubicBezTo>
                      <a:pt x="55880" y="2920724"/>
                      <a:pt x="0" y="2864844"/>
                      <a:pt x="0" y="2796264"/>
                    </a:cubicBezTo>
                    <a:lnTo>
                      <a:pt x="0" y="124460"/>
                    </a:lnTo>
                    <a:cubicBezTo>
                      <a:pt x="0" y="55880"/>
                      <a:pt x="55880" y="0"/>
                      <a:pt x="124460" y="0"/>
                    </a:cubicBezTo>
                    <a:lnTo>
                      <a:pt x="921120" y="0"/>
                    </a:lnTo>
                    <a:cubicBezTo>
                      <a:pt x="989700" y="0"/>
                      <a:pt x="1045580" y="55880"/>
                      <a:pt x="1045580" y="124460"/>
                    </a:cubicBezTo>
                    <a:lnTo>
                      <a:pt x="1045580" y="2796264"/>
                    </a:lnTo>
                    <a:cubicBezTo>
                      <a:pt x="1045580" y="2864844"/>
                      <a:pt x="989700" y="2920724"/>
                      <a:pt x="921120" y="2920724"/>
                    </a:cubicBezTo>
                    <a:close/>
                  </a:path>
                </a:pathLst>
              </a:custGeom>
              <a:solidFill>
                <a:srgbClr val="1D7151"/>
              </a:solidFill>
            </p:spPr>
          </p:sp>
        </p:grpSp>
        <p:sp>
          <p:nvSpPr>
            <p:cNvPr name="TextBox 5" id="5"/>
            <p:cNvSpPr txBox="true"/>
            <p:nvPr/>
          </p:nvSpPr>
          <p:spPr>
            <a:xfrm rot="0">
              <a:off x="272383" y="317805"/>
              <a:ext cx="523321" cy="632204"/>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13</a:t>
              </a:r>
            </a:p>
          </p:txBody>
        </p:sp>
      </p:grpSp>
      <p:grpSp>
        <p:nvGrpSpPr>
          <p:cNvPr name="Group 6" id="6"/>
          <p:cNvGrpSpPr/>
          <p:nvPr/>
        </p:nvGrpSpPr>
        <p:grpSpPr>
          <a:xfrm rot="0">
            <a:off x="11867223" y="7503831"/>
            <a:ext cx="5923972" cy="2222802"/>
            <a:chOff x="0" y="0"/>
            <a:chExt cx="7898629" cy="2963736"/>
          </a:xfrm>
        </p:grpSpPr>
        <p:sp>
          <p:nvSpPr>
            <p:cNvPr name="Freeform 7" id="7"/>
            <p:cNvSpPr/>
            <p:nvPr/>
          </p:nvSpPr>
          <p:spPr>
            <a:xfrm flipH="false" flipV="false" rot="0">
              <a:off x="0" y="619322"/>
              <a:ext cx="7898629" cy="2344414"/>
            </a:xfrm>
            <a:custGeom>
              <a:avLst/>
              <a:gdLst/>
              <a:ahLst/>
              <a:cxnLst/>
              <a:rect r="r" b="b" t="t" l="l"/>
              <a:pathLst>
                <a:path h="2344414" w="7898629">
                  <a:moveTo>
                    <a:pt x="0" y="0"/>
                  </a:moveTo>
                  <a:lnTo>
                    <a:pt x="7898629" y="0"/>
                  </a:lnTo>
                  <a:lnTo>
                    <a:pt x="7898629" y="2344414"/>
                  </a:lnTo>
                  <a:lnTo>
                    <a:pt x="0" y="2344414"/>
                  </a:lnTo>
                  <a:lnTo>
                    <a:pt x="0" y="0"/>
                  </a:lnTo>
                  <a:close/>
                </a:path>
              </a:pathLst>
            </a:custGeom>
            <a:blipFill>
              <a:blip r:embed="rId2"/>
              <a:stretch>
                <a:fillRect l="0" t="0" r="0" b="0"/>
              </a:stretch>
            </a:blipFill>
          </p:spPr>
        </p:sp>
        <p:sp>
          <p:nvSpPr>
            <p:cNvPr name="TextBox 8" id="8"/>
            <p:cNvSpPr txBox="true"/>
            <p:nvPr/>
          </p:nvSpPr>
          <p:spPr>
            <a:xfrm rot="0">
              <a:off x="0" y="-57150"/>
              <a:ext cx="7898629"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Operación atómica</a:t>
              </a:r>
            </a:p>
          </p:txBody>
        </p:sp>
      </p:grpSp>
      <p:grpSp>
        <p:nvGrpSpPr>
          <p:cNvPr name="Group 9" id="9"/>
          <p:cNvGrpSpPr/>
          <p:nvPr/>
        </p:nvGrpSpPr>
        <p:grpSpPr>
          <a:xfrm rot="0">
            <a:off x="855446" y="5797166"/>
            <a:ext cx="5949619" cy="2307850"/>
            <a:chOff x="0" y="0"/>
            <a:chExt cx="7932825" cy="3077133"/>
          </a:xfrm>
        </p:grpSpPr>
        <p:sp>
          <p:nvSpPr>
            <p:cNvPr name="Freeform 10" id="10"/>
            <p:cNvSpPr/>
            <p:nvPr/>
          </p:nvSpPr>
          <p:spPr>
            <a:xfrm flipH="false" flipV="false" rot="0">
              <a:off x="0" y="565530"/>
              <a:ext cx="7932825" cy="2511604"/>
            </a:xfrm>
            <a:custGeom>
              <a:avLst/>
              <a:gdLst/>
              <a:ahLst/>
              <a:cxnLst/>
              <a:rect r="r" b="b" t="t" l="l"/>
              <a:pathLst>
                <a:path h="2511604" w="7932825">
                  <a:moveTo>
                    <a:pt x="0" y="0"/>
                  </a:moveTo>
                  <a:lnTo>
                    <a:pt x="7932825" y="0"/>
                  </a:lnTo>
                  <a:lnTo>
                    <a:pt x="7932825" y="2511603"/>
                  </a:lnTo>
                  <a:lnTo>
                    <a:pt x="0" y="2511603"/>
                  </a:lnTo>
                  <a:lnTo>
                    <a:pt x="0" y="0"/>
                  </a:lnTo>
                  <a:close/>
                </a:path>
              </a:pathLst>
            </a:custGeom>
            <a:blipFill>
              <a:blip r:embed="rId3"/>
              <a:stretch>
                <a:fillRect l="0" t="0" r="0" b="0"/>
              </a:stretch>
            </a:blipFill>
          </p:spPr>
        </p:sp>
        <p:sp>
          <p:nvSpPr>
            <p:cNvPr name="TextBox 11" id="11"/>
            <p:cNvSpPr txBox="true"/>
            <p:nvPr/>
          </p:nvSpPr>
          <p:spPr>
            <a:xfrm rot="0">
              <a:off x="0" y="-57150"/>
              <a:ext cx="7932825"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grpSp>
      <p:sp>
        <p:nvSpPr>
          <p:cNvPr name="Freeform 12" id="12"/>
          <p:cNvSpPr/>
          <p:nvPr/>
        </p:nvSpPr>
        <p:spPr>
          <a:xfrm flipH="false" flipV="false" rot="0">
            <a:off x="12004191" y="431827"/>
            <a:ext cx="5050510" cy="6884774"/>
          </a:xfrm>
          <a:custGeom>
            <a:avLst/>
            <a:gdLst/>
            <a:ahLst/>
            <a:cxnLst/>
            <a:rect r="r" b="b" t="t" l="l"/>
            <a:pathLst>
              <a:path h="6884774" w="5050510">
                <a:moveTo>
                  <a:pt x="0" y="0"/>
                </a:moveTo>
                <a:lnTo>
                  <a:pt x="5050509" y="0"/>
                </a:lnTo>
                <a:lnTo>
                  <a:pt x="5050509" y="6884774"/>
                </a:lnTo>
                <a:lnTo>
                  <a:pt x="0" y="6884774"/>
                </a:lnTo>
                <a:lnTo>
                  <a:pt x="0" y="0"/>
                </a:lnTo>
                <a:close/>
              </a:path>
            </a:pathLst>
          </a:custGeom>
          <a:blipFill>
            <a:blip r:embed="rId4"/>
            <a:stretch>
              <a:fillRect l="0" t="0" r="0" b="0"/>
            </a:stretch>
          </a:blipFill>
        </p:spPr>
      </p:sp>
      <p:sp>
        <p:nvSpPr>
          <p:cNvPr name="TextBox 13" id="13"/>
          <p:cNvSpPr txBox="true"/>
          <p:nvPr/>
        </p:nvSpPr>
        <p:spPr>
          <a:xfrm rot="0">
            <a:off x="989656" y="542959"/>
            <a:ext cx="10415783"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Compare And Swap</a:t>
            </a:r>
          </a:p>
        </p:txBody>
      </p:sp>
      <p:sp>
        <p:nvSpPr>
          <p:cNvPr name="TextBox 14" id="14"/>
          <p:cNvSpPr txBox="true"/>
          <p:nvPr/>
        </p:nvSpPr>
        <p:spPr>
          <a:xfrm rot="0">
            <a:off x="1028700" y="1333466"/>
            <a:ext cx="10415783" cy="763402"/>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Open Sauce"/>
                <a:ea typeface="Open Sauce"/>
                <a:cs typeface="Open Sauce"/>
                <a:sym typeface="Open Sauce"/>
              </a:rPr>
              <a:t>(CAS) es una instruccion más potente que TAS. Es la base de muchos algoritmos sin bloqueos (lock-free) y estructuras de datos concurrentes.</a:t>
            </a:r>
          </a:p>
        </p:txBody>
      </p:sp>
      <p:sp>
        <p:nvSpPr>
          <p:cNvPr name="TextBox 15" id="15"/>
          <p:cNvSpPr txBox="true"/>
          <p:nvPr/>
        </p:nvSpPr>
        <p:spPr>
          <a:xfrm rot="0">
            <a:off x="1028700" y="2106394"/>
            <a:ext cx="10415783" cy="3497541"/>
          </a:xfrm>
          <a:prstGeom prst="rect">
            <a:avLst/>
          </a:prstGeom>
        </p:spPr>
        <p:txBody>
          <a:bodyPr anchor="t" rtlCol="false" tIns="0" lIns="0" bIns="0" rIns="0">
            <a:spAutoFit/>
          </a:bodyPr>
          <a:lstStyle/>
          <a:p>
            <a:pPr algn="l">
              <a:lnSpc>
                <a:spcPts val="3079"/>
              </a:lnSpc>
            </a:pPr>
            <a:r>
              <a:rPr lang="en-US" sz="2199" b="true">
                <a:solidFill>
                  <a:srgbClr val="000000"/>
                </a:solidFill>
                <a:latin typeface="Open Sauce Bold"/>
                <a:ea typeface="Open Sauce Bold"/>
                <a:cs typeface="Open Sauce Bold"/>
                <a:sym typeface="Open Sauce Bold"/>
              </a:rPr>
              <a:t>Idea</a:t>
            </a:r>
            <a:r>
              <a:rPr lang="en-US" sz="2199">
                <a:solidFill>
                  <a:srgbClr val="000000"/>
                </a:solidFill>
                <a:latin typeface="Open Sauce"/>
                <a:ea typeface="Open Sauce"/>
                <a:cs typeface="Open Sauce"/>
                <a:sym typeface="Open Sauce"/>
              </a:rPr>
              <a:t>:</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Se usa una variable compartida </a:t>
            </a:r>
            <a:r>
              <a:rPr lang="en-US" sz="2199" i="true">
                <a:solidFill>
                  <a:srgbClr val="1D7151"/>
                </a:solidFill>
                <a:latin typeface="Open Sauce Italics"/>
                <a:ea typeface="Open Sauce Italics"/>
                <a:cs typeface="Open Sauce Italics"/>
                <a:sym typeface="Open Sauce Italics"/>
              </a:rPr>
              <a:t>lock </a:t>
            </a:r>
            <a:r>
              <a:rPr lang="en-US" sz="2199">
                <a:solidFill>
                  <a:srgbClr val="000000"/>
                </a:solidFill>
                <a:latin typeface="Open Sauce"/>
                <a:ea typeface="Open Sauce"/>
                <a:cs typeface="Open Sauce"/>
                <a:sym typeface="Open Sauce"/>
              </a:rPr>
              <a:t>→ lock=0: libre, lock=1: ocupado.</a:t>
            </a:r>
          </a:p>
          <a:p>
            <a:pPr algn="l" marL="474979" indent="-237490" lvl="1">
              <a:lnSpc>
                <a:spcPts val="3079"/>
              </a:lnSpc>
              <a:buAutoNum type="arabicPeriod" startAt="1"/>
            </a:pPr>
            <a:r>
              <a:rPr lang="en-US" sz="2199">
                <a:solidFill>
                  <a:srgbClr val="000000"/>
                </a:solidFill>
                <a:latin typeface="Open Sauce"/>
                <a:ea typeface="Open Sauce"/>
                <a:cs typeface="Open Sauce"/>
                <a:sym typeface="Open Sauce"/>
              </a:rPr>
              <a:t>Para adquirir el lock, un hilo intenta CAS:</a:t>
            </a:r>
          </a:p>
          <a:p>
            <a:pPr algn="l" marL="949959" indent="-316653" lvl="2">
              <a:lnSpc>
                <a:spcPts val="3079"/>
              </a:lnSpc>
              <a:buAutoNum type="alphaLcPeriod" startAt="1"/>
            </a:pPr>
            <a:r>
              <a:rPr lang="en-US" sz="2199">
                <a:solidFill>
                  <a:srgbClr val="000000"/>
                </a:solidFill>
                <a:latin typeface="Open Sauce"/>
                <a:ea typeface="Open Sauce"/>
                <a:cs typeface="Open Sauce"/>
                <a:sym typeface="Open Sauce"/>
              </a:rPr>
              <a:t>Espera que lock sea 0.</a:t>
            </a:r>
          </a:p>
          <a:p>
            <a:pPr algn="l" marL="949959" indent="-316653" lvl="2">
              <a:lnSpc>
                <a:spcPts val="3079"/>
              </a:lnSpc>
              <a:buAutoNum type="alphaLcPeriod" startAt="1"/>
            </a:pPr>
            <a:r>
              <a:rPr lang="en-US" sz="2199">
                <a:solidFill>
                  <a:srgbClr val="000000"/>
                </a:solidFill>
                <a:latin typeface="Open Sauce"/>
                <a:ea typeface="Open Sauce"/>
                <a:cs typeface="Open Sauce"/>
                <a:sym typeface="Open Sauce"/>
              </a:rPr>
              <a:t>Intenta cambiarlo a 1.</a:t>
            </a:r>
          </a:p>
          <a:p>
            <a:pPr algn="l" marL="949959" indent="-316653" lvl="2">
              <a:lnSpc>
                <a:spcPts val="3079"/>
              </a:lnSpc>
              <a:buAutoNum type="alphaLcPeriod" startAt="1"/>
            </a:pPr>
            <a:r>
              <a:rPr lang="en-US" sz="2199">
                <a:solidFill>
                  <a:srgbClr val="000000"/>
                </a:solidFill>
                <a:latin typeface="Open Sauce"/>
                <a:ea typeface="Open Sauce"/>
                <a:cs typeface="Open Sauce"/>
                <a:sym typeface="Open Sauce"/>
              </a:rPr>
              <a:t>Si CAS retorna 0, logró adquirirlo.</a:t>
            </a:r>
          </a:p>
          <a:p>
            <a:pPr algn="l" marL="949959" indent="-316653" lvl="2">
              <a:lnSpc>
                <a:spcPts val="3079"/>
              </a:lnSpc>
              <a:buAutoNum type="alphaLcPeriod" startAt="1"/>
            </a:pPr>
            <a:r>
              <a:rPr lang="en-US" sz="2199">
                <a:solidFill>
                  <a:srgbClr val="000000"/>
                </a:solidFill>
                <a:latin typeface="Open Sauce"/>
                <a:ea typeface="Open Sauce"/>
                <a:cs typeface="Open Sauce"/>
                <a:sym typeface="Open Sauce"/>
              </a:rPr>
              <a:t>Si retorna 1, otro hilo lo tiene </a:t>
            </a:r>
          </a:p>
          <a:p>
            <a:pPr algn="l">
              <a:lnSpc>
                <a:spcPts val="3079"/>
              </a:lnSpc>
            </a:pPr>
            <a:r>
              <a:rPr lang="en-US" sz="2199">
                <a:solidFill>
                  <a:srgbClr val="000000"/>
                </a:solidFill>
                <a:latin typeface="Open Sauce"/>
                <a:ea typeface="Open Sauce"/>
                <a:cs typeface="Open Sauce"/>
                <a:sym typeface="Open Sauce"/>
              </a:rPr>
              <a:t>             y debe reintentar.</a:t>
            </a:r>
          </a:p>
          <a:p>
            <a:pPr algn="l" marL="474979" indent="-237490" lvl="1">
              <a:lnSpc>
                <a:spcPts val="3079"/>
              </a:lnSpc>
              <a:spcBef>
                <a:spcPct val="0"/>
              </a:spcBef>
              <a:buAutoNum type="arabicPeriod" startAt="1"/>
            </a:pPr>
            <a:r>
              <a:rPr lang="en-US" sz="2199">
                <a:solidFill>
                  <a:srgbClr val="000000"/>
                </a:solidFill>
                <a:latin typeface="Open Sauce"/>
                <a:ea typeface="Open Sauce"/>
                <a:cs typeface="Open Sauce"/>
                <a:sym typeface="Open Sauce"/>
              </a:rPr>
              <a:t>Para liberar, simplemente lock = 0.</a:t>
            </a:r>
          </a:p>
        </p:txBody>
      </p:sp>
      <p:grpSp>
        <p:nvGrpSpPr>
          <p:cNvPr name="Group 16" id="16"/>
          <p:cNvGrpSpPr/>
          <p:nvPr/>
        </p:nvGrpSpPr>
        <p:grpSpPr>
          <a:xfrm rot="0">
            <a:off x="6939274" y="3095477"/>
            <a:ext cx="4777268" cy="7008317"/>
            <a:chOff x="0" y="0"/>
            <a:chExt cx="6369690" cy="9344423"/>
          </a:xfrm>
        </p:grpSpPr>
        <p:sp>
          <p:nvSpPr>
            <p:cNvPr name="TextBox 17" id="17"/>
            <p:cNvSpPr txBox="true"/>
            <p:nvPr/>
          </p:nvSpPr>
          <p:spPr>
            <a:xfrm rot="0">
              <a:off x="0" y="-57150"/>
              <a:ext cx="6214662"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18" id="18"/>
            <p:cNvSpPr txBox="true"/>
            <p:nvPr/>
          </p:nvSpPr>
          <p:spPr>
            <a:xfrm rot="0">
              <a:off x="0" y="536955"/>
              <a:ext cx="6369690" cy="8807468"/>
            </a:xfrm>
            <a:prstGeom prst="rect">
              <a:avLst/>
            </a:prstGeom>
          </p:spPr>
          <p:txBody>
            <a:bodyPr anchor="t" rtlCol="false" tIns="0" lIns="0" bIns="0" rIns="0">
              <a:spAutoFit/>
            </a:bodyPr>
            <a:lstStyle/>
            <a:p>
              <a:pPr algn="l">
                <a:lnSpc>
                  <a:spcPts val="3080"/>
                </a:lnSpc>
              </a:pPr>
              <a:r>
                <a:rPr lang="en-US" sz="2200">
                  <a:solidFill>
                    <a:srgbClr val="000000"/>
                  </a:solidFill>
                  <a:latin typeface="Open Sauce"/>
                  <a:ea typeface="Open Sauce"/>
                  <a:cs typeface="Open Sauce"/>
                  <a:sym typeface="Open Sauce"/>
                </a:rPr>
                <a:t>E</a:t>
              </a:r>
              <a:r>
                <a:rPr lang="en-US" sz="2200" b="true">
                  <a:solidFill>
                    <a:srgbClr val="000000"/>
                  </a:solidFill>
                  <a:latin typeface="Open Sauce Bold"/>
                  <a:ea typeface="Open Sauce Bold"/>
                  <a:cs typeface="Open Sauce Bold"/>
                  <a:sym typeface="Open Sauce Bold"/>
                </a:rPr>
                <a:t>stado inicial</a:t>
              </a:r>
              <a:r>
                <a:rPr lang="en-US" sz="2200">
                  <a:solidFill>
                    <a:srgbClr val="000000"/>
                  </a:solidFill>
                  <a:latin typeface="Open Sauce"/>
                  <a:ea typeface="Open Sauce"/>
                  <a:cs typeface="Open Sauce"/>
                  <a:sym typeface="Open Sauce"/>
                </a:rPr>
                <a:t>: saldo = 1000, lock = 0. (para dos hilos simul.)</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y H1 ejecutan CAS (H0 primero).</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Solo uno H0 ve old = 0,</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tiene éxito, H1 falla.</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entra a SC pero H1 reintenta hacer CAS.</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modifica saldo -= 500 = 500.</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H1 falla otra vez lock = 1, retorna 1.</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H0 libera lock = 0.</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H1 vuelve a intentar y ahora si tiene éxito old = 0, 0==0 → lock = 1. </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Ejecuta SC saldo -= 300  = 200 y libera lock = 0</a:t>
              </a:r>
            </a:p>
          </p:txBody>
        </p:sp>
      </p:grpSp>
      <p:sp>
        <p:nvSpPr>
          <p:cNvPr name="TextBox 19" id="19"/>
          <p:cNvSpPr txBox="true"/>
          <p:nvPr/>
        </p:nvSpPr>
        <p:spPr>
          <a:xfrm rot="0">
            <a:off x="2584746" y="9031638"/>
            <a:ext cx="4354528" cy="405699"/>
          </a:xfrm>
          <a:prstGeom prst="rect">
            <a:avLst/>
          </a:prstGeom>
        </p:spPr>
        <p:txBody>
          <a:bodyPr anchor="t" rtlCol="false" tIns="0" lIns="0" bIns="0" rIns="0">
            <a:spAutoFit/>
          </a:bodyPr>
          <a:lstStyle/>
          <a:p>
            <a:pPr algn="l">
              <a:lnSpc>
                <a:spcPts val="3359"/>
              </a:lnSpc>
              <a:spcBef>
                <a:spcPct val="0"/>
              </a:spcBef>
            </a:pPr>
            <a:r>
              <a:rPr lang="en-US" b="true" sz="2400">
                <a:solidFill>
                  <a:srgbClr val="1D7151"/>
                </a:solidFill>
                <a:latin typeface="Open Sauce Bold"/>
                <a:ea typeface="Open Sauce Bold"/>
                <a:cs typeface="Open Sauce Bold"/>
                <a:sym typeface="Open Sauce Bold"/>
              </a:rPr>
              <a:t>¿Resultado: saldo = 200!</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501730" y="1445080"/>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000000"/>
                </a:solidFill>
                <a:latin typeface="TAN Mon Cheri"/>
                <a:ea typeface="TAN Mon Cheri"/>
                <a:cs typeface="TAN Mon Cheri"/>
                <a:sym typeface="TAN Mon Cheri"/>
              </a:rPr>
              <a:t>TAS vs CAS</a:t>
            </a:r>
          </a:p>
        </p:txBody>
      </p:sp>
      <p:grpSp>
        <p:nvGrpSpPr>
          <p:cNvPr name="Group 4" id="4"/>
          <p:cNvGrpSpPr/>
          <p:nvPr/>
        </p:nvGrpSpPr>
        <p:grpSpPr>
          <a:xfrm rot="0">
            <a:off x="10329376" y="1458582"/>
            <a:ext cx="7498553" cy="3897266"/>
            <a:chOff x="0" y="0"/>
            <a:chExt cx="9998071" cy="5196355"/>
          </a:xfrm>
        </p:grpSpPr>
        <p:sp>
          <p:nvSpPr>
            <p:cNvPr name="TextBox 5" id="5"/>
            <p:cNvSpPr txBox="true"/>
            <p:nvPr/>
          </p:nvSpPr>
          <p:spPr>
            <a:xfrm rot="0">
              <a:off x="0" y="-57150"/>
              <a:ext cx="9998071"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Ventajas TAS</a:t>
              </a:r>
            </a:p>
          </p:txBody>
        </p:sp>
        <p:sp>
          <p:nvSpPr>
            <p:cNvPr name="TextBox 6" id="6"/>
            <p:cNvSpPr txBox="true"/>
            <p:nvPr/>
          </p:nvSpPr>
          <p:spPr>
            <a:xfrm rot="0">
              <a:off x="0" y="517905"/>
              <a:ext cx="9998071" cy="4678451"/>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Menor overhead por operación</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TAS realiza solo lectura y escritura de 1.</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CAS requiere comparación adicional.</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En hardware, TAS puede ser ligeramente más rápido.</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Consume menos recursos de hardware</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No necesita registro adicional para el valor esperado.</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Implementación más simple en el procesador.</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Fácil de depurar</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Menos posibilidades de error humano.</a:t>
              </a:r>
            </a:p>
            <a:p>
              <a:pPr algn="l" marL="863604" indent="-287868" lvl="2">
                <a:lnSpc>
                  <a:spcPts val="2800"/>
                </a:lnSpc>
                <a:spcBef>
                  <a:spcPct val="0"/>
                </a:spcBef>
                <a:buFont typeface="Arial"/>
                <a:buChar char="⚬"/>
              </a:pPr>
              <a:r>
                <a:rPr lang="en-US" sz="2000">
                  <a:solidFill>
                    <a:srgbClr val="000000"/>
                  </a:solidFill>
                  <a:latin typeface="Open Sauce"/>
                  <a:ea typeface="Open Sauce"/>
                  <a:cs typeface="Open Sauce"/>
                  <a:sym typeface="Open Sauce"/>
                </a:rPr>
                <a:t>El comportamiento es más predecible</a:t>
              </a:r>
            </a:p>
          </p:txBody>
        </p:sp>
      </p:grpSp>
      <p:grpSp>
        <p:nvGrpSpPr>
          <p:cNvPr name="Group 7" id="7"/>
          <p:cNvGrpSpPr/>
          <p:nvPr/>
        </p:nvGrpSpPr>
        <p:grpSpPr>
          <a:xfrm rot="0">
            <a:off x="501730" y="5587704"/>
            <a:ext cx="5932109" cy="3897266"/>
            <a:chOff x="0" y="0"/>
            <a:chExt cx="7909478" cy="5196355"/>
          </a:xfrm>
        </p:grpSpPr>
        <p:sp>
          <p:nvSpPr>
            <p:cNvPr name="TextBox 8" id="8"/>
            <p:cNvSpPr txBox="true"/>
            <p:nvPr/>
          </p:nvSpPr>
          <p:spPr>
            <a:xfrm rot="0">
              <a:off x="0" y="-57150"/>
              <a:ext cx="7909478"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Ventajas CAS</a:t>
              </a:r>
            </a:p>
          </p:txBody>
        </p:sp>
        <p:sp>
          <p:nvSpPr>
            <p:cNvPr name="TextBox 9" id="9"/>
            <p:cNvSpPr txBox="true"/>
            <p:nvPr/>
          </p:nvSpPr>
          <p:spPr>
            <a:xfrm rot="0">
              <a:off x="0" y="517905"/>
              <a:ext cx="7909478" cy="4678451"/>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Alta flexibilidad.</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Permite operaciones RMW (Read-Modify-Write) complejas.</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Soporte para estructuras lock-free.</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Mayor eficiencia en ciertos escenarios</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Permite optimizaciones como TTAS (Test-Test&amp;Set)</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En algunos patrones, CAS invalida menos caché</a:t>
              </a:r>
            </a:p>
            <a:p>
              <a:pPr algn="l" marL="431802" indent="-215901" lvl="1">
                <a:lnSpc>
                  <a:spcPts val="2800"/>
                </a:lnSpc>
                <a:spcBef>
                  <a:spcPct val="0"/>
                </a:spcBef>
                <a:buFont typeface="Arial"/>
                <a:buChar char="•"/>
              </a:pPr>
              <a:r>
                <a:rPr lang="en-US" sz="2000">
                  <a:solidFill>
                    <a:srgbClr val="000000"/>
                  </a:solidFill>
                  <a:latin typeface="Open Sauce"/>
                  <a:ea typeface="Open Sauce"/>
                  <a:cs typeface="Open Sauce"/>
                  <a:sym typeface="Open Sauce"/>
                </a:rPr>
                <a:t>Versatilidad para múltiples estados.</a:t>
              </a:r>
            </a:p>
          </p:txBody>
        </p:sp>
      </p:grpSp>
      <p:grpSp>
        <p:nvGrpSpPr>
          <p:cNvPr name="Group 10" id="10"/>
          <p:cNvGrpSpPr/>
          <p:nvPr/>
        </p:nvGrpSpPr>
        <p:grpSpPr>
          <a:xfrm rot="0">
            <a:off x="6177946" y="5587704"/>
            <a:ext cx="5932109" cy="3897266"/>
            <a:chOff x="0" y="0"/>
            <a:chExt cx="7909478" cy="5196355"/>
          </a:xfrm>
        </p:grpSpPr>
        <p:sp>
          <p:nvSpPr>
            <p:cNvPr name="TextBox 11" id="11"/>
            <p:cNvSpPr txBox="true"/>
            <p:nvPr/>
          </p:nvSpPr>
          <p:spPr>
            <a:xfrm rot="0">
              <a:off x="0" y="-57150"/>
              <a:ext cx="7909478" cy="622680"/>
            </a:xfrm>
            <a:prstGeom prst="rect">
              <a:avLst/>
            </a:prstGeom>
          </p:spPr>
          <p:txBody>
            <a:bodyPr anchor="t" rtlCol="false" tIns="0" lIns="0" bIns="0" rIns="0">
              <a:spAutoFit/>
            </a:bodyPr>
            <a:lstStyle/>
            <a:p>
              <a:pPr algn="ctr">
                <a:lnSpc>
                  <a:spcPts val="3919"/>
                </a:lnSpc>
              </a:pPr>
              <a:r>
                <a:rPr lang="en-US" sz="2799">
                  <a:solidFill>
                    <a:srgbClr val="E0224A"/>
                  </a:solidFill>
                  <a:latin typeface="TAN Mon Cheri"/>
                  <a:ea typeface="TAN Mon Cheri"/>
                  <a:cs typeface="TAN Mon Cheri"/>
                  <a:sym typeface="TAN Mon Cheri"/>
                </a:rPr>
                <a:t>Desventajas CAS</a:t>
              </a:r>
            </a:p>
          </p:txBody>
        </p:sp>
        <p:sp>
          <p:nvSpPr>
            <p:cNvPr name="TextBox 12" id="12"/>
            <p:cNvSpPr txBox="true"/>
            <p:nvPr/>
          </p:nvSpPr>
          <p:spPr>
            <a:xfrm rot="0">
              <a:off x="0" y="517905"/>
              <a:ext cx="7909478" cy="4678451"/>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Alta flexibilidad.</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Permite operaciones RMW (Read-Modify-Write) complejas.</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Soporte para estructuras lock-free.</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Mayor eficiencia en ciertos escenarios</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Permite optimizaciones como TTAS (Test-Test&amp;Set)</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En algunos patrones, CAS invalida menos caché</a:t>
              </a:r>
            </a:p>
            <a:p>
              <a:pPr algn="l" marL="431802" indent="-215901" lvl="1">
                <a:lnSpc>
                  <a:spcPts val="2800"/>
                </a:lnSpc>
                <a:spcBef>
                  <a:spcPct val="0"/>
                </a:spcBef>
                <a:buFont typeface="Arial"/>
                <a:buChar char="•"/>
              </a:pPr>
              <a:r>
                <a:rPr lang="en-US" sz="2000">
                  <a:solidFill>
                    <a:srgbClr val="000000"/>
                  </a:solidFill>
                  <a:latin typeface="Open Sauce"/>
                  <a:ea typeface="Open Sauce"/>
                  <a:cs typeface="Open Sauce"/>
                  <a:sym typeface="Open Sauce"/>
                </a:rPr>
                <a:t>Versatilidad para múltiples estados.</a:t>
              </a:r>
            </a:p>
          </p:txBody>
        </p:sp>
      </p:grpSp>
      <p:grpSp>
        <p:nvGrpSpPr>
          <p:cNvPr name="Group 13" id="13"/>
          <p:cNvGrpSpPr/>
          <p:nvPr/>
        </p:nvGrpSpPr>
        <p:grpSpPr>
          <a:xfrm rot="0">
            <a:off x="11895820" y="5587704"/>
            <a:ext cx="5932109" cy="4249658"/>
            <a:chOff x="0" y="0"/>
            <a:chExt cx="7909478" cy="5666211"/>
          </a:xfrm>
        </p:grpSpPr>
        <p:sp>
          <p:nvSpPr>
            <p:cNvPr name="TextBox 14" id="14"/>
            <p:cNvSpPr txBox="true"/>
            <p:nvPr/>
          </p:nvSpPr>
          <p:spPr>
            <a:xfrm rot="0">
              <a:off x="0" y="-57150"/>
              <a:ext cx="7909478" cy="622680"/>
            </a:xfrm>
            <a:prstGeom prst="rect">
              <a:avLst/>
            </a:prstGeom>
          </p:spPr>
          <p:txBody>
            <a:bodyPr anchor="t" rtlCol="false" tIns="0" lIns="0" bIns="0" rIns="0">
              <a:spAutoFit/>
            </a:bodyPr>
            <a:lstStyle/>
            <a:p>
              <a:pPr algn="ctr">
                <a:lnSpc>
                  <a:spcPts val="3919"/>
                </a:lnSpc>
              </a:pPr>
              <a:r>
                <a:rPr lang="en-US" sz="2799">
                  <a:solidFill>
                    <a:srgbClr val="E0224A"/>
                  </a:solidFill>
                  <a:latin typeface="TAN Mon Cheri"/>
                  <a:ea typeface="TAN Mon Cheri"/>
                  <a:cs typeface="TAN Mon Cheri"/>
                  <a:sym typeface="TAN Mon Cheri"/>
                </a:rPr>
                <a:t>Desventajas TAS</a:t>
              </a:r>
            </a:p>
          </p:txBody>
        </p:sp>
        <p:sp>
          <p:nvSpPr>
            <p:cNvPr name="TextBox 15" id="15"/>
            <p:cNvSpPr txBox="true"/>
            <p:nvPr/>
          </p:nvSpPr>
          <p:spPr>
            <a:xfrm rot="0">
              <a:off x="0" y="517905"/>
              <a:ext cx="7909478" cy="5148306"/>
            </a:xfrm>
            <a:prstGeom prst="rect">
              <a:avLst/>
            </a:prstGeom>
          </p:spPr>
          <p:txBody>
            <a:bodyPr anchor="t" rtlCol="false" tIns="0" lIns="0" bIns="0" rIns="0">
              <a:spAutoFit/>
            </a:bodyPr>
            <a:lstStyle/>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Poca flexibilidad.</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No permite operaciones lock-free complejas-</a:t>
              </a:r>
            </a:p>
            <a:p>
              <a:pPr algn="l" marL="431802" indent="-215901" lvl="1">
                <a:lnSpc>
                  <a:spcPts val="2800"/>
                </a:lnSpc>
                <a:buFont typeface="Arial"/>
                <a:buChar char="•"/>
              </a:pPr>
              <a:r>
                <a:rPr lang="en-US" sz="2000">
                  <a:solidFill>
                    <a:srgbClr val="000000"/>
                  </a:solidFill>
                  <a:latin typeface="Open Sauce"/>
                  <a:ea typeface="Open Sauce"/>
                  <a:cs typeface="Open Sauce"/>
                  <a:sym typeface="Open Sauce"/>
                </a:rPr>
                <a:t>Problemas de rendimiento en alta contención.</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TAS escribe siempre, invalidando cachés constatemente.</a:t>
              </a:r>
            </a:p>
            <a:p>
              <a:pPr algn="l" marL="863604" indent="-287868" lvl="2">
                <a:lnSpc>
                  <a:spcPts val="2800"/>
                </a:lnSpc>
                <a:buFont typeface="Arial"/>
                <a:buChar char="⚬"/>
              </a:pPr>
              <a:r>
                <a:rPr lang="en-US" sz="2000">
                  <a:solidFill>
                    <a:srgbClr val="000000"/>
                  </a:solidFill>
                  <a:latin typeface="Open Sauce"/>
                  <a:ea typeface="Open Sauce"/>
                  <a:cs typeface="Open Sauce"/>
                  <a:sym typeface="Open Sauce"/>
                </a:rPr>
                <a:t>Causa mucho tráfico en el bus de memoria.</a:t>
              </a:r>
            </a:p>
            <a:p>
              <a:pPr algn="l" marL="431802" indent="-215901" lvl="1">
                <a:lnSpc>
                  <a:spcPts val="2800"/>
                </a:lnSpc>
                <a:spcBef>
                  <a:spcPct val="0"/>
                </a:spcBef>
                <a:buFont typeface="Arial"/>
                <a:buChar char="•"/>
              </a:pPr>
              <a:r>
                <a:rPr lang="en-US" sz="2000">
                  <a:solidFill>
                    <a:srgbClr val="000000"/>
                  </a:solidFill>
                  <a:latin typeface="Open Sauce"/>
                  <a:ea typeface="Open Sauce"/>
                  <a:cs typeface="Open Sauce"/>
                  <a:sym typeface="Open Sauce"/>
                </a:rPr>
                <a:t>No proporciona información sobre el valor actual.</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765325"/>
            <a:chOff x="0" y="0"/>
            <a:chExt cx="5666449" cy="856823"/>
          </a:xfrm>
        </p:grpSpPr>
        <p:sp>
          <p:nvSpPr>
            <p:cNvPr name="Freeform 3" id="3"/>
            <p:cNvSpPr/>
            <p:nvPr/>
          </p:nvSpPr>
          <p:spPr>
            <a:xfrm flipH="false" flipV="false" rot="0">
              <a:off x="0" y="0"/>
              <a:ext cx="5666449" cy="856823"/>
            </a:xfrm>
            <a:custGeom>
              <a:avLst/>
              <a:gdLst/>
              <a:ahLst/>
              <a:cxnLst/>
              <a:rect r="r" b="b" t="t" l="l"/>
              <a:pathLst>
                <a:path h="856823" w="5666449">
                  <a:moveTo>
                    <a:pt x="0" y="0"/>
                  </a:moveTo>
                  <a:lnTo>
                    <a:pt x="5666449" y="0"/>
                  </a:lnTo>
                  <a:lnTo>
                    <a:pt x="5666449" y="856823"/>
                  </a:lnTo>
                  <a:lnTo>
                    <a:pt x="0" y="856823"/>
                  </a:lnTo>
                  <a:close/>
                </a:path>
              </a:pathLst>
            </a:custGeom>
            <a:solidFill>
              <a:srgbClr val="1D7151"/>
            </a:solidFill>
          </p:spPr>
        </p:sp>
      </p:grpSp>
      <p:sp>
        <p:nvSpPr>
          <p:cNvPr name="Freeform 4" id="4"/>
          <p:cNvSpPr/>
          <p:nvPr/>
        </p:nvSpPr>
        <p:spPr>
          <a:xfrm flipH="false" flipV="false" rot="0">
            <a:off x="-428141" y="2769951"/>
            <a:ext cx="9572141" cy="7517049"/>
          </a:xfrm>
          <a:custGeom>
            <a:avLst/>
            <a:gdLst/>
            <a:ahLst/>
            <a:cxnLst/>
            <a:rect r="r" b="b" t="t" l="l"/>
            <a:pathLst>
              <a:path h="7517049" w="9572141">
                <a:moveTo>
                  <a:pt x="0" y="0"/>
                </a:moveTo>
                <a:lnTo>
                  <a:pt x="9572141" y="0"/>
                </a:lnTo>
                <a:lnTo>
                  <a:pt x="9572141" y="7517049"/>
                </a:lnTo>
                <a:lnTo>
                  <a:pt x="0" y="7517049"/>
                </a:lnTo>
                <a:lnTo>
                  <a:pt x="0" y="0"/>
                </a:lnTo>
                <a:close/>
              </a:path>
            </a:pathLst>
          </a:custGeom>
          <a:blipFill>
            <a:blip r:embed="rId2"/>
            <a:stretch>
              <a:fillRect l="0" t="0" r="-17869" b="0"/>
            </a:stretch>
          </a:blipFill>
        </p:spPr>
      </p:sp>
      <p:sp>
        <p:nvSpPr>
          <p:cNvPr name="Freeform 5" id="5"/>
          <p:cNvSpPr/>
          <p:nvPr/>
        </p:nvSpPr>
        <p:spPr>
          <a:xfrm flipH="false" flipV="false" rot="0">
            <a:off x="-61374" y="2765325"/>
            <a:ext cx="9205374" cy="9205374"/>
          </a:xfrm>
          <a:custGeom>
            <a:avLst/>
            <a:gdLst/>
            <a:ahLst/>
            <a:cxnLst/>
            <a:rect r="r" b="b" t="t" l="l"/>
            <a:pathLst>
              <a:path h="9205374" w="9205374">
                <a:moveTo>
                  <a:pt x="0" y="0"/>
                </a:moveTo>
                <a:lnTo>
                  <a:pt x="9205374" y="0"/>
                </a:lnTo>
                <a:lnTo>
                  <a:pt x="9205374" y="9205375"/>
                </a:lnTo>
                <a:lnTo>
                  <a:pt x="0" y="9205375"/>
                </a:lnTo>
                <a:lnTo>
                  <a:pt x="0" y="0"/>
                </a:lnTo>
                <a:close/>
              </a:path>
            </a:pathLst>
          </a:custGeom>
          <a:blipFill>
            <a:blip r:embed="rId3"/>
            <a:stretch>
              <a:fillRect l="0" t="0" r="0" b="0"/>
            </a:stretch>
          </a:blipFill>
        </p:spPr>
      </p:sp>
      <p:sp>
        <p:nvSpPr>
          <p:cNvPr name="TextBox 6" id="6"/>
          <p:cNvSpPr txBox="true"/>
          <p:nvPr/>
        </p:nvSpPr>
        <p:spPr>
          <a:xfrm rot="0">
            <a:off x="902664" y="234536"/>
            <a:ext cx="11576103" cy="2029554"/>
          </a:xfrm>
          <a:prstGeom prst="rect">
            <a:avLst/>
          </a:prstGeom>
        </p:spPr>
        <p:txBody>
          <a:bodyPr anchor="t" rtlCol="false" tIns="0" lIns="0" bIns="0" rIns="0">
            <a:spAutoFit/>
          </a:bodyPr>
          <a:lstStyle/>
          <a:p>
            <a:pPr algn="l">
              <a:lnSpc>
                <a:spcPts val="16238"/>
              </a:lnSpc>
            </a:pPr>
            <a:r>
              <a:rPr lang="en-US" sz="11598">
                <a:solidFill>
                  <a:srgbClr val="F2EDDB"/>
                </a:solidFill>
                <a:latin typeface="Sugo Display"/>
                <a:ea typeface="Sugo Display"/>
                <a:cs typeface="Sugo Display"/>
                <a:sym typeface="Sugo Display"/>
              </a:rPr>
              <a:t>Algoritmos Clásicos</a:t>
            </a:r>
          </a:p>
        </p:txBody>
      </p:sp>
      <p:sp>
        <p:nvSpPr>
          <p:cNvPr name="TextBox 7" id="7"/>
          <p:cNvSpPr txBox="true"/>
          <p:nvPr/>
        </p:nvSpPr>
        <p:spPr>
          <a:xfrm rot="0">
            <a:off x="9738453" y="4778074"/>
            <a:ext cx="8067447" cy="1976623"/>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uce"/>
                <a:ea typeface="Open Sauce"/>
                <a:cs typeface="Open Sauce"/>
                <a:sym typeface="Open Sauce"/>
              </a:rPr>
              <a:t>A conti</a:t>
            </a:r>
            <a:r>
              <a:rPr lang="en-US" sz="2799">
                <a:solidFill>
                  <a:srgbClr val="000000"/>
                </a:solidFill>
                <a:latin typeface="Open Sauce"/>
                <a:ea typeface="Open Sauce"/>
                <a:cs typeface="Open Sauce"/>
                <a:sym typeface="Open Sauce"/>
              </a:rPr>
              <a:t>nuación se presenta una explicación det</a:t>
            </a:r>
            <a:r>
              <a:rPr lang="en-US" sz="2799">
                <a:solidFill>
                  <a:srgbClr val="000000"/>
                </a:solidFill>
                <a:latin typeface="Open Sauce"/>
                <a:ea typeface="Open Sauce"/>
                <a:cs typeface="Open Sauce"/>
                <a:sym typeface="Open Sauce"/>
              </a:rPr>
              <a:t>a</a:t>
            </a:r>
            <a:r>
              <a:rPr lang="en-US" sz="2799">
                <a:solidFill>
                  <a:srgbClr val="000000"/>
                </a:solidFill>
                <a:latin typeface="Open Sauce"/>
                <a:ea typeface="Open Sauce"/>
                <a:cs typeface="Open Sauce"/>
                <a:sym typeface="Open Sauce"/>
              </a:rPr>
              <a:t>l</a:t>
            </a:r>
            <a:r>
              <a:rPr lang="en-US" sz="2799">
                <a:solidFill>
                  <a:srgbClr val="000000"/>
                </a:solidFill>
                <a:latin typeface="Open Sauce"/>
                <a:ea typeface="Open Sauce"/>
                <a:cs typeface="Open Sauce"/>
                <a:sym typeface="Open Sauce"/>
              </a:rPr>
              <a:t>l</a:t>
            </a:r>
            <a:r>
              <a:rPr lang="en-US" sz="2799">
                <a:solidFill>
                  <a:srgbClr val="000000"/>
                </a:solidFill>
                <a:latin typeface="Open Sauce"/>
                <a:ea typeface="Open Sauce"/>
                <a:cs typeface="Open Sauce"/>
                <a:sym typeface="Open Sauce"/>
              </a:rPr>
              <a:t>ad</a:t>
            </a:r>
            <a:r>
              <a:rPr lang="en-US" sz="2799">
                <a:solidFill>
                  <a:srgbClr val="000000"/>
                </a:solidFill>
                <a:latin typeface="Open Sauce"/>
                <a:ea typeface="Open Sauce"/>
                <a:cs typeface="Open Sauce"/>
                <a:sym typeface="Open Sauce"/>
              </a:rPr>
              <a:t>a de </a:t>
            </a:r>
            <a:r>
              <a:rPr lang="en-US" sz="2799">
                <a:solidFill>
                  <a:srgbClr val="000000"/>
                </a:solidFill>
                <a:latin typeface="Open Sauce"/>
                <a:ea typeface="Open Sauce"/>
                <a:cs typeface="Open Sauce"/>
                <a:sym typeface="Open Sauce"/>
              </a:rPr>
              <a:t>l</a:t>
            </a:r>
            <a:r>
              <a:rPr lang="en-US" sz="2799">
                <a:solidFill>
                  <a:srgbClr val="000000"/>
                </a:solidFill>
                <a:latin typeface="Open Sauce"/>
                <a:ea typeface="Open Sauce"/>
                <a:cs typeface="Open Sauce"/>
                <a:sym typeface="Open Sauce"/>
              </a:rPr>
              <a:t>os</a:t>
            </a:r>
            <a:r>
              <a:rPr lang="en-US" sz="2799">
                <a:solidFill>
                  <a:srgbClr val="000000"/>
                </a:solidFill>
                <a:latin typeface="Open Sauce"/>
                <a:ea typeface="Open Sauce"/>
                <a:cs typeface="Open Sauce"/>
                <a:sym typeface="Open Sauce"/>
              </a:rPr>
              <a:t> algoritmos clásicos de sincronización, </a:t>
            </a:r>
            <a:r>
              <a:rPr lang="en-US" sz="2799">
                <a:solidFill>
                  <a:srgbClr val="000000"/>
                </a:solidFill>
                <a:latin typeface="Open Sauce"/>
                <a:ea typeface="Open Sauce"/>
                <a:cs typeface="Open Sauce"/>
                <a:sym typeface="Open Sauce"/>
              </a:rPr>
              <a:t>s</a:t>
            </a:r>
            <a:r>
              <a:rPr lang="en-US" sz="2799">
                <a:solidFill>
                  <a:srgbClr val="000000"/>
                </a:solidFill>
                <a:latin typeface="Open Sauce"/>
                <a:ea typeface="Open Sauce"/>
                <a:cs typeface="Open Sauce"/>
                <a:sym typeface="Open Sauce"/>
              </a:rPr>
              <a:t>u f</a:t>
            </a:r>
            <a:r>
              <a:rPr lang="en-US" sz="2799">
                <a:solidFill>
                  <a:srgbClr val="000000"/>
                </a:solidFill>
                <a:latin typeface="Open Sauce"/>
                <a:ea typeface="Open Sauce"/>
                <a:cs typeface="Open Sauce"/>
                <a:sym typeface="Open Sauce"/>
              </a:rPr>
              <a:t>u</a:t>
            </a:r>
            <a:r>
              <a:rPr lang="en-US" sz="2799">
                <a:solidFill>
                  <a:srgbClr val="000000"/>
                </a:solidFill>
                <a:latin typeface="Open Sauce"/>
                <a:ea typeface="Open Sauce"/>
                <a:cs typeface="Open Sauce"/>
                <a:sym typeface="Open Sauce"/>
              </a:rPr>
              <a:t>n</a:t>
            </a:r>
            <a:r>
              <a:rPr lang="en-US" sz="2799">
                <a:solidFill>
                  <a:srgbClr val="000000"/>
                </a:solidFill>
                <a:latin typeface="Open Sauce"/>
                <a:ea typeface="Open Sauce"/>
                <a:cs typeface="Open Sauce"/>
                <a:sym typeface="Open Sauce"/>
              </a:rPr>
              <a:t>cionami</a:t>
            </a:r>
            <a:r>
              <a:rPr lang="en-US" sz="2799">
                <a:solidFill>
                  <a:srgbClr val="000000"/>
                </a:solidFill>
                <a:latin typeface="Open Sauce"/>
                <a:ea typeface="Open Sauce"/>
                <a:cs typeface="Open Sauce"/>
                <a:sym typeface="Open Sauce"/>
              </a:rPr>
              <a:t>ento e implementación.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686114" y="5984420"/>
          <a:ext cx="16230600" cy="6642206"/>
        </p:xfrm>
        <a:graphic>
          <a:graphicData uri="http://schemas.openxmlformats.org/presentationml/2006/ole">
            <p:oleObj imgW="19469100" imgH="9880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Freeform 3" id="3"/>
          <p:cNvSpPr/>
          <p:nvPr/>
        </p:nvSpPr>
        <p:spPr>
          <a:xfrm flipH="false" flipV="false" rot="0">
            <a:off x="10938628" y="542525"/>
            <a:ext cx="6956129" cy="6613824"/>
          </a:xfrm>
          <a:custGeom>
            <a:avLst/>
            <a:gdLst/>
            <a:ahLst/>
            <a:cxnLst/>
            <a:rect r="r" b="b" t="t" l="l"/>
            <a:pathLst>
              <a:path h="6613824" w="6956129">
                <a:moveTo>
                  <a:pt x="0" y="0"/>
                </a:moveTo>
                <a:lnTo>
                  <a:pt x="6956129" y="0"/>
                </a:lnTo>
                <a:lnTo>
                  <a:pt x="6956129" y="6613824"/>
                </a:lnTo>
                <a:lnTo>
                  <a:pt x="0" y="6613824"/>
                </a:lnTo>
                <a:lnTo>
                  <a:pt x="0" y="0"/>
                </a:lnTo>
                <a:close/>
              </a:path>
            </a:pathLst>
          </a:custGeom>
          <a:blipFill>
            <a:blip r:embed="rId4"/>
            <a:stretch>
              <a:fillRect l="0" t="0" r="0" b="0"/>
            </a:stretch>
          </a:blipFill>
        </p:spPr>
      </p:sp>
      <p:sp>
        <p:nvSpPr>
          <p:cNvPr name="TextBox 4" id="4"/>
          <p:cNvSpPr txBox="true"/>
          <p:nvPr/>
        </p:nvSpPr>
        <p:spPr>
          <a:xfrm rot="0">
            <a:off x="1028700" y="542959"/>
            <a:ext cx="1002293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Semáforos</a:t>
            </a:r>
          </a:p>
        </p:txBody>
      </p:sp>
      <p:grpSp>
        <p:nvGrpSpPr>
          <p:cNvPr name="Group 5" id="5"/>
          <p:cNvGrpSpPr/>
          <p:nvPr/>
        </p:nvGrpSpPr>
        <p:grpSpPr>
          <a:xfrm rot="0">
            <a:off x="11325930" y="7386795"/>
            <a:ext cx="6181524" cy="2334095"/>
            <a:chOff x="0" y="0"/>
            <a:chExt cx="8242032" cy="3112127"/>
          </a:xfrm>
        </p:grpSpPr>
        <p:sp>
          <p:nvSpPr>
            <p:cNvPr name="TextBox 6" id="6"/>
            <p:cNvSpPr txBox="true"/>
            <p:nvPr/>
          </p:nvSpPr>
          <p:spPr>
            <a:xfrm rot="0">
              <a:off x="0" y="-57150"/>
              <a:ext cx="8242032"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Tipos de Semáforos</a:t>
              </a:r>
            </a:p>
          </p:txBody>
        </p:sp>
        <p:sp>
          <p:nvSpPr>
            <p:cNvPr name="TextBox 7" id="7"/>
            <p:cNvSpPr txBox="true"/>
            <p:nvPr/>
          </p:nvSpPr>
          <p:spPr>
            <a:xfrm rot="0">
              <a:off x="0" y="498855"/>
              <a:ext cx="8242032" cy="2613272"/>
            </a:xfrm>
            <a:prstGeom prst="rect">
              <a:avLst/>
            </a:prstGeom>
          </p:spPr>
          <p:txBody>
            <a:bodyPr anchor="t" rtlCol="false" tIns="0" lIns="0" bIns="0" rIns="0">
              <a:spAutoFit/>
            </a:bodyPr>
            <a:lstStyle/>
            <a:p>
              <a:pPr algn="l" marL="604518" indent="-302259" lvl="1">
                <a:lnSpc>
                  <a:spcPts val="3919"/>
                </a:lnSpc>
                <a:buFont typeface="Arial"/>
                <a:buChar char="•"/>
              </a:pPr>
              <a:r>
                <a:rPr lang="en-US" b="true" sz="2799">
                  <a:solidFill>
                    <a:srgbClr val="000000"/>
                  </a:solidFill>
                  <a:latin typeface="Open Sauce Bold"/>
                  <a:ea typeface="Open Sauce Bold"/>
                  <a:cs typeface="Open Sauce Bold"/>
                  <a:sym typeface="Open Sauce Bold"/>
                </a:rPr>
                <a:t>Binario</a:t>
              </a:r>
              <a:r>
                <a:rPr lang="en-US" sz="2799">
                  <a:solidFill>
                    <a:srgbClr val="000000"/>
                  </a:solidFill>
                  <a:latin typeface="Open Sauce"/>
                  <a:ea typeface="Open Sauce"/>
                  <a:cs typeface="Open Sauce"/>
                  <a:sym typeface="Open Sauce"/>
                </a:rPr>
                <a:t>: valores solo 0 o 1 (equivalente a un mutex)</a:t>
              </a:r>
            </a:p>
            <a:p>
              <a:pPr algn="l" marL="604518" indent="-302259" lvl="1">
                <a:lnSpc>
                  <a:spcPts val="3919"/>
                </a:lnSpc>
                <a:spcBef>
                  <a:spcPct val="0"/>
                </a:spcBef>
                <a:buFont typeface="Arial"/>
                <a:buChar char="•"/>
              </a:pPr>
              <a:r>
                <a:rPr lang="en-US" b="true" sz="2799">
                  <a:solidFill>
                    <a:srgbClr val="000000"/>
                  </a:solidFill>
                  <a:latin typeface="Open Sauce Bold"/>
                  <a:ea typeface="Open Sauce Bold"/>
                  <a:cs typeface="Open Sauce Bold"/>
                  <a:sym typeface="Open Sauce Bold"/>
                </a:rPr>
                <a:t>Contador</a:t>
              </a:r>
              <a:r>
                <a:rPr lang="en-US" sz="2799">
                  <a:solidFill>
                    <a:srgbClr val="000000"/>
                  </a:solidFill>
                  <a:latin typeface="Open Sauce"/>
                  <a:ea typeface="Open Sauce"/>
                  <a:cs typeface="Open Sauce"/>
                  <a:sym typeface="Open Sauce"/>
                </a:rPr>
                <a:t>: puede tomar cualquier valor &gt;= 0.</a:t>
              </a:r>
            </a:p>
          </p:txBody>
        </p:sp>
      </p:grpSp>
      <p:sp>
        <p:nvSpPr>
          <p:cNvPr name="TextBox 8" id="8"/>
          <p:cNvSpPr txBox="true"/>
          <p:nvPr/>
        </p:nvSpPr>
        <p:spPr>
          <a:xfrm rot="0">
            <a:off x="686114" y="5385290"/>
            <a:ext cx="10022930"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¿A qué problemas atienden?</a:t>
            </a:r>
          </a:p>
        </p:txBody>
      </p:sp>
      <p:grpSp>
        <p:nvGrpSpPr>
          <p:cNvPr name="Group 9" id="9"/>
          <p:cNvGrpSpPr/>
          <p:nvPr/>
        </p:nvGrpSpPr>
        <p:grpSpPr>
          <a:xfrm rot="0">
            <a:off x="686114" y="1500690"/>
            <a:ext cx="10022930" cy="3765001"/>
            <a:chOff x="0" y="0"/>
            <a:chExt cx="13363907" cy="5020002"/>
          </a:xfrm>
        </p:grpSpPr>
        <p:sp>
          <p:nvSpPr>
            <p:cNvPr name="TextBox 10" id="10"/>
            <p:cNvSpPr txBox="true"/>
            <p:nvPr/>
          </p:nvSpPr>
          <p:spPr>
            <a:xfrm rot="0">
              <a:off x="0" y="-57150"/>
              <a:ext cx="13363907" cy="622680"/>
            </a:xfrm>
            <a:prstGeom prst="rect">
              <a:avLst/>
            </a:prstGeom>
          </p:spPr>
          <p:txBody>
            <a:bodyPr anchor="t" rtlCol="false" tIns="0" lIns="0" bIns="0" rIns="0">
              <a:spAutoFit/>
            </a:bodyPr>
            <a:lstStyle/>
            <a:p>
              <a:pPr algn="l">
                <a:lnSpc>
                  <a:spcPts val="3919"/>
                </a:lnSpc>
              </a:pPr>
              <a:r>
                <a:rPr lang="en-US" sz="2799">
                  <a:solidFill>
                    <a:srgbClr val="1D7151"/>
                  </a:solidFill>
                  <a:latin typeface="TAN Mon Cheri"/>
                  <a:ea typeface="TAN Mon Cheri"/>
                  <a:cs typeface="TAN Mon Cheri"/>
                  <a:sym typeface="TAN Mon Cheri"/>
                </a:rPr>
                <a:t>¿Qué son?</a:t>
              </a:r>
            </a:p>
          </p:txBody>
        </p:sp>
        <p:sp>
          <p:nvSpPr>
            <p:cNvPr name="TextBox 11" id="11"/>
            <p:cNvSpPr txBox="true"/>
            <p:nvPr/>
          </p:nvSpPr>
          <p:spPr>
            <a:xfrm rot="0">
              <a:off x="0" y="589042"/>
              <a:ext cx="13363907" cy="1083769"/>
            </a:xfrm>
            <a:prstGeom prst="rect">
              <a:avLst/>
            </a:prstGeom>
          </p:spPr>
          <p:txBody>
            <a:bodyPr anchor="t" rtlCol="false" tIns="0" lIns="0" bIns="0" rIns="0">
              <a:spAutoFit/>
            </a:bodyPr>
            <a:lstStyle/>
            <a:p>
              <a:pPr algn="l">
                <a:lnSpc>
                  <a:spcPts val="3359"/>
                </a:lnSpc>
                <a:spcBef>
                  <a:spcPct val="0"/>
                </a:spcBef>
              </a:pPr>
              <a:r>
                <a:rPr lang="en-US" sz="2400">
                  <a:solidFill>
                    <a:srgbClr val="000000"/>
                  </a:solidFill>
                  <a:latin typeface="Open Sauce"/>
                  <a:ea typeface="Open Sauce"/>
                  <a:cs typeface="Open Sauce"/>
                  <a:sym typeface="Open Sauce"/>
                </a:rPr>
                <a:t>Un semáforo es una variable especial (int o negativo) que soporta dos operaciones atómicas:</a:t>
              </a:r>
            </a:p>
          </p:txBody>
        </p:sp>
        <p:sp>
          <p:nvSpPr>
            <p:cNvPr name="TextBox 12" id="12"/>
            <p:cNvSpPr txBox="true"/>
            <p:nvPr/>
          </p:nvSpPr>
          <p:spPr>
            <a:xfrm rot="0">
              <a:off x="0" y="1701386"/>
              <a:ext cx="13363907" cy="3318616"/>
            </a:xfrm>
            <a:prstGeom prst="rect">
              <a:avLst/>
            </a:prstGeom>
          </p:spPr>
          <p:txBody>
            <a:bodyPr anchor="t" rtlCol="false" tIns="0" lIns="0" bIns="0" rIns="0">
              <a:spAutoFit/>
            </a:bodyPr>
            <a:lstStyle/>
            <a:p>
              <a:pPr algn="l" marL="518160" indent="-259080" lvl="1">
                <a:lnSpc>
                  <a:spcPts val="3359"/>
                </a:lnSpc>
                <a:buFont typeface="Arial"/>
                <a:buChar char="•"/>
              </a:pPr>
              <a:r>
                <a:rPr lang="en-US" b="true" sz="2400" i="true">
                  <a:solidFill>
                    <a:srgbClr val="1D7151"/>
                  </a:solidFill>
                  <a:latin typeface="Open Sauce Bold Italics"/>
                  <a:ea typeface="Open Sauce Bold Italics"/>
                  <a:cs typeface="Open Sauce Bold Italics"/>
                  <a:sym typeface="Open Sauce Bold Italics"/>
                </a:rPr>
                <a:t>wait(s)</a:t>
              </a:r>
              <a:r>
                <a:rPr lang="en-US" sz="2400">
                  <a:solidFill>
                    <a:srgbClr val="000000"/>
                  </a:solidFill>
                  <a:latin typeface="Open Sauce"/>
                  <a:ea typeface="Open Sauce"/>
                  <a:cs typeface="Open Sauce"/>
                  <a:sym typeface="Open Sauce"/>
                </a:rPr>
                <a:t> también llamada </a:t>
              </a:r>
              <a:r>
                <a:rPr lang="en-US" sz="2400" i="true">
                  <a:solidFill>
                    <a:srgbClr val="1D7151"/>
                  </a:solidFill>
                  <a:latin typeface="Open Sauce Italics"/>
                  <a:ea typeface="Open Sauce Italics"/>
                  <a:cs typeface="Open Sauce Italics"/>
                  <a:sym typeface="Open Sauce Italics"/>
                </a:rPr>
                <a:t>P</a:t>
              </a:r>
              <a:r>
                <a:rPr lang="en-US" sz="2400">
                  <a:solidFill>
                    <a:srgbClr val="000000"/>
                  </a:solidFill>
                  <a:latin typeface="Open Sauce"/>
                  <a:ea typeface="Open Sauce"/>
                  <a:cs typeface="Open Sauce"/>
                  <a:sym typeface="Open Sauce"/>
                </a:rPr>
                <a:t> o </a:t>
              </a:r>
              <a:r>
                <a:rPr lang="en-US" sz="2400" i="true">
                  <a:solidFill>
                    <a:srgbClr val="1D7151"/>
                  </a:solidFill>
                  <a:latin typeface="Open Sauce Italics"/>
                  <a:ea typeface="Open Sauce Italics"/>
                  <a:cs typeface="Open Sauce Italics"/>
                  <a:sym typeface="Open Sauce Italics"/>
                </a:rPr>
                <a:t>down</a:t>
              </a:r>
              <a:r>
                <a:rPr lang="en-US" sz="2400">
                  <a:solidFill>
                    <a:srgbClr val="000000"/>
                  </a:solidFill>
                  <a:latin typeface="Open Sauce"/>
                  <a:ea typeface="Open Sauce"/>
                  <a:cs typeface="Open Sauce"/>
                  <a:sym typeface="Open Sauce"/>
                </a:rPr>
                <a:t>:</a:t>
              </a:r>
            </a:p>
            <a:p>
              <a:pPr algn="l" marL="1036320" indent="-345440" lvl="2">
                <a:lnSpc>
                  <a:spcPts val="3359"/>
                </a:lnSpc>
                <a:buFont typeface="Arial"/>
                <a:buChar char="⚬"/>
              </a:pPr>
              <a:r>
                <a:rPr lang="en-US" sz="2400">
                  <a:solidFill>
                    <a:srgbClr val="000000"/>
                  </a:solidFill>
                  <a:latin typeface="Open Sauce"/>
                  <a:ea typeface="Open Sauce"/>
                  <a:cs typeface="Open Sauce"/>
                  <a:sym typeface="Open Sauce"/>
                </a:rPr>
                <a:t>Si </a:t>
              </a:r>
              <a:r>
                <a:rPr lang="en-US" sz="2400" i="true">
                  <a:solidFill>
                    <a:srgbClr val="1D7151"/>
                  </a:solidFill>
                  <a:latin typeface="Open Sauce Italics"/>
                  <a:ea typeface="Open Sauce Italics"/>
                  <a:cs typeface="Open Sauce Italics"/>
                  <a:sym typeface="Open Sauce Italics"/>
                </a:rPr>
                <a:t>s &gt; 0</a:t>
              </a:r>
              <a:r>
                <a:rPr lang="en-US" sz="2400">
                  <a:solidFill>
                    <a:srgbClr val="000000"/>
                  </a:solidFill>
                  <a:latin typeface="Open Sauce"/>
                  <a:ea typeface="Open Sauce"/>
                  <a:cs typeface="Open Sauce"/>
                  <a:sym typeface="Open Sauce"/>
                </a:rPr>
                <a:t>, decrementa s y continúa.</a:t>
              </a:r>
            </a:p>
            <a:p>
              <a:pPr algn="l" marL="1036320" indent="-345440" lvl="2">
                <a:lnSpc>
                  <a:spcPts val="3359"/>
                </a:lnSpc>
                <a:buFont typeface="Arial"/>
                <a:buChar char="⚬"/>
              </a:pPr>
              <a:r>
                <a:rPr lang="en-US" sz="2400">
                  <a:solidFill>
                    <a:srgbClr val="000000"/>
                  </a:solidFill>
                  <a:latin typeface="Open Sauce"/>
                  <a:ea typeface="Open Sauce"/>
                  <a:cs typeface="Open Sauce"/>
                  <a:sym typeface="Open Sauce"/>
                </a:rPr>
                <a:t>Si </a:t>
              </a:r>
              <a:r>
                <a:rPr lang="en-US" sz="2400" i="true">
                  <a:solidFill>
                    <a:srgbClr val="1D7151"/>
                  </a:solidFill>
                  <a:latin typeface="Open Sauce Italics"/>
                  <a:ea typeface="Open Sauce Italics"/>
                  <a:cs typeface="Open Sauce Italics"/>
                  <a:sym typeface="Open Sauce Italics"/>
                </a:rPr>
                <a:t>s == 0</a:t>
              </a:r>
              <a:r>
                <a:rPr lang="en-US" sz="2400">
                  <a:solidFill>
                    <a:srgbClr val="000000"/>
                  </a:solidFill>
                  <a:latin typeface="Open Sauce"/>
                  <a:ea typeface="Open Sauce"/>
                  <a:cs typeface="Open Sauce"/>
                  <a:sym typeface="Open Sauce"/>
                </a:rPr>
                <a:t>, el hilo se bloquea hasta que </a:t>
              </a:r>
              <a:r>
                <a:rPr lang="en-US" sz="2400" i="true">
                  <a:solidFill>
                    <a:srgbClr val="1D7151"/>
                  </a:solidFill>
                  <a:latin typeface="Open Sauce Italics"/>
                  <a:ea typeface="Open Sauce Italics"/>
                  <a:cs typeface="Open Sauce Italics"/>
                  <a:sym typeface="Open Sauce Italics"/>
                </a:rPr>
                <a:t>s </a:t>
              </a:r>
              <a:r>
                <a:rPr lang="en-US" sz="2400">
                  <a:solidFill>
                    <a:srgbClr val="000000"/>
                  </a:solidFill>
                  <a:latin typeface="Open Sauce"/>
                  <a:ea typeface="Open Sauce"/>
                  <a:cs typeface="Open Sauce"/>
                  <a:sym typeface="Open Sauce"/>
                </a:rPr>
                <a:t>sea mayor que 0.</a:t>
              </a:r>
            </a:p>
            <a:p>
              <a:pPr algn="l" marL="518160" indent="-259080" lvl="1">
                <a:lnSpc>
                  <a:spcPts val="3359"/>
                </a:lnSpc>
                <a:buFont typeface="Arial"/>
                <a:buChar char="•"/>
              </a:pPr>
              <a:r>
                <a:rPr lang="en-US" b="true" sz="2400" i="true">
                  <a:solidFill>
                    <a:srgbClr val="1D7151"/>
                  </a:solidFill>
                  <a:latin typeface="Open Sauce Bold Italics"/>
                  <a:ea typeface="Open Sauce Bold Italics"/>
                  <a:cs typeface="Open Sauce Bold Italics"/>
                  <a:sym typeface="Open Sauce Bold Italics"/>
                </a:rPr>
                <a:t>signal(s)</a:t>
              </a:r>
              <a:r>
                <a:rPr lang="en-US" sz="2400">
                  <a:solidFill>
                    <a:srgbClr val="000000"/>
                  </a:solidFill>
                  <a:latin typeface="Open Sauce"/>
                  <a:ea typeface="Open Sauce"/>
                  <a:cs typeface="Open Sauce"/>
                  <a:sym typeface="Open Sauce"/>
                </a:rPr>
                <a:t>, también llamada </a:t>
              </a:r>
              <a:r>
                <a:rPr lang="en-US" sz="2400" i="true">
                  <a:solidFill>
                    <a:srgbClr val="1D7151"/>
                  </a:solidFill>
                  <a:latin typeface="Open Sauce Italics"/>
                  <a:ea typeface="Open Sauce Italics"/>
                  <a:cs typeface="Open Sauce Italics"/>
                  <a:sym typeface="Open Sauce Italics"/>
                </a:rPr>
                <a:t>V</a:t>
              </a:r>
              <a:r>
                <a:rPr lang="en-US" sz="2400">
                  <a:solidFill>
                    <a:srgbClr val="000000"/>
                  </a:solidFill>
                  <a:latin typeface="Open Sauce"/>
                  <a:ea typeface="Open Sauce"/>
                  <a:cs typeface="Open Sauce"/>
                  <a:sym typeface="Open Sauce"/>
                </a:rPr>
                <a:t> o </a:t>
              </a:r>
              <a:r>
                <a:rPr lang="en-US" sz="2400" i="true">
                  <a:solidFill>
                    <a:srgbClr val="1D7151"/>
                  </a:solidFill>
                  <a:latin typeface="Open Sauce Italics"/>
                  <a:ea typeface="Open Sauce Italics"/>
                  <a:cs typeface="Open Sauce Italics"/>
                  <a:sym typeface="Open Sauce Italics"/>
                </a:rPr>
                <a:t>up</a:t>
              </a:r>
              <a:r>
                <a:rPr lang="en-US" sz="2400">
                  <a:solidFill>
                    <a:srgbClr val="000000"/>
                  </a:solidFill>
                  <a:latin typeface="Open Sauce"/>
                  <a:ea typeface="Open Sauce"/>
                  <a:cs typeface="Open Sauce"/>
                  <a:sym typeface="Open Sauce"/>
                </a:rPr>
                <a:t>:</a:t>
              </a:r>
            </a:p>
            <a:p>
              <a:pPr algn="l" marL="1036320" indent="-345440" lvl="2">
                <a:lnSpc>
                  <a:spcPts val="3359"/>
                </a:lnSpc>
                <a:spcBef>
                  <a:spcPct val="0"/>
                </a:spcBef>
                <a:buFont typeface="Arial"/>
                <a:buChar char="⚬"/>
              </a:pPr>
              <a:r>
                <a:rPr lang="en-US" sz="2400">
                  <a:solidFill>
                    <a:srgbClr val="000000"/>
                  </a:solidFill>
                  <a:latin typeface="Open Sauce"/>
                  <a:ea typeface="Open Sauce"/>
                  <a:cs typeface="Open Sauce"/>
                  <a:sym typeface="Open Sauce"/>
                </a:rPr>
                <a:t>Incrementa </a:t>
              </a:r>
              <a:r>
                <a:rPr lang="en-US" sz="2400" i="true">
                  <a:solidFill>
                    <a:srgbClr val="1D7151"/>
                  </a:solidFill>
                  <a:latin typeface="Open Sauce Italics"/>
                  <a:ea typeface="Open Sauce Italics"/>
                  <a:cs typeface="Open Sauce Italics"/>
                  <a:sym typeface="Open Sauce Italics"/>
                </a:rPr>
                <a:t>s </a:t>
              </a:r>
              <a:r>
                <a:rPr lang="en-US" sz="2400">
                  <a:solidFill>
                    <a:srgbClr val="000000"/>
                  </a:solidFill>
                  <a:latin typeface="Open Sauce"/>
                  <a:ea typeface="Open Sauce"/>
                  <a:cs typeface="Open Sauce"/>
                  <a:sym typeface="Open Sauce"/>
                </a:rPr>
                <a:t>en 1. Si hay hilos bloqueados esperando, despierta a uno de ellos.</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332697" y="2597202"/>
          <a:ext cx="15034395" cy="5604706"/>
        </p:xfrm>
        <a:graphic>
          <a:graphicData uri="http://schemas.openxmlformats.org/presentationml/2006/ole">
            <p:oleObj imgW="18034000" imgH="8610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Productor-Consumidor con buffer acotado</a:t>
            </a:r>
          </a:p>
        </p:txBody>
      </p:sp>
      <p:sp>
        <p:nvSpPr>
          <p:cNvPr name="TextBox 4" id="4"/>
          <p:cNvSpPr txBox="true"/>
          <p:nvPr/>
        </p:nvSpPr>
        <p:spPr>
          <a:xfrm rot="0">
            <a:off x="1028700" y="1276316"/>
            <a:ext cx="13125657" cy="2594147"/>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Idea</a:t>
            </a:r>
            <a:r>
              <a:rPr lang="en-US" sz="2100">
                <a:solidFill>
                  <a:srgbClr val="000000"/>
                </a:solidFill>
                <a:latin typeface="Open Sauce"/>
                <a:ea typeface="Open Sauce"/>
                <a:cs typeface="Open Sauce"/>
                <a:sym typeface="Open Sauce"/>
              </a:rPr>
              <a:t>: </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Uno o más </a:t>
            </a:r>
            <a:r>
              <a:rPr lang="en-US" b="true" sz="2100">
                <a:solidFill>
                  <a:srgbClr val="000000"/>
                </a:solidFill>
                <a:latin typeface="Open Sauce Bold"/>
                <a:ea typeface="Open Sauce Bold"/>
                <a:cs typeface="Open Sauce Bold"/>
                <a:sym typeface="Open Sauce Bold"/>
              </a:rPr>
              <a:t>productores </a:t>
            </a:r>
            <a:r>
              <a:rPr lang="en-US" sz="2100">
                <a:solidFill>
                  <a:srgbClr val="000000"/>
                </a:solidFill>
                <a:latin typeface="Open Sauce"/>
                <a:ea typeface="Open Sauce"/>
                <a:cs typeface="Open Sauce"/>
                <a:sym typeface="Open Sauce"/>
              </a:rPr>
              <a:t>generan datos y los colocan en un buffer compartido de tamaño fijo.</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Uno o más </a:t>
            </a:r>
            <a:r>
              <a:rPr lang="en-US" b="true" sz="2100">
                <a:solidFill>
                  <a:srgbClr val="000000"/>
                </a:solidFill>
                <a:latin typeface="Open Sauce Bold"/>
                <a:ea typeface="Open Sauce Bold"/>
                <a:cs typeface="Open Sauce Bold"/>
                <a:sym typeface="Open Sauce Bold"/>
              </a:rPr>
              <a:t>consumidores </a:t>
            </a:r>
            <a:r>
              <a:rPr lang="en-US" sz="2100">
                <a:solidFill>
                  <a:srgbClr val="000000"/>
                </a:solidFill>
                <a:latin typeface="Open Sauce"/>
                <a:ea typeface="Open Sauce"/>
                <a:cs typeface="Open Sauce"/>
                <a:sym typeface="Open Sauce"/>
              </a:rPr>
              <a:t>toman datos del buffer para procesarlos.</a:t>
            </a:r>
          </a:p>
          <a:p>
            <a:pPr algn="l">
              <a:lnSpc>
                <a:spcPts val="2940"/>
              </a:lnSpc>
            </a:pPr>
            <a:r>
              <a:rPr lang="en-US" sz="2100">
                <a:solidFill>
                  <a:srgbClr val="000000"/>
                </a:solidFill>
                <a:latin typeface="Open Sauce"/>
                <a:ea typeface="Open Sauce"/>
                <a:cs typeface="Open Sauce"/>
                <a:sym typeface="Open Sauce"/>
              </a:rPr>
              <a:t>Las restricciones son:</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El productor no puede agregar si el buffer está </a:t>
            </a:r>
            <a:r>
              <a:rPr lang="en-US" b="true" sz="2100">
                <a:solidFill>
                  <a:srgbClr val="000000"/>
                </a:solidFill>
                <a:latin typeface="Open Sauce Bold"/>
                <a:ea typeface="Open Sauce Bold"/>
                <a:cs typeface="Open Sauce Bold"/>
                <a:sym typeface="Open Sauce Bold"/>
              </a:rPr>
              <a:t>lleno</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El consumidor no puede tomar si el buffer está </a:t>
            </a:r>
            <a:r>
              <a:rPr lang="en-US" b="true" sz="2100">
                <a:solidFill>
                  <a:srgbClr val="000000"/>
                </a:solidFill>
                <a:latin typeface="Open Sauce Bold"/>
                <a:ea typeface="Open Sauce Bold"/>
                <a:cs typeface="Open Sauce Bold"/>
                <a:sym typeface="Open Sauce Bold"/>
              </a:rPr>
              <a:t>vacío</a:t>
            </a:r>
            <a:r>
              <a:rPr lang="en-US" sz="2100">
                <a:solidFill>
                  <a:srgbClr val="000000"/>
                </a:solidFill>
                <a:latin typeface="Open Sauce"/>
                <a:ea typeface="Open Sauce"/>
                <a:cs typeface="Open Sauce"/>
                <a:sym typeface="Open Sauce"/>
              </a:rPr>
              <a:t>.</a:t>
            </a:r>
          </a:p>
          <a:p>
            <a:pPr algn="l" marL="453392" indent="-226696" lvl="1">
              <a:lnSpc>
                <a:spcPts val="2940"/>
              </a:lnSpc>
              <a:spcBef>
                <a:spcPct val="0"/>
              </a:spcBef>
              <a:buFont typeface="Arial"/>
              <a:buChar char="•"/>
            </a:pPr>
            <a:r>
              <a:rPr lang="en-US" sz="2100">
                <a:solidFill>
                  <a:srgbClr val="000000"/>
                </a:solidFill>
                <a:latin typeface="Open Sauce"/>
                <a:ea typeface="Open Sauce"/>
                <a:cs typeface="Open Sauce"/>
                <a:sym typeface="Open Sauce"/>
              </a:rPr>
              <a:t>El acceso al buffer debe ser </a:t>
            </a:r>
            <a:r>
              <a:rPr lang="en-US" b="true" sz="2100">
                <a:solidFill>
                  <a:srgbClr val="000000"/>
                </a:solidFill>
                <a:latin typeface="Open Sauce Bold"/>
                <a:ea typeface="Open Sauce Bold"/>
                <a:cs typeface="Open Sauce Bold"/>
                <a:sym typeface="Open Sauce Bold"/>
              </a:rPr>
              <a:t>mutuamente excluyente</a:t>
            </a:r>
            <a:r>
              <a:rPr lang="en-US" sz="2100">
                <a:solidFill>
                  <a:srgbClr val="000000"/>
                </a:solidFill>
                <a:latin typeface="Open Sauce"/>
                <a:ea typeface="Open Sauce"/>
                <a:cs typeface="Open Sauce"/>
                <a:sym typeface="Open Sauce"/>
              </a:rPr>
              <a:t>.</a:t>
            </a:r>
          </a:p>
        </p:txBody>
      </p:sp>
      <p:grpSp>
        <p:nvGrpSpPr>
          <p:cNvPr name="Group 5" id="5"/>
          <p:cNvGrpSpPr/>
          <p:nvPr/>
        </p:nvGrpSpPr>
        <p:grpSpPr>
          <a:xfrm rot="0">
            <a:off x="1028700" y="4002199"/>
            <a:ext cx="9148005" cy="5764907"/>
            <a:chOff x="0" y="0"/>
            <a:chExt cx="12197341" cy="7686542"/>
          </a:xfrm>
        </p:grpSpPr>
        <p:sp>
          <p:nvSpPr>
            <p:cNvPr name="TextBox 6" id="6"/>
            <p:cNvSpPr txBox="true"/>
            <p:nvPr/>
          </p:nvSpPr>
          <p:spPr>
            <a:xfrm rot="0">
              <a:off x="0" y="-57150"/>
              <a:ext cx="12197341"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a:t>
              </a:r>
            </a:p>
          </p:txBody>
        </p:sp>
        <p:sp>
          <p:nvSpPr>
            <p:cNvPr name="TextBox 7" id="7"/>
            <p:cNvSpPr txBox="true"/>
            <p:nvPr/>
          </p:nvSpPr>
          <p:spPr>
            <a:xfrm rot="0">
              <a:off x="0" y="479805"/>
              <a:ext cx="11843061" cy="7206738"/>
            </a:xfrm>
            <a:prstGeom prst="rect">
              <a:avLst/>
            </a:prstGeom>
          </p:spPr>
          <p:txBody>
            <a:bodyPr anchor="t" rtlCol="false" tIns="0" lIns="0" bIns="0" rIns="0">
              <a:spAutoFit/>
            </a:bodyPr>
            <a:lstStyle/>
            <a:p>
              <a:pPr algn="l">
                <a:lnSpc>
                  <a:spcPts val="3360"/>
                </a:lnSpc>
              </a:pPr>
              <a:r>
                <a:rPr lang="en-US" sz="2100" b="true">
                  <a:solidFill>
                    <a:srgbClr val="061313"/>
                  </a:solidFill>
                  <a:latin typeface="Open Sauce Bold"/>
                  <a:ea typeface="Open Sauce Bold"/>
                  <a:cs typeface="Open Sauce Bold"/>
                  <a:sym typeface="Open Sauce Bold"/>
                </a:rPr>
                <a:t>Condición de Carrera: </a:t>
              </a:r>
              <a:r>
                <a:rPr lang="en-US" sz="2100">
                  <a:solidFill>
                    <a:srgbClr val="061313"/>
                  </a:solidFill>
                  <a:latin typeface="Open Sauce"/>
                  <a:ea typeface="Open Sauce"/>
                  <a:cs typeface="Open Sauce"/>
                  <a:sym typeface="Open Sauce"/>
                </a:rPr>
                <a:t>Dos hilos modifican variables compartida (</a:t>
              </a:r>
              <a:r>
                <a:rPr lang="en-US" sz="2100" i="true">
                  <a:solidFill>
                    <a:srgbClr val="1D7151"/>
                  </a:solidFill>
                  <a:latin typeface="Open Sauce Italics"/>
                  <a:ea typeface="Open Sauce Italics"/>
                  <a:cs typeface="Open Sauce Italics"/>
                  <a:sym typeface="Open Sauce Italics"/>
                </a:rPr>
                <a:t>in</a:t>
              </a:r>
              <a:r>
                <a:rPr lang="en-US" sz="2100">
                  <a:solidFill>
                    <a:srgbClr val="061313"/>
                  </a:solidFill>
                  <a:latin typeface="Open Sauce"/>
                  <a:ea typeface="Open Sauce"/>
                  <a:cs typeface="Open Sauce"/>
                  <a:sym typeface="Open Sauce"/>
                </a:rPr>
                <a:t>, </a:t>
              </a:r>
              <a:r>
                <a:rPr lang="en-US" sz="2100" i="true">
                  <a:solidFill>
                    <a:srgbClr val="1D7151"/>
                  </a:solidFill>
                  <a:latin typeface="Open Sauce Italics"/>
                  <a:ea typeface="Open Sauce Italics"/>
                  <a:cs typeface="Open Sauce Italics"/>
                  <a:sym typeface="Open Sauce Italics"/>
                </a:rPr>
                <a:t>out</a:t>
              </a:r>
              <a:r>
                <a:rPr lang="en-US" sz="2100">
                  <a:solidFill>
                    <a:srgbClr val="061313"/>
                  </a:solidFill>
                  <a:latin typeface="Open Sauce"/>
                  <a:ea typeface="Open Sauce"/>
                  <a:cs typeface="Open Sauce"/>
                  <a:sym typeface="Open Sauce"/>
                </a:rPr>
                <a:t>, </a:t>
              </a:r>
              <a:r>
                <a:rPr lang="en-US" sz="2100" i="true">
                  <a:solidFill>
                    <a:srgbClr val="1D7151"/>
                  </a:solidFill>
                  <a:latin typeface="Open Sauce Italics"/>
                  <a:ea typeface="Open Sauce Italics"/>
                  <a:cs typeface="Open Sauce Italics"/>
                  <a:sym typeface="Open Sauce Italics"/>
                </a:rPr>
                <a:t>count</a:t>
              </a:r>
              <a:r>
                <a:rPr lang="en-US" sz="2100">
                  <a:solidFill>
                    <a:srgbClr val="061313"/>
                  </a:solidFill>
                  <a:latin typeface="Open Sauce"/>
                  <a:ea typeface="Open Sauce"/>
                  <a:cs typeface="Open Sauce"/>
                  <a:sym typeface="Open Sauce"/>
                </a:rPr>
                <a:t>) sin exclusión mutua, dando resultados inconsistentes.</a:t>
              </a:r>
            </a:p>
            <a:p>
              <a:pPr algn="l">
                <a:lnSpc>
                  <a:spcPts val="3360"/>
                </a:lnSpc>
              </a:pPr>
              <a:r>
                <a:rPr lang="en-US" sz="2100" b="true">
                  <a:solidFill>
                    <a:srgbClr val="061313"/>
                  </a:solidFill>
                  <a:latin typeface="Open Sauce Bold"/>
                  <a:ea typeface="Open Sauce Bold"/>
                  <a:cs typeface="Open Sauce Bold"/>
                  <a:sym typeface="Open Sauce Bold"/>
                </a:rPr>
                <a:t>Deadlock</a:t>
              </a:r>
              <a:r>
                <a:rPr lang="en-US" sz="2100">
                  <a:solidFill>
                    <a:srgbClr val="061313"/>
                  </a:solidFill>
                  <a:latin typeface="Open Sauce"/>
                  <a:ea typeface="Open Sauce"/>
                  <a:cs typeface="Open Sauce"/>
                  <a:sym typeface="Open Sauce"/>
                </a:rPr>
                <a:t>: Productor espera al consumidor y el consumidor espera al productor, ambos bloqueados indefinidamente.</a:t>
              </a:r>
            </a:p>
            <a:p>
              <a:pPr algn="l">
                <a:lnSpc>
                  <a:spcPts val="3360"/>
                </a:lnSpc>
              </a:pPr>
              <a:r>
                <a:rPr lang="en-US" sz="2100" b="true">
                  <a:solidFill>
                    <a:srgbClr val="061313"/>
                  </a:solidFill>
                  <a:latin typeface="Open Sauce Bold"/>
                  <a:ea typeface="Open Sauce Bold"/>
                  <a:cs typeface="Open Sauce Bold"/>
                  <a:sym typeface="Open Sauce Bold"/>
                </a:rPr>
                <a:t>Inanicion</a:t>
              </a:r>
              <a:r>
                <a:rPr lang="en-US" sz="2100">
                  <a:solidFill>
                    <a:srgbClr val="061313"/>
                  </a:solidFill>
                  <a:latin typeface="Open Sauce"/>
                  <a:ea typeface="Open Sauce"/>
                  <a:cs typeface="Open Sauce"/>
                  <a:sym typeface="Open Sauce"/>
                </a:rPr>
                <a:t>: Un hilo nunca progresa porque otros siempre ocupan los recursos.</a:t>
              </a:r>
            </a:p>
            <a:p>
              <a:pPr algn="l">
                <a:lnSpc>
                  <a:spcPts val="3360"/>
                </a:lnSpc>
              </a:pPr>
              <a:r>
                <a:rPr lang="en-US" sz="2100" b="true">
                  <a:solidFill>
                    <a:srgbClr val="061313"/>
                  </a:solidFill>
                  <a:latin typeface="Open Sauce Bold"/>
                  <a:ea typeface="Open Sauce Bold"/>
                  <a:cs typeface="Open Sauce Bold"/>
                  <a:sym typeface="Open Sauce Bold"/>
                </a:rPr>
                <a:t>Espera activa</a:t>
              </a:r>
              <a:r>
                <a:rPr lang="en-US" sz="2100">
                  <a:solidFill>
                    <a:srgbClr val="061313"/>
                  </a:solidFill>
                  <a:latin typeface="Open Sauce"/>
                  <a:ea typeface="Open Sauce"/>
                  <a:cs typeface="Open Sauce"/>
                  <a:sym typeface="Open Sauce"/>
                </a:rPr>
                <a:t>: Usar while simple sin bloqueo consume CPU innecesariamente.</a:t>
              </a:r>
            </a:p>
            <a:p>
              <a:pPr algn="l">
                <a:lnSpc>
                  <a:spcPts val="3360"/>
                </a:lnSpc>
              </a:pPr>
              <a:r>
                <a:rPr lang="en-US" sz="2100" b="true">
                  <a:solidFill>
                    <a:srgbClr val="061313"/>
                  </a:solidFill>
                  <a:latin typeface="Open Sauce Bold"/>
                  <a:ea typeface="Open Sauce Bold"/>
                  <a:cs typeface="Open Sauce Bold"/>
                  <a:sym typeface="Open Sauce Bold"/>
                </a:rPr>
                <a:t>Productor más rápido que consumidor</a:t>
              </a:r>
              <a:r>
                <a:rPr lang="en-US" sz="2100">
                  <a:solidFill>
                    <a:srgbClr val="061313"/>
                  </a:solidFill>
                  <a:latin typeface="Open Sauce"/>
                  <a:ea typeface="Open Sauce"/>
                  <a:cs typeface="Open Sauce"/>
                  <a:sym typeface="Open Sauce"/>
                </a:rPr>
                <a:t>: El buffer se llena y el productor se bloquea; si no hay sincronización de lleno, se pierden datos o se sobreescribe.</a:t>
              </a:r>
            </a:p>
            <a:p>
              <a:pPr algn="l">
                <a:lnSpc>
                  <a:spcPts val="3360"/>
                </a:lnSpc>
              </a:pPr>
              <a:r>
                <a:rPr lang="en-US" sz="2100" b="true">
                  <a:solidFill>
                    <a:srgbClr val="061313"/>
                  </a:solidFill>
                  <a:latin typeface="Open Sauce Bold"/>
                  <a:ea typeface="Open Sauce Bold"/>
                  <a:cs typeface="Open Sauce Bold"/>
                  <a:sym typeface="Open Sauce Bold"/>
                </a:rPr>
                <a:t>Consumidor más rápido que productor</a:t>
              </a:r>
              <a:r>
                <a:rPr lang="en-US" sz="2100">
                  <a:solidFill>
                    <a:srgbClr val="061313"/>
                  </a:solidFill>
                  <a:latin typeface="Open Sauce"/>
                  <a:ea typeface="Open Sauce"/>
                  <a:cs typeface="Open Sauce"/>
                  <a:sym typeface="Open Sauce"/>
                </a:rPr>
                <a:t>: El buffer se vacía y el consumidor intenta leer datos no válidos.</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332697" y="2597202"/>
          <a:ext cx="15034395" cy="5604706"/>
        </p:xfrm>
        <a:graphic>
          <a:graphicData uri="http://schemas.openxmlformats.org/presentationml/2006/ole">
            <p:oleObj imgW="18034000" imgH="8610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Productor-Consumidor con buffer no acotado</a:t>
            </a:r>
          </a:p>
        </p:txBody>
      </p:sp>
      <p:sp>
        <p:nvSpPr>
          <p:cNvPr name="TextBox 4" id="4"/>
          <p:cNvSpPr txBox="true"/>
          <p:nvPr/>
        </p:nvSpPr>
        <p:spPr>
          <a:xfrm rot="0">
            <a:off x="1028700" y="1276316"/>
            <a:ext cx="16230600" cy="1108511"/>
          </a:xfrm>
          <a:prstGeom prst="rect">
            <a:avLst/>
          </a:prstGeom>
        </p:spPr>
        <p:txBody>
          <a:bodyPr anchor="t" rtlCol="false" tIns="0" lIns="0" bIns="0" rIns="0">
            <a:spAutoFit/>
          </a:bodyPr>
          <a:lstStyle/>
          <a:p>
            <a:pPr algn="l">
              <a:lnSpc>
                <a:spcPts val="2940"/>
              </a:lnSpc>
              <a:spcBef>
                <a:spcPct val="0"/>
              </a:spcBef>
            </a:pPr>
            <a:r>
              <a:rPr lang="en-US" b="true" sz="2100">
                <a:solidFill>
                  <a:srgbClr val="000000"/>
                </a:solidFill>
                <a:latin typeface="Open Sauce Bold"/>
                <a:ea typeface="Open Sauce Bold"/>
                <a:cs typeface="Open Sauce Bold"/>
                <a:sym typeface="Open Sauce Bold"/>
              </a:rPr>
              <a:t>Idea</a:t>
            </a:r>
            <a:r>
              <a:rPr lang="en-US" sz="2100">
                <a:solidFill>
                  <a:srgbClr val="000000"/>
                </a:solidFill>
                <a:latin typeface="Open Sauce"/>
                <a:ea typeface="Open Sauce"/>
                <a:cs typeface="Open Sauce"/>
                <a:sym typeface="Open Sauce"/>
              </a:rPr>
              <a:t>: El buffer crece de forma teoricamente ilimitada (por memoria). El productor </a:t>
            </a:r>
            <a:r>
              <a:rPr lang="en-US" b="true" sz="2100">
                <a:solidFill>
                  <a:srgbClr val="000000"/>
                </a:solidFill>
                <a:latin typeface="Open Sauce Bold"/>
                <a:ea typeface="Open Sauce Bold"/>
                <a:cs typeface="Open Sauce Bold"/>
                <a:sym typeface="Open Sauce Bold"/>
              </a:rPr>
              <a:t>nuna se bloquea por falta de espacio</a:t>
            </a:r>
            <a:r>
              <a:rPr lang="en-US" sz="2100">
                <a:solidFill>
                  <a:srgbClr val="000000"/>
                </a:solidFill>
                <a:latin typeface="Open Sauce"/>
                <a:ea typeface="Open Sauce"/>
                <a:cs typeface="Open Sauce"/>
                <a:sym typeface="Open Sauce"/>
              </a:rPr>
              <a:t>, solo necesita exclusión mutua para agregar elementos al buffer. El consumidor sigue necesitando sincronización para no consumir cuando el buffer está vacío.</a:t>
            </a:r>
          </a:p>
        </p:txBody>
      </p:sp>
      <p:grpSp>
        <p:nvGrpSpPr>
          <p:cNvPr name="Group 5" id="5"/>
          <p:cNvGrpSpPr/>
          <p:nvPr/>
        </p:nvGrpSpPr>
        <p:grpSpPr>
          <a:xfrm rot="0">
            <a:off x="1028700" y="6901022"/>
            <a:ext cx="9148005" cy="2831670"/>
            <a:chOff x="0" y="0"/>
            <a:chExt cx="12197341" cy="3775560"/>
          </a:xfrm>
        </p:grpSpPr>
        <p:sp>
          <p:nvSpPr>
            <p:cNvPr name="TextBox 6" id="6"/>
            <p:cNvSpPr txBox="true"/>
            <p:nvPr/>
          </p:nvSpPr>
          <p:spPr>
            <a:xfrm rot="0">
              <a:off x="0" y="-57150"/>
              <a:ext cx="12197341"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a:t>
              </a:r>
            </a:p>
          </p:txBody>
        </p:sp>
        <p:sp>
          <p:nvSpPr>
            <p:cNvPr name="TextBox 7" id="7"/>
            <p:cNvSpPr txBox="true"/>
            <p:nvPr/>
          </p:nvSpPr>
          <p:spPr>
            <a:xfrm rot="0">
              <a:off x="0" y="479805"/>
              <a:ext cx="11843061" cy="3295755"/>
            </a:xfrm>
            <a:prstGeom prst="rect">
              <a:avLst/>
            </a:prstGeom>
          </p:spPr>
          <p:txBody>
            <a:bodyPr anchor="t" rtlCol="false" tIns="0" lIns="0" bIns="0" rIns="0">
              <a:spAutoFit/>
            </a:bodyPr>
            <a:lstStyle/>
            <a:p>
              <a:pPr algn="l">
                <a:lnSpc>
                  <a:spcPts val="3360"/>
                </a:lnSpc>
              </a:pPr>
              <a:r>
                <a:rPr lang="en-US" sz="2100" b="true">
                  <a:solidFill>
                    <a:srgbClr val="061313"/>
                  </a:solidFill>
                  <a:latin typeface="Open Sauce Bold"/>
                  <a:ea typeface="Open Sauce Bold"/>
                  <a:cs typeface="Open Sauce Bold"/>
                  <a:sym typeface="Open Sauce Bold"/>
                </a:rPr>
                <a:t>Agotamiento de memoria: </a:t>
              </a:r>
              <a:r>
                <a:rPr lang="en-US" sz="2100">
                  <a:solidFill>
                    <a:srgbClr val="061313"/>
                  </a:solidFill>
                  <a:latin typeface="Open Sauce"/>
                  <a:ea typeface="Open Sauce"/>
                  <a:cs typeface="Open Sauce"/>
                  <a:sym typeface="Open Sauce"/>
                </a:rPr>
                <a:t>Si el productor produce más rápido de lo que el consumidor puede procesar, la lista crece sin límites y eventualmente el sistema se queda sin memoria.</a:t>
              </a:r>
            </a:p>
            <a:p>
              <a:pPr algn="l">
                <a:lnSpc>
                  <a:spcPts val="3360"/>
                </a:lnSpc>
              </a:pPr>
              <a:r>
                <a:rPr lang="en-US" sz="2100" b="true">
                  <a:solidFill>
                    <a:srgbClr val="061313"/>
                  </a:solidFill>
                  <a:latin typeface="Open Sauce Bold"/>
                  <a:ea typeface="Open Sauce Bold"/>
                  <a:cs typeface="Open Sauce Bold"/>
                  <a:sym typeface="Open Sauce Bold"/>
                </a:rPr>
                <a:t>Falta de control de flujo</a:t>
              </a:r>
              <a:r>
                <a:rPr lang="en-US" sz="2100">
                  <a:solidFill>
                    <a:srgbClr val="061313"/>
                  </a:solidFill>
                  <a:latin typeface="Open Sauce"/>
                  <a:ea typeface="Open Sauce"/>
                  <a:cs typeface="Open Sauce"/>
                  <a:sym typeface="Open Sauce"/>
                </a:rPr>
                <a:t>: No hay mecanismo para ralentizar al productor cuando el buffer el muy grande. En aplicaciones reales esto provoca caídas.</a:t>
              </a:r>
            </a:p>
          </p:txBody>
        </p:sp>
      </p:grpSp>
      <p:sp>
        <p:nvSpPr>
          <p:cNvPr name="TextBox 8" id="8"/>
          <p:cNvSpPr txBox="true"/>
          <p:nvPr/>
        </p:nvSpPr>
        <p:spPr>
          <a:xfrm rot="0">
            <a:off x="1028700" y="2337203"/>
            <a:ext cx="9148005" cy="4451191"/>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Productor</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Crea un nuevo nodo con </a:t>
            </a:r>
            <a:r>
              <a:rPr lang="en-US" sz="2100" i="true">
                <a:solidFill>
                  <a:srgbClr val="1D7151"/>
                </a:solidFill>
                <a:latin typeface="Open Sauce Italics"/>
                <a:ea typeface="Open Sauce Italics"/>
                <a:cs typeface="Open Sauce Italics"/>
                <a:sym typeface="Open Sauce Italics"/>
              </a:rPr>
              <a:t>malloc</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Adquiere </a:t>
            </a:r>
            <a:r>
              <a:rPr lang="en-US" sz="2100" i="true">
                <a:solidFill>
                  <a:srgbClr val="1D7151"/>
                </a:solidFill>
                <a:latin typeface="Open Sauce Italics"/>
                <a:ea typeface="Open Sauce Italics"/>
                <a:cs typeface="Open Sauce Italics"/>
                <a:sym typeface="Open Sauce Italics"/>
              </a:rPr>
              <a:t>sem_mutex</a:t>
            </a:r>
            <a:r>
              <a:rPr lang="en-US" sz="2100">
                <a:solidFill>
                  <a:srgbClr val="000000"/>
                </a:solidFill>
                <a:latin typeface="Open Sauce"/>
                <a:ea typeface="Open Sauce"/>
                <a:cs typeface="Open Sauce"/>
                <a:sym typeface="Open Sauce"/>
              </a:rPr>
              <a:t> para proteger la estructura de la lista.</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Inserta el nodo al final.</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Libera </a:t>
            </a:r>
            <a:r>
              <a:rPr lang="en-US" sz="2100" i="true">
                <a:solidFill>
                  <a:srgbClr val="1D7151"/>
                </a:solidFill>
                <a:latin typeface="Open Sauce Italics"/>
                <a:ea typeface="Open Sauce Italics"/>
                <a:cs typeface="Open Sauce Italics"/>
                <a:sym typeface="Open Sauce Italics"/>
              </a:rPr>
              <a:t>sem_mutex</a:t>
            </a:r>
            <a:r>
              <a:rPr lang="en-US" sz="2100">
                <a:solidFill>
                  <a:srgbClr val="000000"/>
                </a:solidFill>
                <a:latin typeface="Open Sauce"/>
                <a:ea typeface="Open Sauce"/>
                <a:cs typeface="Open Sauce"/>
                <a:sym typeface="Open Sauce"/>
              </a:rPr>
              <a:t> y hace </a:t>
            </a:r>
            <a:r>
              <a:rPr lang="en-US" sz="2100" i="true">
                <a:solidFill>
                  <a:srgbClr val="1D7151"/>
                </a:solidFill>
                <a:latin typeface="Open Sauce Italics"/>
                <a:ea typeface="Open Sauce Italics"/>
                <a:cs typeface="Open Sauce Italics"/>
                <a:sym typeface="Open Sauce Italics"/>
              </a:rPr>
              <a:t>signal(&amp;sem_full)</a:t>
            </a:r>
            <a:r>
              <a:rPr lang="en-US" sz="2100">
                <a:solidFill>
                  <a:srgbClr val="000000"/>
                </a:solidFill>
                <a:latin typeface="Open Sauce"/>
                <a:ea typeface="Open Sauce"/>
                <a:cs typeface="Open Sauce"/>
                <a:sym typeface="Open Sauce"/>
              </a:rPr>
              <a:t> para incrementar el contador de elementos disponibles.</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Nunca espera por </a:t>
            </a:r>
            <a:r>
              <a:rPr lang="en-US" sz="2100" i="true">
                <a:solidFill>
                  <a:srgbClr val="1D7151"/>
                </a:solidFill>
                <a:latin typeface="Open Sauce Italics"/>
                <a:ea typeface="Open Sauce Italics"/>
                <a:cs typeface="Open Sauce Italics"/>
                <a:sym typeface="Open Sauce Italics"/>
              </a:rPr>
              <a:t>empty</a:t>
            </a:r>
            <a:r>
              <a:rPr lang="en-US" sz="2100">
                <a:solidFill>
                  <a:srgbClr val="000000"/>
                </a:solidFill>
                <a:latin typeface="Open Sauce"/>
                <a:ea typeface="Open Sauce"/>
                <a:cs typeface="Open Sauce"/>
                <a:sym typeface="Open Sauce"/>
              </a:rPr>
              <a:t>, porque siempre hay espacio.</a:t>
            </a:r>
          </a:p>
          <a:p>
            <a:pPr algn="l">
              <a:lnSpc>
                <a:spcPts val="2940"/>
              </a:lnSpc>
            </a:pPr>
            <a:r>
              <a:rPr lang="en-US" sz="2100" b="true">
                <a:solidFill>
                  <a:srgbClr val="000000"/>
                </a:solidFill>
                <a:latin typeface="Open Sauce Bold"/>
                <a:ea typeface="Open Sauce Bold"/>
                <a:cs typeface="Open Sauce Bold"/>
                <a:sym typeface="Open Sauce Bold"/>
              </a:rPr>
              <a:t>Consumidor</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Espera en </a:t>
            </a:r>
            <a:r>
              <a:rPr lang="en-US" sz="2100" i="true">
                <a:solidFill>
                  <a:srgbClr val="1D7151"/>
                </a:solidFill>
                <a:latin typeface="Open Sauce Italics"/>
                <a:ea typeface="Open Sauce Italics"/>
                <a:cs typeface="Open Sauce Italics"/>
                <a:sym typeface="Open Sauce Italics"/>
              </a:rPr>
              <a:t>wait(&amp;sem_full)</a:t>
            </a:r>
            <a:r>
              <a:rPr lang="en-US" sz="2100">
                <a:solidFill>
                  <a:srgbClr val="000000"/>
                </a:solidFill>
                <a:latin typeface="Open Sauce"/>
                <a:ea typeface="Open Sauce"/>
                <a:cs typeface="Open Sauce"/>
                <a:sym typeface="Open Sauce"/>
              </a:rPr>
              <a:t> para asegurar que haya al menos un elemento.</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Adquiere </a:t>
            </a:r>
            <a:r>
              <a:rPr lang="en-US" sz="2100" i="true">
                <a:solidFill>
                  <a:srgbClr val="1D7151"/>
                </a:solidFill>
                <a:latin typeface="Open Sauce Italics"/>
                <a:ea typeface="Open Sauce Italics"/>
                <a:cs typeface="Open Sauce Italics"/>
                <a:sym typeface="Open Sauce Italics"/>
              </a:rPr>
              <a:t>sem_mutex</a:t>
            </a:r>
            <a:r>
              <a:rPr lang="en-US" sz="2100">
                <a:solidFill>
                  <a:srgbClr val="000000"/>
                </a:solidFill>
                <a:latin typeface="Open Sauce"/>
                <a:ea typeface="Open Sauce"/>
                <a:cs typeface="Open Sauce"/>
                <a:sym typeface="Open Sauce"/>
              </a:rPr>
              <a:t>, extrae el primer nodo, libera memoria.</a:t>
            </a:r>
          </a:p>
          <a:p>
            <a:pPr algn="l" marL="453392" indent="-226696" lvl="1">
              <a:lnSpc>
                <a:spcPts val="2940"/>
              </a:lnSpc>
              <a:spcBef>
                <a:spcPct val="0"/>
              </a:spcBef>
              <a:buFont typeface="Arial"/>
              <a:buChar char="•"/>
            </a:pPr>
            <a:r>
              <a:rPr lang="en-US" sz="2100">
                <a:solidFill>
                  <a:srgbClr val="000000"/>
                </a:solidFill>
                <a:latin typeface="Open Sauce"/>
                <a:ea typeface="Open Sauce"/>
                <a:cs typeface="Open Sauce"/>
                <a:sym typeface="Open Sauce"/>
              </a:rPr>
              <a:t>Libera </a:t>
            </a:r>
            <a:r>
              <a:rPr lang="en-US" sz="2100" i="true">
                <a:solidFill>
                  <a:srgbClr val="1D7151"/>
                </a:solidFill>
                <a:latin typeface="Open Sauce Italics"/>
                <a:ea typeface="Open Sauce Italics"/>
                <a:cs typeface="Open Sauce Italics"/>
                <a:sym typeface="Open Sauce Italics"/>
              </a:rPr>
              <a:t>sem_mutex </a:t>
            </a:r>
            <a:r>
              <a:rPr lang="en-US" sz="2100">
                <a:solidFill>
                  <a:srgbClr val="000000"/>
                </a:solidFill>
                <a:latin typeface="Open Sauce"/>
                <a:ea typeface="Open Sauce"/>
                <a:cs typeface="Open Sauce"/>
                <a:sym typeface="Open Sauce"/>
              </a:rPr>
              <a:t>y luego consume el dato.</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TextBox 2" id="2"/>
          <p:cNvSpPr txBox="true"/>
          <p:nvPr/>
        </p:nvSpPr>
        <p:spPr>
          <a:xfrm rot="0">
            <a:off x="1028700" y="435900"/>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Productor-Consumidor con buffer acotado</a:t>
            </a:r>
          </a:p>
        </p:txBody>
      </p:sp>
      <p:grpSp>
        <p:nvGrpSpPr>
          <p:cNvPr name="Group 3" id="3"/>
          <p:cNvGrpSpPr/>
          <p:nvPr/>
        </p:nvGrpSpPr>
        <p:grpSpPr>
          <a:xfrm rot="0">
            <a:off x="589630" y="1342466"/>
            <a:ext cx="6185097" cy="4029645"/>
            <a:chOff x="0" y="0"/>
            <a:chExt cx="8246796" cy="5372860"/>
          </a:xfrm>
        </p:grpSpPr>
        <p:sp>
          <p:nvSpPr>
            <p:cNvPr name="Freeform 4" id="4"/>
            <p:cNvSpPr/>
            <p:nvPr/>
          </p:nvSpPr>
          <p:spPr>
            <a:xfrm flipH="false" flipV="false" rot="0">
              <a:off x="0" y="543510"/>
              <a:ext cx="8246796" cy="4829350"/>
            </a:xfrm>
            <a:custGeom>
              <a:avLst/>
              <a:gdLst/>
              <a:ahLst/>
              <a:cxnLst/>
              <a:rect r="r" b="b" t="t" l="l"/>
              <a:pathLst>
                <a:path h="4829350" w="8246796">
                  <a:moveTo>
                    <a:pt x="0" y="0"/>
                  </a:moveTo>
                  <a:lnTo>
                    <a:pt x="8246796" y="0"/>
                  </a:lnTo>
                  <a:lnTo>
                    <a:pt x="8246796" y="4829350"/>
                  </a:lnTo>
                  <a:lnTo>
                    <a:pt x="0" y="4829350"/>
                  </a:lnTo>
                  <a:lnTo>
                    <a:pt x="0" y="0"/>
                  </a:lnTo>
                  <a:close/>
                </a:path>
              </a:pathLst>
            </a:custGeom>
            <a:blipFill>
              <a:blip r:embed="rId2"/>
              <a:stretch>
                <a:fillRect l="0" t="0" r="0" b="0"/>
              </a:stretch>
            </a:blipFill>
          </p:spPr>
        </p:sp>
        <p:sp>
          <p:nvSpPr>
            <p:cNvPr name="TextBox 5" id="5"/>
            <p:cNvSpPr txBox="true"/>
            <p:nvPr/>
          </p:nvSpPr>
          <p:spPr>
            <a:xfrm rot="0">
              <a:off x="0" y="-57150"/>
              <a:ext cx="8246796"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grpSp>
      <p:grpSp>
        <p:nvGrpSpPr>
          <p:cNvPr name="Group 6" id="6"/>
          <p:cNvGrpSpPr/>
          <p:nvPr/>
        </p:nvGrpSpPr>
        <p:grpSpPr>
          <a:xfrm rot="0">
            <a:off x="589630" y="5526601"/>
            <a:ext cx="6185097" cy="4429251"/>
            <a:chOff x="0" y="0"/>
            <a:chExt cx="8246796" cy="5905668"/>
          </a:xfrm>
        </p:grpSpPr>
        <p:sp>
          <p:nvSpPr>
            <p:cNvPr name="Freeform 7" id="7"/>
            <p:cNvSpPr/>
            <p:nvPr/>
          </p:nvSpPr>
          <p:spPr>
            <a:xfrm flipH="false" flipV="false" rot="0">
              <a:off x="0" y="565530"/>
              <a:ext cx="8246796" cy="5340139"/>
            </a:xfrm>
            <a:custGeom>
              <a:avLst/>
              <a:gdLst/>
              <a:ahLst/>
              <a:cxnLst/>
              <a:rect r="r" b="b" t="t" l="l"/>
              <a:pathLst>
                <a:path h="5340139" w="8246796">
                  <a:moveTo>
                    <a:pt x="0" y="0"/>
                  </a:moveTo>
                  <a:lnTo>
                    <a:pt x="8246796" y="0"/>
                  </a:lnTo>
                  <a:lnTo>
                    <a:pt x="8246796" y="5340138"/>
                  </a:lnTo>
                  <a:lnTo>
                    <a:pt x="0" y="5340138"/>
                  </a:lnTo>
                  <a:lnTo>
                    <a:pt x="0" y="0"/>
                  </a:lnTo>
                  <a:close/>
                </a:path>
              </a:pathLst>
            </a:custGeom>
            <a:blipFill>
              <a:blip r:embed="rId3"/>
              <a:stretch>
                <a:fillRect l="0" t="0" r="0" b="0"/>
              </a:stretch>
            </a:blipFill>
          </p:spPr>
        </p:sp>
        <p:sp>
          <p:nvSpPr>
            <p:cNvPr name="TextBox 8" id="8"/>
            <p:cNvSpPr txBox="true"/>
            <p:nvPr/>
          </p:nvSpPr>
          <p:spPr>
            <a:xfrm rot="0">
              <a:off x="0" y="-57150"/>
              <a:ext cx="8246796"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Main</a:t>
              </a:r>
            </a:p>
          </p:txBody>
        </p:sp>
      </p:grpSp>
      <p:grpSp>
        <p:nvGrpSpPr>
          <p:cNvPr name="Group 9" id="9"/>
          <p:cNvGrpSpPr/>
          <p:nvPr/>
        </p:nvGrpSpPr>
        <p:grpSpPr>
          <a:xfrm rot="0">
            <a:off x="6990258" y="1342466"/>
            <a:ext cx="5699812" cy="6964915"/>
            <a:chOff x="0" y="0"/>
            <a:chExt cx="7599750" cy="9286554"/>
          </a:xfrm>
        </p:grpSpPr>
        <p:sp>
          <p:nvSpPr>
            <p:cNvPr name="Freeform 10" id="10"/>
            <p:cNvSpPr/>
            <p:nvPr/>
          </p:nvSpPr>
          <p:spPr>
            <a:xfrm flipH="false" flipV="false" rot="0">
              <a:off x="0" y="565530"/>
              <a:ext cx="7599750" cy="8721024"/>
            </a:xfrm>
            <a:custGeom>
              <a:avLst/>
              <a:gdLst/>
              <a:ahLst/>
              <a:cxnLst/>
              <a:rect r="r" b="b" t="t" l="l"/>
              <a:pathLst>
                <a:path h="8721024" w="7599750">
                  <a:moveTo>
                    <a:pt x="0" y="0"/>
                  </a:moveTo>
                  <a:lnTo>
                    <a:pt x="7599750" y="0"/>
                  </a:lnTo>
                  <a:lnTo>
                    <a:pt x="7599750" y="8721024"/>
                  </a:lnTo>
                  <a:lnTo>
                    <a:pt x="0" y="8721024"/>
                  </a:lnTo>
                  <a:lnTo>
                    <a:pt x="0" y="0"/>
                  </a:lnTo>
                  <a:close/>
                </a:path>
              </a:pathLst>
            </a:custGeom>
            <a:blipFill>
              <a:blip r:embed="rId4"/>
              <a:stretch>
                <a:fillRect l="0" t="0" r="0" b="0"/>
              </a:stretch>
            </a:blipFill>
          </p:spPr>
        </p:sp>
        <p:sp>
          <p:nvSpPr>
            <p:cNvPr name="TextBox 11" id="11"/>
            <p:cNvSpPr txBox="true"/>
            <p:nvPr/>
          </p:nvSpPr>
          <p:spPr>
            <a:xfrm rot="0">
              <a:off x="0" y="-57150"/>
              <a:ext cx="7599750" cy="622680"/>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Implementación</a:t>
              </a:r>
            </a:p>
          </p:txBody>
        </p:sp>
      </p:grpSp>
      <p:sp>
        <p:nvSpPr>
          <p:cNvPr name="TextBox 12" id="12"/>
          <p:cNvSpPr txBox="true"/>
          <p:nvPr/>
        </p:nvSpPr>
        <p:spPr>
          <a:xfrm rot="0">
            <a:off x="12909145" y="1730526"/>
            <a:ext cx="4954593" cy="7422462"/>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Estado inicial</a:t>
            </a:r>
            <a:r>
              <a:rPr lang="en-US" sz="2100">
                <a:solidFill>
                  <a:srgbClr val="000000"/>
                </a:solidFill>
                <a:latin typeface="Open Sauce"/>
                <a:ea typeface="Open Sauce"/>
                <a:cs typeface="Open Sauce"/>
                <a:sym typeface="Open Sauce"/>
              </a:rPr>
              <a:t>: Se producen 10 ítems. vacio = 0 (Buffer lleno), lleno = 10, mutex = 1</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Productor se bloquea: Ejecuta wait(vacío) al querer insertar el ítem 11. Entonces espera.</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El consumidor entra, ejecuta wait(lleno) y pasa a 0. Luego ejecuta wait(mutex) y pasa a 0.</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El Consumidor extrae un ítem, ejecuta signal(mutex) y pasa a 1. Luego ejecuta signal(vacio) y vacio pasa a 1.</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El productor se desbloquea.</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El productor se reanuda, toma el mutex, inserta el ítem. Libera el mutex y ejecuta signal(lleno): lleno pasa a 10</a:t>
            </a:r>
          </a:p>
          <a:p>
            <a:pPr algn="l" marL="453392" indent="-226696" lvl="1">
              <a:lnSpc>
                <a:spcPts val="2940"/>
              </a:lnSpc>
              <a:spcBef>
                <a:spcPct val="0"/>
              </a:spcBef>
              <a:buAutoNum type="arabicPeriod" startAt="1"/>
            </a:pPr>
            <a:r>
              <a:rPr lang="en-US" sz="2100">
                <a:solidFill>
                  <a:srgbClr val="000000"/>
                </a:solidFill>
                <a:latin typeface="Open Sauce"/>
                <a:ea typeface="Open Sauce"/>
                <a:cs typeface="Open Sauce"/>
                <a:sym typeface="Open Sauce"/>
              </a:rPr>
              <a:t>Se restablece el equilibrio sin interbloqueo</a:t>
            </a:r>
          </a:p>
        </p:txBody>
      </p:sp>
      <p:sp>
        <p:nvSpPr>
          <p:cNvPr name="TextBox 13" id="13"/>
          <p:cNvSpPr txBox="true"/>
          <p:nvPr/>
        </p:nvSpPr>
        <p:spPr>
          <a:xfrm rot="0">
            <a:off x="12909145" y="1296854"/>
            <a:ext cx="4954593"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361056" y="1778151"/>
            <a:ext cx="7337109" cy="2736079"/>
          </a:xfrm>
          <a:custGeom>
            <a:avLst/>
            <a:gdLst/>
            <a:ahLst/>
            <a:cxnLst/>
            <a:rect r="r" b="b" t="t" l="l"/>
            <a:pathLst>
              <a:path h="2736079" w="7337109">
                <a:moveTo>
                  <a:pt x="0" y="0"/>
                </a:moveTo>
                <a:lnTo>
                  <a:pt x="7337110" y="0"/>
                </a:lnTo>
                <a:lnTo>
                  <a:pt x="7337110" y="2736080"/>
                </a:lnTo>
                <a:lnTo>
                  <a:pt x="0" y="2736080"/>
                </a:lnTo>
                <a:lnTo>
                  <a:pt x="0" y="0"/>
                </a:lnTo>
                <a:close/>
              </a:path>
            </a:pathLst>
          </a:custGeom>
          <a:blipFill>
            <a:blip r:embed="rId2"/>
            <a:stretch>
              <a:fillRect l="0" t="0" r="0" b="0"/>
            </a:stretch>
          </a:blipFill>
        </p:spPr>
      </p:sp>
      <p:sp>
        <p:nvSpPr>
          <p:cNvPr name="Freeform 3" id="3"/>
          <p:cNvSpPr/>
          <p:nvPr/>
        </p:nvSpPr>
        <p:spPr>
          <a:xfrm flipH="false" flipV="false" rot="0">
            <a:off x="361056" y="4640664"/>
            <a:ext cx="6035803" cy="5412270"/>
          </a:xfrm>
          <a:custGeom>
            <a:avLst/>
            <a:gdLst/>
            <a:ahLst/>
            <a:cxnLst/>
            <a:rect r="r" b="b" t="t" l="l"/>
            <a:pathLst>
              <a:path h="5412270" w="6035803">
                <a:moveTo>
                  <a:pt x="0" y="0"/>
                </a:moveTo>
                <a:lnTo>
                  <a:pt x="6035803" y="0"/>
                </a:lnTo>
                <a:lnTo>
                  <a:pt x="6035803" y="5412270"/>
                </a:lnTo>
                <a:lnTo>
                  <a:pt x="0" y="5412270"/>
                </a:lnTo>
                <a:lnTo>
                  <a:pt x="0" y="0"/>
                </a:lnTo>
                <a:close/>
              </a:path>
            </a:pathLst>
          </a:custGeom>
          <a:blipFill>
            <a:blip r:embed="rId3"/>
            <a:stretch>
              <a:fillRect l="0" t="0" r="0" b="0"/>
            </a:stretch>
          </a:blipFill>
        </p:spPr>
      </p:sp>
      <p:sp>
        <p:nvSpPr>
          <p:cNvPr name="Freeform 4" id="4"/>
          <p:cNvSpPr/>
          <p:nvPr/>
        </p:nvSpPr>
        <p:spPr>
          <a:xfrm flipH="false" flipV="false" rot="0">
            <a:off x="6540900" y="4640664"/>
            <a:ext cx="7101735" cy="5412270"/>
          </a:xfrm>
          <a:custGeom>
            <a:avLst/>
            <a:gdLst/>
            <a:ahLst/>
            <a:cxnLst/>
            <a:rect r="r" b="b" t="t" l="l"/>
            <a:pathLst>
              <a:path h="5412270" w="7101735">
                <a:moveTo>
                  <a:pt x="0" y="0"/>
                </a:moveTo>
                <a:lnTo>
                  <a:pt x="7101735" y="0"/>
                </a:lnTo>
                <a:lnTo>
                  <a:pt x="7101735" y="5412270"/>
                </a:lnTo>
                <a:lnTo>
                  <a:pt x="0" y="5412270"/>
                </a:lnTo>
                <a:lnTo>
                  <a:pt x="0" y="0"/>
                </a:lnTo>
                <a:close/>
              </a:path>
            </a:pathLst>
          </a:custGeom>
          <a:blipFill>
            <a:blip r:embed="rId4"/>
            <a:stretch>
              <a:fillRect l="0" t="0" r="0" b="0"/>
            </a:stretch>
          </a:blipFill>
        </p:spPr>
      </p:sp>
      <p:sp>
        <p:nvSpPr>
          <p:cNvPr name="TextBox 5" id="5"/>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Productor-Consumidor buffer no acotado</a:t>
            </a:r>
          </a:p>
        </p:txBody>
      </p:sp>
      <p:sp>
        <p:nvSpPr>
          <p:cNvPr name="TextBox 6" id="6"/>
          <p:cNvSpPr txBox="true"/>
          <p:nvPr/>
        </p:nvSpPr>
        <p:spPr>
          <a:xfrm rot="0">
            <a:off x="7885720" y="1730526"/>
            <a:ext cx="9978018" cy="2594147"/>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Estado inicial</a:t>
            </a:r>
            <a:r>
              <a:rPr lang="en-US" sz="2100">
                <a:solidFill>
                  <a:srgbClr val="000000"/>
                </a:solidFill>
                <a:latin typeface="Open Sauce"/>
                <a:ea typeface="Open Sauce"/>
                <a:cs typeface="Open Sauce"/>
                <a:sym typeface="Open Sauce"/>
              </a:rPr>
              <a:t>: El consumidor aún no ha empezado (muy lento), lleno = 10, mutex = 1.</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El productor produce el ítem 11 sin bloqueo previo.</a:t>
            </a:r>
          </a:p>
          <a:p>
            <a:pPr algn="l" marL="906783" indent="-302261" lvl="2">
              <a:lnSpc>
                <a:spcPts val="2940"/>
              </a:lnSpc>
              <a:buAutoNum type="alphaLcPeriod" startAt="1"/>
            </a:pPr>
            <a:r>
              <a:rPr lang="en-US" sz="2100">
                <a:solidFill>
                  <a:srgbClr val="000000"/>
                </a:solidFill>
                <a:latin typeface="Open Sauce"/>
                <a:ea typeface="Open Sauce"/>
                <a:cs typeface="Open Sauce"/>
                <a:sym typeface="Open Sauce"/>
              </a:rPr>
              <a:t>Adquiere mutex con wait(&amp;mutex) e inserta ítem 11 al final de la lista. </a:t>
            </a:r>
          </a:p>
          <a:p>
            <a:pPr algn="l" marL="906783" indent="-302261" lvl="2">
              <a:lnSpc>
                <a:spcPts val="2940"/>
              </a:lnSpc>
              <a:buAutoNum type="alphaLcPeriod" startAt="1"/>
            </a:pPr>
            <a:r>
              <a:rPr lang="en-US" sz="2100">
                <a:solidFill>
                  <a:srgbClr val="000000"/>
                </a:solidFill>
                <a:latin typeface="Open Sauce"/>
                <a:ea typeface="Open Sauce"/>
                <a:cs typeface="Open Sauce"/>
                <a:sym typeface="Open Sauce"/>
              </a:rPr>
              <a:t>Luego libera el mutex signal(&amp;mutex) y signal(&amp;lleno); lleno = 11.</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Consumidor empieza a ejecutarse: se quiere consumir un ítem</a:t>
            </a:r>
          </a:p>
          <a:p>
            <a:pPr algn="l" marL="906783" indent="-302261" lvl="2">
              <a:lnSpc>
                <a:spcPts val="2940"/>
              </a:lnSpc>
              <a:spcBef>
                <a:spcPct val="0"/>
              </a:spcBef>
              <a:buAutoNum type="alphaLcPeriod" startAt="1"/>
            </a:pPr>
            <a:r>
              <a:rPr lang="en-US" sz="2100">
                <a:solidFill>
                  <a:srgbClr val="000000"/>
                </a:solidFill>
                <a:latin typeface="Open Sauce"/>
                <a:ea typeface="Open Sauce"/>
                <a:cs typeface="Open Sauce"/>
                <a:sym typeface="Open Sauce"/>
              </a:rPr>
              <a:t>wait(&amp;lleno) decrementa 11 → 10</a:t>
            </a:r>
          </a:p>
        </p:txBody>
      </p:sp>
      <p:sp>
        <p:nvSpPr>
          <p:cNvPr name="TextBox 7" id="7"/>
          <p:cNvSpPr txBox="true"/>
          <p:nvPr/>
        </p:nvSpPr>
        <p:spPr>
          <a:xfrm rot="0">
            <a:off x="7885720" y="1296854"/>
            <a:ext cx="9978018"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8" id="8"/>
          <p:cNvSpPr txBox="true"/>
          <p:nvPr/>
        </p:nvSpPr>
        <p:spPr>
          <a:xfrm rot="0">
            <a:off x="1552314" y="1296854"/>
            <a:ext cx="4954593" cy="481297"/>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sp>
        <p:nvSpPr>
          <p:cNvPr name="TextBox 9" id="9"/>
          <p:cNvSpPr txBox="true"/>
          <p:nvPr/>
        </p:nvSpPr>
        <p:spPr>
          <a:xfrm rot="0">
            <a:off x="13785510" y="4305624"/>
            <a:ext cx="3890673" cy="3708374"/>
          </a:xfrm>
          <a:prstGeom prst="rect">
            <a:avLst/>
          </a:prstGeom>
        </p:spPr>
        <p:txBody>
          <a:bodyPr anchor="t" rtlCol="false" tIns="0" lIns="0" bIns="0" rIns="0">
            <a:spAutoFit/>
          </a:bodyPr>
          <a:lstStyle/>
          <a:p>
            <a:pPr algn="l">
              <a:lnSpc>
                <a:spcPts val="2940"/>
              </a:lnSpc>
            </a:pPr>
            <a:r>
              <a:rPr lang="en-US" sz="2100">
                <a:solidFill>
                  <a:srgbClr val="000000"/>
                </a:solidFill>
                <a:latin typeface="Open Sauce"/>
                <a:ea typeface="Open Sauce"/>
                <a:cs typeface="Open Sauce"/>
                <a:sym typeface="Open Sauce"/>
              </a:rPr>
              <a:t>      b. wait(&amp;mutex) adquiere mutex, extrae el ítem y head avanza</a:t>
            </a:r>
          </a:p>
          <a:p>
            <a:pPr algn="l">
              <a:lnSpc>
                <a:spcPts val="2940"/>
              </a:lnSpc>
            </a:pPr>
            <a:r>
              <a:rPr lang="en-US" sz="2100">
                <a:solidFill>
                  <a:srgbClr val="000000"/>
                </a:solidFill>
                <a:latin typeface="Open Sauce"/>
                <a:ea typeface="Open Sauce"/>
                <a:cs typeface="Open Sauce"/>
                <a:sym typeface="Open Sauce"/>
              </a:rPr>
              <a:t>      c. Libera el mutex signal(&amp;mutex) y consume el ítem.</a:t>
            </a:r>
          </a:p>
          <a:p>
            <a:pPr algn="l" marL="453392" indent="-226696" lvl="1">
              <a:lnSpc>
                <a:spcPts val="2940"/>
              </a:lnSpc>
              <a:spcBef>
                <a:spcPct val="0"/>
              </a:spcBef>
              <a:buAutoNum type="arabicPeriod" startAt="1"/>
            </a:pPr>
            <a:r>
              <a:rPr lang="en-US" sz="2100">
                <a:solidFill>
                  <a:srgbClr val="000000"/>
                </a:solidFill>
                <a:latin typeface="Open Sauce"/>
                <a:ea typeface="Open Sauce"/>
                <a:cs typeface="Open Sauce"/>
                <a:sym typeface="Open Sauce"/>
              </a:rPr>
              <a:t>El buffer tiene 10 elementos, no hay hilos bloqueados, ambos pueden continuar.</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F2EDDB"/>
        </a:solidFill>
      </p:bgPr>
    </p:bg>
    <p:spTree>
      <p:nvGrpSpPr>
        <p:cNvPr id="1" name=""/>
        <p:cNvGrpSpPr/>
        <p:nvPr/>
      </p:nvGrpSpPr>
      <p:grpSpPr>
        <a:xfrm>
          <a:off x="0" y="0"/>
          <a:ext cx="0" cy="0"/>
          <a:chOff x="0" y="0"/>
          <a:chExt cx="0" cy="0"/>
        </a:xfrm>
      </p:grpSpPr>
      <p:sp>
        <p:nvSpPr>
          <p:cNvPr name="TextBox 2" id="2"/>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Lectores y Escritores</a:t>
            </a:r>
          </a:p>
        </p:txBody>
      </p:sp>
      <p:sp>
        <p:nvSpPr>
          <p:cNvPr name="TextBox 3" id="3"/>
          <p:cNvSpPr txBox="true"/>
          <p:nvPr/>
        </p:nvSpPr>
        <p:spPr>
          <a:xfrm rot="0">
            <a:off x="1028700" y="1488390"/>
            <a:ext cx="11566191" cy="1851846"/>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Idea</a:t>
            </a:r>
            <a:r>
              <a:rPr lang="en-US" sz="2100">
                <a:solidFill>
                  <a:srgbClr val="000000"/>
                </a:solidFill>
                <a:latin typeface="Open Sauce"/>
                <a:ea typeface="Open Sauce"/>
                <a:cs typeface="Open Sauce"/>
                <a:sym typeface="Open Sauce"/>
              </a:rPr>
              <a:t>: Es un problema donde múltiples hilos comparten un recurso (ej. una base de datos) con diferentes modos de acceso:</a:t>
            </a:r>
          </a:p>
          <a:p>
            <a:pPr algn="l" marL="453392" indent="-226696" lvl="1">
              <a:lnSpc>
                <a:spcPts val="2940"/>
              </a:lnSpc>
              <a:buFont typeface="Arial"/>
              <a:buChar char="•"/>
            </a:pPr>
            <a:r>
              <a:rPr lang="en-US" b="true" sz="2100">
                <a:solidFill>
                  <a:srgbClr val="000000"/>
                </a:solidFill>
                <a:latin typeface="Open Sauce Bold"/>
                <a:ea typeface="Open Sauce Bold"/>
                <a:cs typeface="Open Sauce Bold"/>
                <a:sym typeface="Open Sauce Bold"/>
              </a:rPr>
              <a:t>Lectores</a:t>
            </a:r>
            <a:r>
              <a:rPr lang="en-US" sz="2100">
                <a:solidFill>
                  <a:srgbClr val="000000"/>
                </a:solidFill>
                <a:latin typeface="Open Sauce"/>
                <a:ea typeface="Open Sauce"/>
                <a:cs typeface="Open Sauce"/>
                <a:sym typeface="Open Sauce"/>
              </a:rPr>
              <a:t>: solo leen el recurso. Pueden acceder simultáneamente (varios lectores)</a:t>
            </a:r>
          </a:p>
          <a:p>
            <a:pPr algn="l" marL="453392" indent="-226696" lvl="1">
              <a:lnSpc>
                <a:spcPts val="2940"/>
              </a:lnSpc>
              <a:spcBef>
                <a:spcPct val="0"/>
              </a:spcBef>
              <a:buFont typeface="Arial"/>
              <a:buChar char="•"/>
            </a:pPr>
            <a:r>
              <a:rPr lang="en-US" b="true" sz="2100">
                <a:solidFill>
                  <a:srgbClr val="000000"/>
                </a:solidFill>
                <a:latin typeface="Open Sauce Bold"/>
                <a:ea typeface="Open Sauce Bold"/>
                <a:cs typeface="Open Sauce Bold"/>
                <a:sym typeface="Open Sauce Bold"/>
              </a:rPr>
              <a:t>Escritores</a:t>
            </a:r>
            <a:r>
              <a:rPr lang="en-US" sz="2100">
                <a:solidFill>
                  <a:srgbClr val="000000"/>
                </a:solidFill>
                <a:latin typeface="Open Sauce"/>
                <a:ea typeface="Open Sauce"/>
                <a:cs typeface="Open Sauce"/>
                <a:sym typeface="Open Sauce"/>
              </a:rPr>
              <a:t>: Modifican el recurso. Deben tener acceso exclusivo (ni lectores ni otros escritores).</a:t>
            </a:r>
          </a:p>
        </p:txBody>
      </p:sp>
      <p:sp>
        <p:nvSpPr>
          <p:cNvPr name="TextBox 4" id="4"/>
          <p:cNvSpPr txBox="true"/>
          <p:nvPr/>
        </p:nvSpPr>
        <p:spPr>
          <a:xfrm rot="0">
            <a:off x="1028700" y="7009285"/>
            <a:ext cx="8946894" cy="2594870"/>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Lógica del lector</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Incrementa </a:t>
            </a:r>
            <a:r>
              <a:rPr lang="en-US" sz="2100" i="true">
                <a:solidFill>
                  <a:srgbClr val="1D7151"/>
                </a:solidFill>
                <a:latin typeface="Open Sauce Italics"/>
                <a:ea typeface="Open Sauce Italics"/>
                <a:cs typeface="Open Sauce Italics"/>
                <a:sym typeface="Open Sauce Italics"/>
              </a:rPr>
              <a:t>lectores_activos</a:t>
            </a:r>
            <a:r>
              <a:rPr lang="en-US" sz="2100">
                <a:solidFill>
                  <a:srgbClr val="000000"/>
                </a:solidFill>
                <a:latin typeface="Open Sauce"/>
                <a:ea typeface="Open Sauce"/>
                <a:cs typeface="Open Sauce"/>
                <a:sym typeface="Open Sauce"/>
              </a:rPr>
              <a:t> bajo mutex.</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 es el primer lector, bloquea recurso (para que ningún escritor entre).</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Lee el recurso.</a:t>
            </a:r>
          </a:p>
          <a:p>
            <a:pPr algn="l" marL="453392" indent="-226696" lvl="1">
              <a:lnSpc>
                <a:spcPts val="2940"/>
              </a:lnSpc>
              <a:spcBef>
                <a:spcPct val="0"/>
              </a:spcBef>
              <a:buFont typeface="Arial"/>
              <a:buChar char="•"/>
            </a:pPr>
            <a:r>
              <a:rPr lang="en-US" sz="2100">
                <a:solidFill>
                  <a:srgbClr val="000000"/>
                </a:solidFill>
                <a:latin typeface="Open Sauce"/>
                <a:ea typeface="Open Sauce"/>
                <a:cs typeface="Open Sauce"/>
                <a:sym typeface="Open Sauce"/>
              </a:rPr>
              <a:t>Al salir, decrementa </a:t>
            </a:r>
            <a:r>
              <a:rPr lang="en-US" sz="2100" i="true">
                <a:solidFill>
                  <a:srgbClr val="1D7151"/>
                </a:solidFill>
                <a:latin typeface="Open Sauce Italics"/>
                <a:ea typeface="Open Sauce Italics"/>
                <a:cs typeface="Open Sauce Italics"/>
                <a:sym typeface="Open Sauce Italics"/>
              </a:rPr>
              <a:t>lectores_activos</a:t>
            </a:r>
            <a:r>
              <a:rPr lang="en-US" sz="2100">
                <a:solidFill>
                  <a:srgbClr val="000000"/>
                </a:solidFill>
                <a:latin typeface="Open Sauce"/>
                <a:ea typeface="Open Sauce"/>
                <a:cs typeface="Open Sauce"/>
                <a:sym typeface="Open Sauce"/>
              </a:rPr>
              <a:t>. Si es el último, libera recurso.</a:t>
            </a:r>
          </a:p>
        </p:txBody>
      </p:sp>
      <p:sp>
        <p:nvSpPr>
          <p:cNvPr name="TextBox 5" id="5"/>
          <p:cNvSpPr txBox="true"/>
          <p:nvPr/>
        </p:nvSpPr>
        <p:spPr>
          <a:xfrm rot="0">
            <a:off x="10086484" y="4247709"/>
            <a:ext cx="7638337" cy="1851846"/>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Lógica del Escritor</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Simplemente espera un </a:t>
            </a:r>
            <a:r>
              <a:rPr lang="en-US" sz="2100" i="true">
                <a:solidFill>
                  <a:srgbClr val="1D7151"/>
                </a:solidFill>
                <a:latin typeface="Open Sauce Italics"/>
                <a:ea typeface="Open Sauce Italics"/>
                <a:cs typeface="Open Sauce Italics"/>
                <a:sym typeface="Open Sauce Italics"/>
              </a:rPr>
              <a:t>recurso </a:t>
            </a:r>
            <a:r>
              <a:rPr lang="en-US" sz="2100">
                <a:solidFill>
                  <a:srgbClr val="000000"/>
                </a:solidFill>
                <a:latin typeface="Open Sauce"/>
                <a:ea typeface="Open Sauce"/>
                <a:cs typeface="Open Sauce"/>
                <a:sym typeface="Open Sauce"/>
              </a:rPr>
              <a:t>(que puede estar bloqueado por lectores o por otro escritor).</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Escribe.</a:t>
            </a:r>
          </a:p>
          <a:p>
            <a:pPr algn="l" marL="453392" indent="-226696" lvl="1">
              <a:lnSpc>
                <a:spcPts val="2940"/>
              </a:lnSpc>
              <a:spcBef>
                <a:spcPct val="0"/>
              </a:spcBef>
              <a:buFont typeface="Arial"/>
              <a:buChar char="•"/>
            </a:pPr>
            <a:r>
              <a:rPr lang="en-US" sz="2100">
                <a:solidFill>
                  <a:srgbClr val="000000"/>
                </a:solidFill>
                <a:latin typeface="Open Sauce"/>
                <a:ea typeface="Open Sauce"/>
                <a:cs typeface="Open Sauce"/>
                <a:sym typeface="Open Sauce"/>
              </a:rPr>
              <a:t>Libera </a:t>
            </a:r>
            <a:r>
              <a:rPr lang="en-US" sz="2100" i="true">
                <a:solidFill>
                  <a:srgbClr val="1D7151"/>
                </a:solidFill>
                <a:latin typeface="Open Sauce Italics"/>
                <a:ea typeface="Open Sauce Italics"/>
                <a:cs typeface="Open Sauce Italics"/>
                <a:sym typeface="Open Sauce Italics"/>
              </a:rPr>
              <a:t>recurso</a:t>
            </a:r>
            <a:r>
              <a:rPr lang="en-US" sz="2100">
                <a:solidFill>
                  <a:srgbClr val="000000"/>
                </a:solidFill>
                <a:latin typeface="Open Sauce"/>
                <a:ea typeface="Open Sauce"/>
                <a:cs typeface="Open Sauce"/>
                <a:sym typeface="Open Sauce"/>
              </a:rPr>
              <a:t>.</a:t>
            </a:r>
          </a:p>
        </p:txBody>
      </p:sp>
      <p:sp>
        <p:nvSpPr>
          <p:cNvPr name="TextBox 6" id="6"/>
          <p:cNvSpPr txBox="true"/>
          <p:nvPr/>
        </p:nvSpPr>
        <p:spPr>
          <a:xfrm rot="0">
            <a:off x="12826904" y="1700464"/>
            <a:ext cx="4897917" cy="2594870"/>
          </a:xfrm>
          <a:prstGeom prst="rect">
            <a:avLst/>
          </a:prstGeom>
        </p:spPr>
        <p:txBody>
          <a:bodyPr anchor="t" rtlCol="false" tIns="0" lIns="0" bIns="0" rIns="0">
            <a:spAutoFit/>
          </a:bodyPr>
          <a:lstStyle/>
          <a:p>
            <a:pPr algn="l" marL="453392" indent="-226696" lvl="1">
              <a:lnSpc>
                <a:spcPts val="2940"/>
              </a:lnSpc>
              <a:buFont typeface="Arial"/>
              <a:buChar char="•"/>
            </a:pPr>
            <a:r>
              <a:rPr lang="en-US" sz="2100" i="true">
                <a:solidFill>
                  <a:srgbClr val="1D7151"/>
                </a:solidFill>
                <a:latin typeface="Open Sauce Italics"/>
                <a:ea typeface="Open Sauce Italics"/>
                <a:cs typeface="Open Sauce Italics"/>
                <a:sym typeface="Open Sauce Italics"/>
              </a:rPr>
              <a:t>lectores_activos</a:t>
            </a:r>
            <a:r>
              <a:rPr lang="en-US" sz="2100">
                <a:solidFill>
                  <a:srgbClr val="000000"/>
                </a:solidFill>
                <a:latin typeface="Open Sauce"/>
                <a:ea typeface="Open Sauce"/>
                <a:cs typeface="Open Sauce"/>
                <a:sym typeface="Open Sauce"/>
              </a:rPr>
              <a:t>: Cuántos lectores están leyendo actualmente.</a:t>
            </a:r>
          </a:p>
          <a:p>
            <a:pPr algn="l" marL="453392" indent="-226696" lvl="1">
              <a:lnSpc>
                <a:spcPts val="2940"/>
              </a:lnSpc>
              <a:buFont typeface="Arial"/>
              <a:buChar char="•"/>
            </a:pPr>
            <a:r>
              <a:rPr lang="en-US" sz="2100" i="true">
                <a:solidFill>
                  <a:srgbClr val="1D7151"/>
                </a:solidFill>
                <a:latin typeface="Open Sauce Italics"/>
                <a:ea typeface="Open Sauce Italics"/>
                <a:cs typeface="Open Sauce Italics"/>
                <a:sym typeface="Open Sauce Italics"/>
              </a:rPr>
              <a:t>mutex_lectores</a:t>
            </a:r>
            <a:r>
              <a:rPr lang="en-US" sz="2100">
                <a:solidFill>
                  <a:srgbClr val="000000"/>
                </a:solidFill>
                <a:latin typeface="Open Sauce"/>
                <a:ea typeface="Open Sauce"/>
                <a:cs typeface="Open Sauce"/>
                <a:sym typeface="Open Sauce"/>
              </a:rPr>
              <a:t>: Protege el contador lectores activos</a:t>
            </a:r>
          </a:p>
          <a:p>
            <a:pPr algn="l" marL="453392" indent="-226696" lvl="1">
              <a:lnSpc>
                <a:spcPts val="2940"/>
              </a:lnSpc>
              <a:spcBef>
                <a:spcPct val="0"/>
              </a:spcBef>
              <a:buFont typeface="Arial"/>
              <a:buChar char="•"/>
            </a:pPr>
            <a:r>
              <a:rPr lang="en-US" sz="2100" i="true">
                <a:solidFill>
                  <a:srgbClr val="1D7151"/>
                </a:solidFill>
                <a:latin typeface="Open Sauce Italics"/>
                <a:ea typeface="Open Sauce Italics"/>
                <a:cs typeface="Open Sauce Italics"/>
                <a:sym typeface="Open Sauce Italics"/>
              </a:rPr>
              <a:t>recurso</a:t>
            </a:r>
            <a:r>
              <a:rPr lang="en-US" sz="2100">
                <a:solidFill>
                  <a:srgbClr val="000000"/>
                </a:solidFill>
                <a:latin typeface="Open Sauce"/>
                <a:ea typeface="Open Sauce"/>
                <a:cs typeface="Open Sauce"/>
                <a:sym typeface="Open Sauce"/>
              </a:rPr>
              <a:t>: semáforo binario que controla el acceso al recurso (1 = libre, 0 = ocupado)</a:t>
            </a:r>
          </a:p>
        </p:txBody>
      </p:sp>
      <p:sp>
        <p:nvSpPr>
          <p:cNvPr name="TextBox 7" id="7"/>
          <p:cNvSpPr txBox="true"/>
          <p:nvPr/>
        </p:nvSpPr>
        <p:spPr>
          <a:xfrm rot="0">
            <a:off x="12826904" y="1266791"/>
            <a:ext cx="4897917" cy="481256"/>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Variables</a:t>
            </a:r>
          </a:p>
        </p:txBody>
      </p:sp>
      <p:grpSp>
        <p:nvGrpSpPr>
          <p:cNvPr name="Group 8" id="8"/>
          <p:cNvGrpSpPr/>
          <p:nvPr/>
        </p:nvGrpSpPr>
        <p:grpSpPr>
          <a:xfrm rot="0">
            <a:off x="10086484" y="6197158"/>
            <a:ext cx="7638337" cy="3342905"/>
            <a:chOff x="0" y="0"/>
            <a:chExt cx="10184449" cy="4457206"/>
          </a:xfrm>
        </p:grpSpPr>
        <p:sp>
          <p:nvSpPr>
            <p:cNvPr name="TextBox 9" id="9"/>
            <p:cNvSpPr txBox="true"/>
            <p:nvPr/>
          </p:nvSpPr>
          <p:spPr>
            <a:xfrm rot="0">
              <a:off x="0" y="517905"/>
              <a:ext cx="10184449" cy="3939302"/>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Inanición de escritores</a:t>
              </a:r>
              <a:r>
                <a:rPr lang="en-US" sz="2100">
                  <a:solidFill>
                    <a:srgbClr val="000000"/>
                  </a:solidFill>
                  <a:latin typeface="Open Sauce"/>
                  <a:ea typeface="Open Sauce"/>
                  <a:cs typeface="Open Sauce"/>
                  <a:sym typeface="Open Sauce"/>
                </a:rPr>
                <a:t>: Si llegan lectores continuamente, los escritores nunca escriben.</a:t>
              </a:r>
            </a:p>
            <a:p>
              <a:pPr algn="l">
                <a:lnSpc>
                  <a:spcPts val="2940"/>
                </a:lnSpc>
              </a:pPr>
              <a:r>
                <a:rPr lang="en-US" sz="2100" b="true">
                  <a:solidFill>
                    <a:srgbClr val="000000"/>
                  </a:solidFill>
                  <a:latin typeface="Open Sauce Bold"/>
                  <a:ea typeface="Open Sauce Bold"/>
                  <a:cs typeface="Open Sauce Bold"/>
                  <a:sym typeface="Open Sauce Bold"/>
                </a:rPr>
                <a:t>Condiciones de carrera</a:t>
              </a:r>
              <a:r>
                <a:rPr lang="en-US" sz="2100">
                  <a:solidFill>
                    <a:srgbClr val="000000"/>
                  </a:solidFill>
                  <a:latin typeface="Open Sauce"/>
                  <a:ea typeface="Open Sauce"/>
                  <a:cs typeface="Open Sauce"/>
                  <a:sym typeface="Open Sauce"/>
                </a:rPr>
                <a:t>: Sin mutex_lectores, dos lectores podrían modificar lectores_activos simultaneamente.</a:t>
              </a:r>
            </a:p>
            <a:p>
              <a:pPr algn="l">
                <a:lnSpc>
                  <a:spcPts val="2940"/>
                </a:lnSpc>
              </a:pPr>
              <a:r>
                <a:rPr lang="en-US" sz="2100" b="true">
                  <a:solidFill>
                    <a:srgbClr val="000000"/>
                  </a:solidFill>
                  <a:latin typeface="Open Sauce Bold"/>
                  <a:ea typeface="Open Sauce Bold"/>
                  <a:cs typeface="Open Sauce Bold"/>
                  <a:sym typeface="Open Sauce Bold"/>
                </a:rPr>
                <a:t>Deadlock</a:t>
              </a:r>
              <a:r>
                <a:rPr lang="en-US" sz="2100">
                  <a:solidFill>
                    <a:srgbClr val="000000"/>
                  </a:solidFill>
                  <a:latin typeface="Open Sauce"/>
                  <a:ea typeface="Open Sauce"/>
                  <a:cs typeface="Open Sauce"/>
                  <a:sym typeface="Open Sauce"/>
                </a:rPr>
                <a:t>: Si un escritor espera recurso y un lector espera algo que tiene el escritor tiene.</a:t>
              </a:r>
            </a:p>
            <a:p>
              <a:pPr algn="l">
                <a:lnSpc>
                  <a:spcPts val="2940"/>
                </a:lnSpc>
                <a:spcBef>
                  <a:spcPct val="0"/>
                </a:spcBef>
              </a:pPr>
              <a:r>
                <a:rPr lang="en-US" b="true" sz="2100">
                  <a:solidFill>
                    <a:srgbClr val="000000"/>
                  </a:solidFill>
                  <a:latin typeface="Open Sauce Bold"/>
                  <a:ea typeface="Open Sauce Bold"/>
                  <a:cs typeface="Open Sauce Bold"/>
                  <a:sym typeface="Open Sauce Bold"/>
                </a:rPr>
                <a:t>Sobrecarga de sincronización</a:t>
              </a:r>
              <a:r>
                <a:rPr lang="en-US" sz="2100">
                  <a:solidFill>
                    <a:srgbClr val="000000"/>
                  </a:solidFill>
                  <a:latin typeface="Open Sauce"/>
                  <a:ea typeface="Open Sauce"/>
                  <a:cs typeface="Open Sauce"/>
                  <a:sym typeface="Open Sauce"/>
                </a:rPr>
                <a:t>: Muchos semáforos pueden ralentizar el sistema.</a:t>
              </a:r>
            </a:p>
          </p:txBody>
        </p:sp>
        <p:sp>
          <p:nvSpPr>
            <p:cNvPr name="TextBox 10" id="10"/>
            <p:cNvSpPr txBox="true"/>
            <p:nvPr/>
          </p:nvSpPr>
          <p:spPr>
            <a:xfrm rot="0">
              <a:off x="0" y="-57150"/>
              <a:ext cx="10184449" cy="622624"/>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 (prioridad lectores)</a:t>
              </a:r>
            </a:p>
          </p:txBody>
        </p:sp>
      </p:grpSp>
      <p:sp>
        <p:nvSpPr>
          <p:cNvPr name="TextBox 11" id="11"/>
          <p:cNvSpPr txBox="true"/>
          <p:nvPr/>
        </p:nvSpPr>
        <p:spPr>
          <a:xfrm rot="0">
            <a:off x="1028700" y="3318928"/>
            <a:ext cx="8946894" cy="3709407"/>
          </a:xfrm>
          <a:prstGeom prst="rect">
            <a:avLst/>
          </a:prstGeom>
        </p:spPr>
        <p:txBody>
          <a:bodyPr anchor="t" rtlCol="false" tIns="0" lIns="0" bIns="0" rIns="0">
            <a:spAutoFit/>
          </a:bodyPr>
          <a:lstStyle/>
          <a:p>
            <a:pPr algn="l">
              <a:lnSpc>
                <a:spcPts val="2940"/>
              </a:lnSpc>
            </a:pPr>
            <a:r>
              <a:rPr lang="en-US" sz="2100">
                <a:solidFill>
                  <a:srgbClr val="000000"/>
                </a:solidFill>
                <a:latin typeface="Open Sauce"/>
                <a:ea typeface="Open Sauce"/>
                <a:cs typeface="Open Sauce"/>
                <a:sym typeface="Open Sauce"/>
              </a:rPr>
              <a:t>Variantes:</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Prioridad lectores</a:t>
            </a:r>
            <a:r>
              <a:rPr lang="en-US" sz="2100">
                <a:solidFill>
                  <a:srgbClr val="000000"/>
                </a:solidFill>
                <a:latin typeface="Open Sauce"/>
                <a:ea typeface="Open Sauce"/>
                <a:cs typeface="Open Sauce"/>
                <a:sym typeface="Open Sauce"/>
              </a:rPr>
              <a:t>: Si hay lectores, los escritores esperan. </a:t>
            </a:r>
            <a:r>
              <a:rPr lang="en-US" b="true" sz="2100">
                <a:solidFill>
                  <a:srgbClr val="1D7151"/>
                </a:solidFill>
                <a:latin typeface="Open Sauce Bold"/>
                <a:ea typeface="Open Sauce Bold"/>
                <a:cs typeface="Open Sauce Bold"/>
                <a:sym typeface="Open Sauce Bold"/>
              </a:rPr>
              <a:t>¡Nuestra Solución!</a:t>
            </a:r>
          </a:p>
          <a:p>
            <a:pPr algn="l" marL="906783" indent="-302261" lvl="2">
              <a:lnSpc>
                <a:spcPts val="2940"/>
              </a:lnSpc>
              <a:buAutoNum type="alphaLcPeriod" startAt="1"/>
            </a:pPr>
            <a:r>
              <a:rPr lang="en-US" sz="2100">
                <a:solidFill>
                  <a:srgbClr val="000000"/>
                </a:solidFill>
                <a:latin typeface="Open Sauce"/>
                <a:ea typeface="Open Sauce"/>
                <a:cs typeface="Open Sauce"/>
                <a:sym typeface="Open Sauce"/>
              </a:rPr>
              <a:t>Problema: los escritores pueden morir de inanición si llegan muchos lectores.</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Prioridad escritores</a:t>
            </a:r>
            <a:r>
              <a:rPr lang="en-US" sz="2100">
                <a:solidFill>
                  <a:srgbClr val="000000"/>
                </a:solidFill>
                <a:latin typeface="Open Sauce"/>
                <a:ea typeface="Open Sauce"/>
                <a:cs typeface="Open Sauce"/>
                <a:sym typeface="Open Sauce"/>
              </a:rPr>
              <a:t>: Los nuevos lectores esperan si hay escritores esperando.</a:t>
            </a:r>
          </a:p>
          <a:p>
            <a:pPr algn="l" marL="906783" indent="-302261" lvl="2">
              <a:lnSpc>
                <a:spcPts val="2940"/>
              </a:lnSpc>
              <a:buAutoNum type="alphaLcPeriod" startAt="1"/>
            </a:pPr>
            <a:r>
              <a:rPr lang="en-US" sz="2100">
                <a:solidFill>
                  <a:srgbClr val="000000"/>
                </a:solidFill>
                <a:latin typeface="Open Sauce"/>
                <a:ea typeface="Open Sauce"/>
                <a:cs typeface="Open Sauce"/>
                <a:sym typeface="Open Sauce"/>
              </a:rPr>
              <a:t>Problema: Los lectores pueden morir de inanición.</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Justa</a:t>
            </a:r>
            <a:r>
              <a:rPr lang="en-US" sz="2100">
                <a:solidFill>
                  <a:srgbClr val="000000"/>
                </a:solidFill>
                <a:latin typeface="Open Sauce"/>
                <a:ea typeface="Open Sauce"/>
                <a:cs typeface="Open Sauce"/>
                <a:sym typeface="Open Sauce"/>
              </a:rPr>
              <a:t>: Se atiende por orden de llegada (FIFO).</a:t>
            </a:r>
          </a:p>
          <a:p>
            <a:pPr algn="l" marL="906783" indent="-302261" lvl="2">
              <a:lnSpc>
                <a:spcPts val="2940"/>
              </a:lnSpc>
              <a:spcBef>
                <a:spcPct val="0"/>
              </a:spcBef>
              <a:buAutoNum type="alphaLcPeriod" startAt="1"/>
            </a:pPr>
            <a:r>
              <a:rPr lang="en-US" sz="2100">
                <a:solidFill>
                  <a:srgbClr val="000000"/>
                </a:solidFill>
                <a:latin typeface="Open Sauce"/>
                <a:ea typeface="Open Sauce"/>
                <a:cs typeface="Open Sauce"/>
                <a:sym typeface="Open Sauce"/>
              </a:rPr>
              <a:t>Problema: Más compleja de implementar.</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TextBox 2" id="2"/>
          <p:cNvSpPr txBox="true"/>
          <p:nvPr/>
        </p:nvSpPr>
        <p:spPr>
          <a:xfrm rot="0">
            <a:off x="1028700" y="479941"/>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Lectores y Escritores</a:t>
            </a:r>
          </a:p>
        </p:txBody>
      </p:sp>
      <p:sp>
        <p:nvSpPr>
          <p:cNvPr name="Freeform 3" id="3"/>
          <p:cNvSpPr/>
          <p:nvPr/>
        </p:nvSpPr>
        <p:spPr>
          <a:xfrm flipH="false" flipV="false" rot="0">
            <a:off x="7868389" y="4116452"/>
            <a:ext cx="6446306" cy="5950436"/>
          </a:xfrm>
          <a:custGeom>
            <a:avLst/>
            <a:gdLst/>
            <a:ahLst/>
            <a:cxnLst/>
            <a:rect r="r" b="b" t="t" l="l"/>
            <a:pathLst>
              <a:path h="5950436" w="6446306">
                <a:moveTo>
                  <a:pt x="0" y="0"/>
                </a:moveTo>
                <a:lnTo>
                  <a:pt x="6446306" y="0"/>
                </a:lnTo>
                <a:lnTo>
                  <a:pt x="6446306" y="5950436"/>
                </a:lnTo>
                <a:lnTo>
                  <a:pt x="0" y="5950436"/>
                </a:lnTo>
                <a:lnTo>
                  <a:pt x="0" y="0"/>
                </a:lnTo>
                <a:close/>
              </a:path>
            </a:pathLst>
          </a:custGeom>
          <a:blipFill>
            <a:blip r:embed="rId2"/>
            <a:stretch>
              <a:fillRect l="0" t="0" r="0" b="0"/>
            </a:stretch>
          </a:blipFill>
        </p:spPr>
      </p:sp>
      <p:grpSp>
        <p:nvGrpSpPr>
          <p:cNvPr name="Group 4" id="4"/>
          <p:cNvGrpSpPr/>
          <p:nvPr/>
        </p:nvGrpSpPr>
        <p:grpSpPr>
          <a:xfrm rot="0">
            <a:off x="499782" y="1329808"/>
            <a:ext cx="7368607" cy="2262769"/>
            <a:chOff x="0" y="0"/>
            <a:chExt cx="9824810" cy="3017025"/>
          </a:xfrm>
        </p:grpSpPr>
        <p:sp>
          <p:nvSpPr>
            <p:cNvPr name="Freeform 5" id="5"/>
            <p:cNvSpPr/>
            <p:nvPr/>
          </p:nvSpPr>
          <p:spPr>
            <a:xfrm flipH="false" flipV="false" rot="0">
              <a:off x="0" y="519749"/>
              <a:ext cx="9824810" cy="2497276"/>
            </a:xfrm>
            <a:custGeom>
              <a:avLst/>
              <a:gdLst/>
              <a:ahLst/>
              <a:cxnLst/>
              <a:rect r="r" b="b" t="t" l="l"/>
              <a:pathLst>
                <a:path h="2497276" w="9824810">
                  <a:moveTo>
                    <a:pt x="0" y="0"/>
                  </a:moveTo>
                  <a:lnTo>
                    <a:pt x="9824810" y="0"/>
                  </a:lnTo>
                  <a:lnTo>
                    <a:pt x="9824810" y="2497276"/>
                  </a:lnTo>
                  <a:lnTo>
                    <a:pt x="0" y="2497276"/>
                  </a:lnTo>
                  <a:lnTo>
                    <a:pt x="0" y="0"/>
                  </a:lnTo>
                  <a:close/>
                </a:path>
              </a:pathLst>
            </a:custGeom>
            <a:blipFill>
              <a:blip r:embed="rId3"/>
              <a:stretch>
                <a:fillRect l="0" t="0" r="0" b="0"/>
              </a:stretch>
            </a:blipFill>
          </p:spPr>
        </p:sp>
        <p:sp>
          <p:nvSpPr>
            <p:cNvPr name="TextBox 6" id="6"/>
            <p:cNvSpPr txBox="true"/>
            <p:nvPr/>
          </p:nvSpPr>
          <p:spPr>
            <a:xfrm rot="0">
              <a:off x="1994661" y="-47625"/>
              <a:ext cx="5835488" cy="567374"/>
            </a:xfrm>
            <a:prstGeom prst="rect">
              <a:avLst/>
            </a:prstGeom>
          </p:spPr>
          <p:txBody>
            <a:bodyPr anchor="t" rtlCol="false" tIns="0" lIns="0" bIns="0" rIns="0">
              <a:spAutoFit/>
            </a:bodyPr>
            <a:lstStyle/>
            <a:p>
              <a:pPr algn="ctr">
                <a:lnSpc>
                  <a:spcPts val="3603"/>
                </a:lnSpc>
              </a:pPr>
              <a:r>
                <a:rPr lang="en-US" sz="2573">
                  <a:solidFill>
                    <a:srgbClr val="1D7151"/>
                  </a:solidFill>
                  <a:latin typeface="TAN Mon Cheri"/>
                  <a:ea typeface="TAN Mon Cheri"/>
                  <a:cs typeface="TAN Mon Cheri"/>
                  <a:sym typeface="TAN Mon Cheri"/>
                </a:rPr>
                <a:t>Cabecera</a:t>
              </a:r>
            </a:p>
          </p:txBody>
        </p:sp>
      </p:grpSp>
      <p:grpSp>
        <p:nvGrpSpPr>
          <p:cNvPr name="Group 7" id="7"/>
          <p:cNvGrpSpPr/>
          <p:nvPr/>
        </p:nvGrpSpPr>
        <p:grpSpPr>
          <a:xfrm rot="0">
            <a:off x="499782" y="3858321"/>
            <a:ext cx="7260807" cy="4989295"/>
            <a:chOff x="0" y="0"/>
            <a:chExt cx="9681076" cy="6652393"/>
          </a:xfrm>
        </p:grpSpPr>
        <p:sp>
          <p:nvSpPr>
            <p:cNvPr name="Freeform 8" id="8"/>
            <p:cNvSpPr/>
            <p:nvPr/>
          </p:nvSpPr>
          <p:spPr>
            <a:xfrm flipH="false" flipV="false" rot="0">
              <a:off x="0" y="531650"/>
              <a:ext cx="9681076" cy="6120743"/>
            </a:xfrm>
            <a:custGeom>
              <a:avLst/>
              <a:gdLst/>
              <a:ahLst/>
              <a:cxnLst/>
              <a:rect r="r" b="b" t="t" l="l"/>
              <a:pathLst>
                <a:path h="6120743" w="9681076">
                  <a:moveTo>
                    <a:pt x="0" y="0"/>
                  </a:moveTo>
                  <a:lnTo>
                    <a:pt x="9681076" y="0"/>
                  </a:lnTo>
                  <a:lnTo>
                    <a:pt x="9681076" y="6120743"/>
                  </a:lnTo>
                  <a:lnTo>
                    <a:pt x="0" y="6120743"/>
                  </a:lnTo>
                  <a:lnTo>
                    <a:pt x="0" y="0"/>
                  </a:lnTo>
                  <a:close/>
                </a:path>
              </a:pathLst>
            </a:custGeom>
            <a:blipFill>
              <a:blip r:embed="rId4"/>
              <a:stretch>
                <a:fillRect l="0" t="0" r="0" b="0"/>
              </a:stretch>
            </a:blipFill>
          </p:spPr>
        </p:sp>
        <p:sp>
          <p:nvSpPr>
            <p:cNvPr name="TextBox 9" id="9"/>
            <p:cNvSpPr txBox="true"/>
            <p:nvPr/>
          </p:nvSpPr>
          <p:spPr>
            <a:xfrm rot="0">
              <a:off x="1965479" y="-57150"/>
              <a:ext cx="5750117" cy="569295"/>
            </a:xfrm>
            <a:prstGeom prst="rect">
              <a:avLst/>
            </a:prstGeom>
          </p:spPr>
          <p:txBody>
            <a:bodyPr anchor="t" rtlCol="false" tIns="0" lIns="0" bIns="0" rIns="0">
              <a:spAutoFit/>
            </a:bodyPr>
            <a:lstStyle/>
            <a:p>
              <a:pPr algn="ctr">
                <a:lnSpc>
                  <a:spcPts val="3550"/>
                </a:lnSpc>
              </a:pPr>
              <a:r>
                <a:rPr lang="en-US" sz="2535">
                  <a:solidFill>
                    <a:srgbClr val="1D7151"/>
                  </a:solidFill>
                  <a:latin typeface="TAN Mon Cheri"/>
                  <a:ea typeface="TAN Mon Cheri"/>
                  <a:cs typeface="TAN Mon Cheri"/>
                  <a:sym typeface="TAN Mon Cheri"/>
                </a:rPr>
                <a:t>Implementación</a:t>
              </a:r>
            </a:p>
          </p:txBody>
        </p:sp>
      </p:grpSp>
      <p:sp>
        <p:nvSpPr>
          <p:cNvPr name="TextBox 10" id="10"/>
          <p:cNvSpPr txBox="true"/>
          <p:nvPr/>
        </p:nvSpPr>
        <p:spPr>
          <a:xfrm rot="0">
            <a:off x="10645782" y="1272658"/>
            <a:ext cx="4761653" cy="481256"/>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Cabecera</a:t>
            </a:r>
          </a:p>
        </p:txBody>
      </p:sp>
      <p:sp>
        <p:nvSpPr>
          <p:cNvPr name="TextBox 11" id="11"/>
          <p:cNvSpPr txBox="true"/>
          <p:nvPr/>
        </p:nvSpPr>
        <p:spPr>
          <a:xfrm rot="0">
            <a:off x="8009280" y="1706289"/>
            <a:ext cx="8718653" cy="2223358"/>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Estado inicial: </a:t>
            </a:r>
            <a:r>
              <a:rPr lang="en-US" sz="2100">
                <a:solidFill>
                  <a:srgbClr val="000000"/>
                </a:solidFill>
                <a:latin typeface="Open Sauce"/>
                <a:ea typeface="Open Sauce"/>
                <a:cs typeface="Open Sauce"/>
                <a:sym typeface="Open Sauce"/>
              </a:rPr>
              <a:t>datos = 0, lectores_activos = 0, mutex_lectores = 1, recurso = 1; </a:t>
            </a:r>
            <a:r>
              <a:rPr lang="en-US" sz="2100" b="true">
                <a:solidFill>
                  <a:srgbClr val="000000"/>
                </a:solidFill>
                <a:latin typeface="Open Sauce Bold"/>
                <a:ea typeface="Open Sauce Bold"/>
                <a:cs typeface="Open Sauce Bold"/>
                <a:sym typeface="Open Sauce Bold"/>
              </a:rPr>
              <a:t>Llega</a:t>
            </a:r>
            <a:r>
              <a:rPr lang="en-US" sz="2100">
                <a:solidFill>
                  <a:srgbClr val="000000"/>
                </a:solidFill>
                <a:latin typeface="Open Sauce"/>
                <a:ea typeface="Open Sauce"/>
                <a:cs typeface="Open Sauce"/>
                <a:sym typeface="Open Sauce"/>
              </a:rPr>
              <a:t>: Lector0 → Escritor0 → Lector1</a:t>
            </a:r>
          </a:p>
          <a:p>
            <a:pPr algn="l" marL="453392" indent="-226696" lvl="1">
              <a:lnSpc>
                <a:spcPts val="2940"/>
              </a:lnSpc>
              <a:spcBef>
                <a:spcPct val="0"/>
              </a:spcBef>
              <a:buAutoNum type="arabicPeriod" startAt="1"/>
            </a:pPr>
            <a:r>
              <a:rPr lang="en-US" sz="2100">
                <a:solidFill>
                  <a:srgbClr val="000000"/>
                </a:solidFill>
                <a:latin typeface="Open Sauce"/>
                <a:ea typeface="Open Sauce"/>
                <a:cs typeface="Open Sauce"/>
                <a:sym typeface="Open Sauce"/>
              </a:rPr>
              <a:t>L0 entra: adquiere el mutex </a:t>
            </a:r>
            <a:r>
              <a:rPr lang="en-US" sz="2100" i="true">
                <a:solidFill>
                  <a:srgbClr val="1D7151"/>
                </a:solidFill>
                <a:latin typeface="Open Sauce Italics"/>
                <a:ea typeface="Open Sauce Italics"/>
                <a:cs typeface="Open Sauce Italics"/>
                <a:sym typeface="Open Sauce Italics"/>
              </a:rPr>
              <a:t>wait(&amp;mutex_lectores)</a:t>
            </a:r>
            <a:r>
              <a:rPr lang="en-US" sz="2100">
                <a:solidFill>
                  <a:srgbClr val="000000"/>
                </a:solidFill>
                <a:latin typeface="Open Sauce"/>
                <a:ea typeface="Open Sauce"/>
                <a:cs typeface="Open Sauce"/>
                <a:sym typeface="Open Sauce"/>
              </a:rPr>
              <a:t> y lectores_activos = 1, bloquea el recurso </a:t>
            </a:r>
            <a:r>
              <a:rPr lang="en-US" sz="2100" i="true">
                <a:solidFill>
                  <a:srgbClr val="1D7151"/>
                </a:solidFill>
                <a:latin typeface="Open Sauce Italics"/>
                <a:ea typeface="Open Sauce Italics"/>
                <a:cs typeface="Open Sauce Italics"/>
                <a:sym typeface="Open Sauce Italics"/>
              </a:rPr>
              <a:t>if(lectores_activos == 1) wait(&amp;recurso)</a:t>
            </a:r>
            <a:r>
              <a:rPr lang="en-US" sz="2100">
                <a:solidFill>
                  <a:srgbClr val="000000"/>
                </a:solidFill>
                <a:latin typeface="Open Sauce"/>
                <a:ea typeface="Open Sauce"/>
                <a:cs typeface="Open Sauce"/>
                <a:sym typeface="Open Sauce"/>
              </a:rPr>
              <a:t>, libera el mutex </a:t>
            </a:r>
            <a:r>
              <a:rPr lang="en-US" sz="2100" i="true">
                <a:solidFill>
                  <a:srgbClr val="1D7151"/>
                </a:solidFill>
                <a:latin typeface="Open Sauce Italics"/>
                <a:ea typeface="Open Sauce Italics"/>
                <a:cs typeface="Open Sauce Italics"/>
                <a:sym typeface="Open Sauce Italics"/>
              </a:rPr>
              <a:t>signal (&amp;mutex_lectores) </a:t>
            </a:r>
            <a:r>
              <a:rPr lang="en-US" sz="2100">
                <a:solidFill>
                  <a:srgbClr val="061313"/>
                </a:solidFill>
                <a:latin typeface="Open Sauce"/>
                <a:ea typeface="Open Sauce"/>
                <a:cs typeface="Open Sauce"/>
                <a:sym typeface="Open Sauce"/>
              </a:rPr>
              <a:t>y entra en SC para leer dato = 0.</a:t>
            </a:r>
          </a:p>
        </p:txBody>
      </p:sp>
      <p:sp>
        <p:nvSpPr>
          <p:cNvPr name="TextBox 12" id="12"/>
          <p:cNvSpPr txBox="true"/>
          <p:nvPr/>
        </p:nvSpPr>
        <p:spPr>
          <a:xfrm rot="0">
            <a:off x="14419470" y="4068827"/>
            <a:ext cx="3349094" cy="5566968"/>
          </a:xfrm>
          <a:prstGeom prst="rect">
            <a:avLst/>
          </a:prstGeom>
        </p:spPr>
        <p:txBody>
          <a:bodyPr anchor="t" rtlCol="false" tIns="0" lIns="0" bIns="0" rIns="0">
            <a:spAutoFit/>
          </a:bodyPr>
          <a:lstStyle/>
          <a:p>
            <a:pPr algn="l" marL="453390" indent="-226695" lvl="1">
              <a:lnSpc>
                <a:spcPts val="2940"/>
              </a:lnSpc>
              <a:buAutoNum type="arabicPeriod" startAt="1"/>
            </a:pPr>
            <a:r>
              <a:rPr lang="en-US" sz="2100">
                <a:solidFill>
                  <a:srgbClr val="000000"/>
                </a:solidFill>
                <a:latin typeface="Open Sauce"/>
                <a:ea typeface="Open Sauce"/>
                <a:cs typeface="Open Sauce"/>
                <a:sym typeface="Open Sauce"/>
              </a:rPr>
              <a:t>E0 espera (</a:t>
            </a:r>
            <a:r>
              <a:rPr lang="en-US" sz="2100" i="true">
                <a:solidFill>
                  <a:srgbClr val="1D7151"/>
                </a:solidFill>
                <a:latin typeface="Open Sauce Italics"/>
                <a:ea typeface="Open Sauce Italics"/>
                <a:cs typeface="Open Sauce Italics"/>
                <a:sym typeface="Open Sauce Italics"/>
              </a:rPr>
              <a:t>recurso</a:t>
            </a:r>
            <a:r>
              <a:rPr lang="en-US" sz="2100">
                <a:solidFill>
                  <a:srgbClr val="000000"/>
                </a:solidFill>
                <a:latin typeface="Open Sauce"/>
                <a:ea typeface="Open Sauce"/>
                <a:cs typeface="Open Sauce"/>
                <a:sym typeface="Open Sauce"/>
              </a:rPr>
              <a:t>=0)</a:t>
            </a:r>
          </a:p>
          <a:p>
            <a:pPr algn="l" marL="453390" indent="-226695" lvl="1">
              <a:lnSpc>
                <a:spcPts val="2940"/>
              </a:lnSpc>
              <a:buAutoNum type="arabicPeriod" startAt="1"/>
            </a:pPr>
            <a:r>
              <a:rPr lang="en-US" sz="2100">
                <a:solidFill>
                  <a:srgbClr val="000000"/>
                </a:solidFill>
                <a:latin typeface="Open Sauce"/>
                <a:ea typeface="Open Sauce"/>
                <a:cs typeface="Open Sauce"/>
                <a:sym typeface="Open Sauce"/>
              </a:rPr>
              <a:t>L1 entra: (misma operaciones de L0) </a:t>
            </a:r>
            <a:r>
              <a:rPr lang="en-US" sz="2100" i="true">
                <a:solidFill>
                  <a:srgbClr val="1D7151"/>
                </a:solidFill>
                <a:latin typeface="Open Sauce Italics"/>
                <a:ea typeface="Open Sauce Italics"/>
                <a:cs typeface="Open Sauce Italics"/>
                <a:sym typeface="Open Sauce Italics"/>
              </a:rPr>
              <a:t>lectores_activos</a:t>
            </a:r>
            <a:r>
              <a:rPr lang="en-US" sz="2100">
                <a:solidFill>
                  <a:srgbClr val="000000"/>
                </a:solidFill>
                <a:latin typeface="Open Sauce"/>
                <a:ea typeface="Open Sauce"/>
                <a:cs typeface="Open Sauce"/>
                <a:sym typeface="Open Sauce"/>
              </a:rPr>
              <a:t> = 2. Lee </a:t>
            </a:r>
            <a:r>
              <a:rPr lang="en-US" b="true" sz="2100">
                <a:solidFill>
                  <a:srgbClr val="000000"/>
                </a:solidFill>
                <a:latin typeface="Open Sauce Bold"/>
                <a:ea typeface="Open Sauce Bold"/>
                <a:cs typeface="Open Sauce Bold"/>
                <a:sym typeface="Open Sauce Bold"/>
              </a:rPr>
              <a:t>datos = 0</a:t>
            </a:r>
            <a:r>
              <a:rPr lang="en-US" sz="2100">
                <a:solidFill>
                  <a:srgbClr val="000000"/>
                </a:solidFill>
                <a:latin typeface="Open Sauce"/>
                <a:ea typeface="Open Sauce"/>
                <a:cs typeface="Open Sauce"/>
                <a:sym typeface="Open Sauce"/>
              </a:rPr>
              <a:t>.</a:t>
            </a:r>
          </a:p>
          <a:p>
            <a:pPr algn="l" marL="453390" indent="-226695" lvl="1">
              <a:lnSpc>
                <a:spcPts val="2940"/>
              </a:lnSpc>
              <a:buAutoNum type="arabicPeriod" startAt="1"/>
            </a:pPr>
            <a:r>
              <a:rPr lang="en-US" sz="2100">
                <a:solidFill>
                  <a:srgbClr val="000000"/>
                </a:solidFill>
                <a:latin typeface="Open Sauce"/>
                <a:ea typeface="Open Sauce"/>
                <a:cs typeface="Open Sauce"/>
                <a:sym typeface="Open Sauce"/>
              </a:rPr>
              <a:t> L0 termina lectura y </a:t>
            </a:r>
            <a:r>
              <a:rPr lang="en-US" sz="2100" i="true">
                <a:solidFill>
                  <a:srgbClr val="1D7151"/>
                </a:solidFill>
                <a:latin typeface="Open Sauce Italics"/>
                <a:ea typeface="Open Sauce Italics"/>
                <a:cs typeface="Open Sauce Italics"/>
                <a:sym typeface="Open Sauce Italics"/>
              </a:rPr>
              <a:t>lectores_activos</a:t>
            </a:r>
            <a:r>
              <a:rPr lang="en-US" sz="2100">
                <a:solidFill>
                  <a:srgbClr val="000000"/>
                </a:solidFill>
                <a:latin typeface="Open Sauce"/>
                <a:ea typeface="Open Sauce"/>
                <a:cs typeface="Open Sauce"/>
                <a:sym typeface="Open Sauce"/>
              </a:rPr>
              <a:t> = 1.</a:t>
            </a:r>
          </a:p>
          <a:p>
            <a:pPr algn="l" marL="453390" indent="-226695" lvl="1">
              <a:lnSpc>
                <a:spcPts val="2940"/>
              </a:lnSpc>
              <a:buAutoNum type="arabicPeriod" startAt="1"/>
            </a:pPr>
            <a:r>
              <a:rPr lang="en-US" sz="2100">
                <a:solidFill>
                  <a:srgbClr val="000000"/>
                </a:solidFill>
                <a:latin typeface="Open Sauce"/>
                <a:ea typeface="Open Sauce"/>
                <a:cs typeface="Open Sauce"/>
                <a:sym typeface="Open Sauce"/>
              </a:rPr>
              <a:t>L1 termina lectura → </a:t>
            </a:r>
            <a:r>
              <a:rPr lang="en-US" sz="2100" i="true">
                <a:solidFill>
                  <a:srgbClr val="1D7151"/>
                </a:solidFill>
                <a:latin typeface="Open Sauce Italics"/>
                <a:ea typeface="Open Sauce Italics"/>
                <a:cs typeface="Open Sauce Italics"/>
                <a:sym typeface="Open Sauce Italics"/>
              </a:rPr>
              <a:t>lectores_activos</a:t>
            </a:r>
            <a:r>
              <a:rPr lang="en-US" sz="2100">
                <a:solidFill>
                  <a:srgbClr val="000000"/>
                </a:solidFill>
                <a:latin typeface="Open Sauce"/>
                <a:ea typeface="Open Sauce"/>
                <a:cs typeface="Open Sauce"/>
                <a:sym typeface="Open Sauce"/>
              </a:rPr>
              <a:t> = 0 y puede </a:t>
            </a:r>
            <a:r>
              <a:rPr lang="en-US" b="true" sz="2100">
                <a:solidFill>
                  <a:srgbClr val="000000"/>
                </a:solidFill>
                <a:latin typeface="Open Sauce Bold"/>
                <a:ea typeface="Open Sauce Bold"/>
                <a:cs typeface="Open Sauce Bold"/>
                <a:sym typeface="Open Sauce Bold"/>
              </a:rPr>
              <a:t>liberar recurso</a:t>
            </a:r>
            <a:r>
              <a:rPr lang="en-US" sz="2100">
                <a:solidFill>
                  <a:srgbClr val="000000"/>
                </a:solidFill>
                <a:latin typeface="Open Sauce"/>
                <a:ea typeface="Open Sauce"/>
                <a:cs typeface="Open Sauce"/>
                <a:sym typeface="Open Sauce"/>
              </a:rPr>
              <a:t> </a:t>
            </a:r>
            <a:r>
              <a:rPr lang="en-US" sz="2100" i="true">
                <a:solidFill>
                  <a:srgbClr val="1D7151"/>
                </a:solidFill>
                <a:latin typeface="Open Sauce Italics"/>
                <a:ea typeface="Open Sauce Italics"/>
                <a:cs typeface="Open Sauce Italics"/>
                <a:sym typeface="Open Sauce Italics"/>
              </a:rPr>
              <a:t>signal(&amp;recurso)</a:t>
            </a:r>
          </a:p>
          <a:p>
            <a:pPr algn="l" marL="453390" indent="-226695" lvl="1">
              <a:lnSpc>
                <a:spcPts val="2940"/>
              </a:lnSpc>
              <a:buAutoNum type="arabicPeriod" startAt="1"/>
            </a:pPr>
            <a:r>
              <a:rPr lang="en-US" sz="2100">
                <a:solidFill>
                  <a:srgbClr val="000000"/>
                </a:solidFill>
                <a:latin typeface="Open Sauce"/>
                <a:ea typeface="Open Sauce"/>
                <a:cs typeface="Open Sauce"/>
                <a:sym typeface="Open Sauce"/>
              </a:rPr>
              <a:t>E0 despierta, </a:t>
            </a:r>
            <a:r>
              <a:rPr lang="en-US" sz="2100" i="true">
                <a:solidFill>
                  <a:srgbClr val="1D7151"/>
                </a:solidFill>
                <a:latin typeface="Open Sauce Italics"/>
                <a:ea typeface="Open Sauce Italics"/>
                <a:cs typeface="Open Sauce Italics"/>
                <a:sym typeface="Open Sauce Italics"/>
              </a:rPr>
              <a:t>wait(&amp;recurso)</a:t>
            </a:r>
            <a:r>
              <a:rPr lang="en-US" sz="2100">
                <a:solidFill>
                  <a:srgbClr val="000000"/>
                </a:solidFill>
                <a:latin typeface="Open Sauce"/>
                <a:ea typeface="Open Sauce"/>
                <a:cs typeface="Open Sauce"/>
                <a:sym typeface="Open Sauce"/>
              </a:rPr>
              <a:t> retorna</a:t>
            </a:r>
          </a:p>
          <a:p>
            <a:pPr algn="l" marL="453390" indent="-226695" lvl="1">
              <a:lnSpc>
                <a:spcPts val="2940"/>
              </a:lnSpc>
              <a:spcBef>
                <a:spcPct val="0"/>
              </a:spcBef>
              <a:buAutoNum type="arabicPeriod" startAt="1"/>
            </a:pPr>
            <a:r>
              <a:rPr lang="en-US" sz="2100">
                <a:solidFill>
                  <a:srgbClr val="000000"/>
                </a:solidFill>
                <a:latin typeface="Open Sauce"/>
                <a:ea typeface="Open Sauce"/>
                <a:cs typeface="Open Sauce"/>
                <a:sym typeface="Open Sauce"/>
              </a:rPr>
              <a:t>E0 escribe </a:t>
            </a:r>
            <a:r>
              <a:rPr lang="en-US" b="true" sz="2100">
                <a:solidFill>
                  <a:srgbClr val="000000"/>
                </a:solidFill>
                <a:latin typeface="Open Sauce Bold"/>
                <a:ea typeface="Open Sauce Bold"/>
                <a:cs typeface="Open Sauce Bold"/>
                <a:sym typeface="Open Sauce Bold"/>
              </a:rPr>
              <a:t>datos = 1</a:t>
            </a:r>
            <a:r>
              <a:rPr lang="en-US" sz="2100">
                <a:solidFill>
                  <a:srgbClr val="000000"/>
                </a:solidFill>
                <a:latin typeface="Open Sauce"/>
                <a:ea typeface="Open Sauce"/>
                <a:cs typeface="Open Sauce"/>
                <a:sym typeface="Open Sauce"/>
              </a:rPr>
              <a:t> → </a:t>
            </a:r>
            <a:r>
              <a:rPr lang="en-US" sz="2100" i="true">
                <a:solidFill>
                  <a:srgbClr val="1D7151"/>
                </a:solidFill>
                <a:latin typeface="Open Sauce Italics"/>
                <a:ea typeface="Open Sauce Italics"/>
                <a:cs typeface="Open Sauce Italics"/>
                <a:sym typeface="Open Sauce Italics"/>
              </a:rPr>
              <a:t>signal(&amp;recurso)</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TextBox 2" id="2"/>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Barbero dormilón</a:t>
            </a:r>
          </a:p>
        </p:txBody>
      </p:sp>
      <p:sp>
        <p:nvSpPr>
          <p:cNvPr name="TextBox 3" id="3"/>
          <p:cNvSpPr txBox="true"/>
          <p:nvPr/>
        </p:nvSpPr>
        <p:spPr>
          <a:xfrm rot="0">
            <a:off x="1028700" y="1276316"/>
            <a:ext cx="8986078" cy="5195456"/>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Idea</a:t>
            </a:r>
            <a:r>
              <a:rPr lang="en-US" sz="2100">
                <a:solidFill>
                  <a:srgbClr val="000000"/>
                </a:solidFill>
                <a:latin typeface="Open Sauce"/>
                <a:ea typeface="Open Sauce"/>
                <a:cs typeface="Open Sauce"/>
                <a:sym typeface="Open Sauce"/>
              </a:rPr>
              <a:t>: </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Un barbero que atiende clientes.</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Una sala de espera con N sillas (buffer acotado).</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Clientes que llegan en momentos aleatorios.</a:t>
            </a:r>
          </a:p>
          <a:p>
            <a:pPr algn="l">
              <a:lnSpc>
                <a:spcPts val="2940"/>
              </a:lnSpc>
            </a:pPr>
            <a:r>
              <a:rPr lang="en-US" sz="2100" b="true">
                <a:solidFill>
                  <a:srgbClr val="000000"/>
                </a:solidFill>
                <a:latin typeface="Open Sauce Bold"/>
                <a:ea typeface="Open Sauce Bold"/>
                <a:cs typeface="Open Sauce Bold"/>
                <a:sym typeface="Open Sauce Bold"/>
              </a:rPr>
              <a:t>Reglas</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 no hay clientes, el barbero duerme en su silla.</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 llega un cliente y el barbero duerme, lo despierta.</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 llega un cliente y hay sillas en espera, espera sentado.</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 llega un cliente y todas las sillas están ocupadas, se va.</a:t>
            </a:r>
          </a:p>
          <a:p>
            <a:pPr algn="l">
              <a:lnSpc>
                <a:spcPts val="2940"/>
              </a:lnSpc>
            </a:pPr>
            <a:r>
              <a:rPr lang="en-US" sz="2100" b="true">
                <a:solidFill>
                  <a:srgbClr val="000000"/>
                </a:solidFill>
                <a:latin typeface="Open Sauce Bold"/>
                <a:ea typeface="Open Sauce Bold"/>
                <a:cs typeface="Open Sauce Bold"/>
                <a:sym typeface="Open Sauce Bold"/>
              </a:rPr>
              <a:t>Variables</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i="true">
                <a:solidFill>
                  <a:srgbClr val="1D7151"/>
                </a:solidFill>
                <a:latin typeface="Open Sauce Italics"/>
                <a:ea typeface="Open Sauce Italics"/>
                <a:cs typeface="Open Sauce Italics"/>
                <a:sym typeface="Open Sauce Italics"/>
              </a:rPr>
              <a:t>mutex</a:t>
            </a:r>
            <a:r>
              <a:rPr lang="en-US" sz="2100">
                <a:solidFill>
                  <a:srgbClr val="000000"/>
                </a:solidFill>
                <a:latin typeface="Open Sauce"/>
                <a:ea typeface="Open Sauce"/>
                <a:cs typeface="Open Sauce"/>
                <a:sym typeface="Open Sauce"/>
              </a:rPr>
              <a:t>:  Protege el acceso a clientes_esperando.</a:t>
            </a:r>
          </a:p>
          <a:p>
            <a:pPr algn="l" marL="453392" indent="-226696" lvl="1">
              <a:lnSpc>
                <a:spcPts val="2940"/>
              </a:lnSpc>
              <a:buFont typeface="Arial"/>
              <a:buChar char="•"/>
            </a:pPr>
            <a:r>
              <a:rPr lang="en-US" sz="2100" i="true">
                <a:solidFill>
                  <a:srgbClr val="1D7151"/>
                </a:solidFill>
                <a:latin typeface="Open Sauce Italics"/>
                <a:ea typeface="Open Sauce Italics"/>
                <a:cs typeface="Open Sauce Italics"/>
                <a:sym typeface="Open Sauce Italics"/>
              </a:rPr>
              <a:t>cliente_listo</a:t>
            </a:r>
            <a:r>
              <a:rPr lang="en-US" sz="2100">
                <a:solidFill>
                  <a:srgbClr val="000000"/>
                </a:solidFill>
                <a:latin typeface="Open Sauce"/>
                <a:ea typeface="Open Sauce"/>
                <a:cs typeface="Open Sauce"/>
                <a:sym typeface="Open Sauce"/>
              </a:rPr>
              <a:t>: Indica si hay clientes esperando. El barbero </a:t>
            </a:r>
            <a:r>
              <a:rPr lang="en-US" sz="2100" i="true">
                <a:solidFill>
                  <a:srgbClr val="1D7151"/>
                </a:solidFill>
                <a:latin typeface="Open Sauce Italics"/>
                <a:ea typeface="Open Sauce Italics"/>
                <a:cs typeface="Open Sauce Italics"/>
                <a:sym typeface="Open Sauce Italics"/>
              </a:rPr>
              <a:t>wait()</a:t>
            </a:r>
            <a:r>
              <a:rPr lang="en-US" sz="2100">
                <a:solidFill>
                  <a:srgbClr val="000000"/>
                </a:solidFill>
                <a:latin typeface="Open Sauce"/>
                <a:ea typeface="Open Sauce"/>
                <a:cs typeface="Open Sauce"/>
                <a:sym typeface="Open Sauce"/>
              </a:rPr>
              <a:t>, el cliente hace </a:t>
            </a:r>
            <a:r>
              <a:rPr lang="en-US" sz="2100" i="true">
                <a:solidFill>
                  <a:srgbClr val="1D7151"/>
                </a:solidFill>
                <a:latin typeface="Open Sauce Italics"/>
                <a:ea typeface="Open Sauce Italics"/>
                <a:cs typeface="Open Sauce Italics"/>
                <a:sym typeface="Open Sauce Italics"/>
              </a:rPr>
              <a:t>signal()</a:t>
            </a:r>
          </a:p>
          <a:p>
            <a:pPr algn="l" marL="453392" indent="-226696" lvl="1">
              <a:lnSpc>
                <a:spcPts val="2940"/>
              </a:lnSpc>
              <a:spcBef>
                <a:spcPct val="0"/>
              </a:spcBef>
              <a:buFont typeface="Arial"/>
              <a:buChar char="•"/>
            </a:pPr>
            <a:r>
              <a:rPr lang="en-US" sz="2100" i="true">
                <a:solidFill>
                  <a:srgbClr val="1D7151"/>
                </a:solidFill>
                <a:latin typeface="Open Sauce Italics"/>
                <a:ea typeface="Open Sauce Italics"/>
                <a:cs typeface="Open Sauce Italics"/>
                <a:sym typeface="Open Sauce Italics"/>
              </a:rPr>
              <a:t>barbero_listo</a:t>
            </a:r>
            <a:r>
              <a:rPr lang="en-US" sz="2100">
                <a:solidFill>
                  <a:srgbClr val="000000"/>
                </a:solidFill>
                <a:latin typeface="Open Sauce"/>
                <a:ea typeface="Open Sauce"/>
                <a:cs typeface="Open Sauce"/>
                <a:sym typeface="Open Sauce"/>
              </a:rPr>
              <a:t>: El cliente hace </a:t>
            </a:r>
            <a:r>
              <a:rPr lang="en-US" sz="2100" i="true">
                <a:solidFill>
                  <a:srgbClr val="1D7151"/>
                </a:solidFill>
                <a:latin typeface="Open Sauce Italics"/>
                <a:ea typeface="Open Sauce Italics"/>
                <a:cs typeface="Open Sauce Italics"/>
                <a:sym typeface="Open Sauce Italics"/>
              </a:rPr>
              <a:t>wait()</a:t>
            </a:r>
            <a:r>
              <a:rPr lang="en-US" sz="2100">
                <a:solidFill>
                  <a:srgbClr val="000000"/>
                </a:solidFill>
                <a:latin typeface="Open Sauce"/>
                <a:ea typeface="Open Sauce"/>
                <a:cs typeface="Open Sauce"/>
                <a:sym typeface="Open Sauce"/>
              </a:rPr>
              <a:t>, el barbero hace </a:t>
            </a:r>
            <a:r>
              <a:rPr lang="en-US" sz="2100" i="true">
                <a:solidFill>
                  <a:srgbClr val="1D7151"/>
                </a:solidFill>
                <a:latin typeface="Open Sauce Italics"/>
                <a:ea typeface="Open Sauce Italics"/>
                <a:cs typeface="Open Sauce Italics"/>
                <a:sym typeface="Open Sauce Italics"/>
              </a:rPr>
              <a:t>signal()</a:t>
            </a:r>
          </a:p>
        </p:txBody>
      </p:sp>
      <p:grpSp>
        <p:nvGrpSpPr>
          <p:cNvPr name="Group 4" id="4"/>
          <p:cNvGrpSpPr/>
          <p:nvPr/>
        </p:nvGrpSpPr>
        <p:grpSpPr>
          <a:xfrm rot="0">
            <a:off x="10274021" y="1323941"/>
            <a:ext cx="7113750" cy="4457441"/>
            <a:chOff x="0" y="0"/>
            <a:chExt cx="9484999" cy="5943255"/>
          </a:xfrm>
        </p:grpSpPr>
        <p:sp>
          <p:nvSpPr>
            <p:cNvPr name="TextBox 5" id="5"/>
            <p:cNvSpPr txBox="true"/>
            <p:nvPr/>
          </p:nvSpPr>
          <p:spPr>
            <a:xfrm rot="0">
              <a:off x="0" y="517905"/>
              <a:ext cx="9484999" cy="5425350"/>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Clientes que esperan mucho tiempo</a:t>
              </a:r>
              <a:r>
                <a:rPr lang="en-US" sz="2100">
                  <a:solidFill>
                    <a:srgbClr val="000000"/>
                  </a:solidFill>
                  <a:latin typeface="Open Sauce"/>
                  <a:ea typeface="Open Sauce"/>
                  <a:cs typeface="Open Sauce"/>
                  <a:sym typeface="Open Sauce"/>
                </a:rPr>
                <a:t>: Si el barbero es muy lento y llegan muchos clientes, algunos pueden esperar indefinidamente en las sillas.</a:t>
              </a:r>
            </a:p>
            <a:p>
              <a:pPr algn="l">
                <a:lnSpc>
                  <a:spcPts val="2940"/>
                </a:lnSpc>
              </a:pPr>
              <a:r>
                <a:rPr lang="en-US" sz="2100" b="true">
                  <a:solidFill>
                    <a:srgbClr val="000000"/>
                  </a:solidFill>
                  <a:latin typeface="Open Sauce Bold"/>
                  <a:ea typeface="Open Sauce Bold"/>
                  <a:cs typeface="Open Sauce Bold"/>
                  <a:sym typeface="Open Sauce Bold"/>
                </a:rPr>
                <a:t>Prioridad implícita</a:t>
              </a:r>
              <a:r>
                <a:rPr lang="en-US" sz="2100">
                  <a:solidFill>
                    <a:srgbClr val="000000"/>
                  </a:solidFill>
                  <a:latin typeface="Open Sauce"/>
                  <a:ea typeface="Open Sauce"/>
                  <a:cs typeface="Open Sauce"/>
                  <a:sym typeface="Open Sauce"/>
                </a:rPr>
                <a:t>: Dependiendo de la implementación de los semáforos (FIFO o no), algunos clientes podrían ser siempre los primeros en ser atendidos.</a:t>
              </a:r>
            </a:p>
            <a:p>
              <a:pPr algn="l">
                <a:lnSpc>
                  <a:spcPts val="2940"/>
                </a:lnSpc>
              </a:pPr>
              <a:r>
                <a:rPr lang="en-US" sz="2100" b="true">
                  <a:solidFill>
                    <a:srgbClr val="000000"/>
                  </a:solidFill>
                  <a:latin typeface="Open Sauce Bold"/>
                  <a:ea typeface="Open Sauce Bold"/>
                  <a:cs typeface="Open Sauce Bold"/>
                  <a:sym typeface="Open Sauce Bold"/>
                </a:rPr>
                <a:t>Pérdida de clientes (por diseño)</a:t>
              </a:r>
              <a:r>
                <a:rPr lang="en-US" sz="2100">
                  <a:solidFill>
                    <a:srgbClr val="000000"/>
                  </a:solidFill>
                  <a:latin typeface="Open Sauce"/>
                  <a:ea typeface="Open Sauce"/>
                  <a:cs typeface="Open Sauce"/>
                  <a:sym typeface="Open Sauce"/>
                </a:rPr>
                <a:t>: En sistemas reales puede representar pérdidas para el negocio.</a:t>
              </a:r>
            </a:p>
            <a:p>
              <a:pPr algn="l">
                <a:lnSpc>
                  <a:spcPts val="2940"/>
                </a:lnSpc>
                <a:spcBef>
                  <a:spcPct val="0"/>
                </a:spcBef>
              </a:pPr>
              <a:r>
                <a:rPr lang="en-US" b="true" sz="2100">
                  <a:solidFill>
                    <a:srgbClr val="000000"/>
                  </a:solidFill>
                  <a:latin typeface="Open Sauce Bold"/>
                  <a:ea typeface="Open Sauce Bold"/>
                  <a:cs typeface="Open Sauce Bold"/>
                  <a:sym typeface="Open Sauce Bold"/>
                </a:rPr>
                <a:t>Sin mecanismo de reintento</a:t>
              </a:r>
              <a:r>
                <a:rPr lang="en-US" sz="2100">
                  <a:solidFill>
                    <a:srgbClr val="000000"/>
                  </a:solidFill>
                  <a:latin typeface="Open Sauce"/>
                  <a:ea typeface="Open Sauce"/>
                  <a:cs typeface="Open Sauce"/>
                  <a:sym typeface="Open Sauce"/>
                </a:rPr>
                <a:t>: El cliente no puede intentar más tarde, aunque es poco realista para muchos sistemas.</a:t>
              </a:r>
            </a:p>
          </p:txBody>
        </p:sp>
        <p:sp>
          <p:nvSpPr>
            <p:cNvPr name="TextBox 6" id="6"/>
            <p:cNvSpPr txBox="true"/>
            <p:nvPr/>
          </p:nvSpPr>
          <p:spPr>
            <a:xfrm rot="0">
              <a:off x="0" y="-57150"/>
              <a:ext cx="9484999" cy="622624"/>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a:t>
              </a:r>
            </a:p>
          </p:txBody>
        </p:sp>
      </p:grpSp>
      <p:sp>
        <p:nvSpPr>
          <p:cNvPr name="Freeform 7" id="7"/>
          <p:cNvSpPr/>
          <p:nvPr/>
        </p:nvSpPr>
        <p:spPr>
          <a:xfrm flipH="false" flipV="false" rot="0">
            <a:off x="3493371" y="6644211"/>
            <a:ext cx="11301259" cy="3277365"/>
          </a:xfrm>
          <a:custGeom>
            <a:avLst/>
            <a:gdLst/>
            <a:ahLst/>
            <a:cxnLst/>
            <a:rect r="r" b="b" t="t" l="l"/>
            <a:pathLst>
              <a:path h="3277365" w="11301259">
                <a:moveTo>
                  <a:pt x="0" y="0"/>
                </a:moveTo>
                <a:lnTo>
                  <a:pt x="11301258" y="0"/>
                </a:lnTo>
                <a:lnTo>
                  <a:pt x="11301258" y="3277365"/>
                </a:lnTo>
                <a:lnTo>
                  <a:pt x="0" y="3277365"/>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10931594" y="4006725"/>
            <a:ext cx="6539687" cy="5789415"/>
          </a:xfrm>
          <a:custGeom>
            <a:avLst/>
            <a:gdLst/>
            <a:ahLst/>
            <a:cxnLst/>
            <a:rect r="r" b="b" t="t" l="l"/>
            <a:pathLst>
              <a:path h="5789415" w="6539687">
                <a:moveTo>
                  <a:pt x="0" y="0"/>
                </a:moveTo>
                <a:lnTo>
                  <a:pt x="6539687" y="0"/>
                </a:lnTo>
                <a:lnTo>
                  <a:pt x="6539687" y="5789415"/>
                </a:lnTo>
                <a:lnTo>
                  <a:pt x="0" y="5789415"/>
                </a:lnTo>
                <a:lnTo>
                  <a:pt x="0" y="0"/>
                </a:lnTo>
                <a:close/>
              </a:path>
            </a:pathLst>
          </a:custGeom>
          <a:blipFill>
            <a:blip r:embed="rId2"/>
            <a:stretch>
              <a:fillRect l="0" t="0" r="0" b="0"/>
            </a:stretch>
          </a:blipFill>
        </p:spPr>
      </p:sp>
      <p:sp>
        <p:nvSpPr>
          <p:cNvPr name="Freeform 3" id="3"/>
          <p:cNvSpPr/>
          <p:nvPr/>
        </p:nvSpPr>
        <p:spPr>
          <a:xfrm flipH="false" flipV="false" rot="0">
            <a:off x="686600" y="5751274"/>
            <a:ext cx="10092780" cy="4044866"/>
          </a:xfrm>
          <a:custGeom>
            <a:avLst/>
            <a:gdLst/>
            <a:ahLst/>
            <a:cxnLst/>
            <a:rect r="r" b="b" t="t" l="l"/>
            <a:pathLst>
              <a:path h="4044866" w="10092780">
                <a:moveTo>
                  <a:pt x="0" y="0"/>
                </a:moveTo>
                <a:lnTo>
                  <a:pt x="10092780" y="0"/>
                </a:lnTo>
                <a:lnTo>
                  <a:pt x="10092780" y="4044866"/>
                </a:lnTo>
                <a:lnTo>
                  <a:pt x="0" y="4044866"/>
                </a:lnTo>
                <a:lnTo>
                  <a:pt x="0" y="0"/>
                </a:lnTo>
                <a:close/>
              </a:path>
            </a:pathLst>
          </a:custGeom>
          <a:blipFill>
            <a:blip r:embed="rId3"/>
            <a:stretch>
              <a:fillRect l="0" t="0" r="0" b="0"/>
            </a:stretch>
          </a:blipFill>
        </p:spPr>
      </p:sp>
      <p:sp>
        <p:nvSpPr>
          <p:cNvPr name="TextBox 4" id="4"/>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Barbero dormilón</a:t>
            </a:r>
          </a:p>
        </p:txBody>
      </p:sp>
      <p:sp>
        <p:nvSpPr>
          <p:cNvPr name="TextBox 5" id="5"/>
          <p:cNvSpPr txBox="true"/>
          <p:nvPr/>
        </p:nvSpPr>
        <p:spPr>
          <a:xfrm rot="0">
            <a:off x="1028700" y="1659092"/>
            <a:ext cx="9130120" cy="3709407"/>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Estado inicial: </a:t>
            </a:r>
            <a:r>
              <a:rPr lang="en-US" sz="2100">
                <a:solidFill>
                  <a:srgbClr val="000000"/>
                </a:solidFill>
                <a:latin typeface="Open Sauce"/>
                <a:ea typeface="Open Sauce"/>
                <a:cs typeface="Open Sauce"/>
                <a:sym typeface="Open Sauce"/>
              </a:rPr>
              <a:t>clientes_esperando = 0, mutex = 1, cliente_listo = 0, barbero_listo = 0 : barbero durmiendo</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C1 llega → despierta al barbero → C1 se sienta (clientes_esperando = 1)</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Barbero atiende C1 → C1 sale</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C2 llega → se sienta (clientes_esperando = 1) → barbero lo atiende</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C3 llega mientras barbero atiende a C2 → se sienta (clientes_esperando = 1)</a:t>
            </a:r>
          </a:p>
          <a:p>
            <a:pPr algn="l" marL="453392" indent="-226696" lvl="1">
              <a:lnSpc>
                <a:spcPts val="2940"/>
              </a:lnSpc>
              <a:buAutoNum type="arabicPeriod" startAt="1"/>
            </a:pPr>
            <a:r>
              <a:rPr lang="en-US" sz="2100">
                <a:solidFill>
                  <a:srgbClr val="000000"/>
                </a:solidFill>
                <a:latin typeface="Open Sauce"/>
                <a:ea typeface="Open Sauce"/>
                <a:cs typeface="Open Sauce"/>
                <a:sym typeface="Open Sauce"/>
              </a:rPr>
              <a:t>Barbero termina con C2 y luego atiende a C3</a:t>
            </a:r>
          </a:p>
          <a:p>
            <a:pPr algn="l" marL="453392" indent="-226696" lvl="1">
              <a:lnSpc>
                <a:spcPts val="2940"/>
              </a:lnSpc>
              <a:spcBef>
                <a:spcPct val="0"/>
              </a:spcBef>
              <a:buAutoNum type="arabicPeriod" startAt="1"/>
            </a:pPr>
            <a:r>
              <a:rPr lang="en-US" sz="2100">
                <a:solidFill>
                  <a:srgbClr val="000000"/>
                </a:solidFill>
                <a:latin typeface="Open Sauce"/>
                <a:ea typeface="Open Sauce"/>
                <a:cs typeface="Open Sauce"/>
                <a:sym typeface="Open Sauce"/>
              </a:rPr>
              <a:t>Si no hay más clientes el barbero vuelve a dormir.</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7133849"/>
            <a:ext cx="8115300" cy="2519035"/>
          </a:xfrm>
          <a:custGeom>
            <a:avLst/>
            <a:gdLst/>
            <a:ahLst/>
            <a:cxnLst/>
            <a:rect r="r" b="b" t="t" l="l"/>
            <a:pathLst>
              <a:path h="2519035" w="8115300">
                <a:moveTo>
                  <a:pt x="0" y="0"/>
                </a:moveTo>
                <a:lnTo>
                  <a:pt x="8115300" y="0"/>
                </a:lnTo>
                <a:lnTo>
                  <a:pt x="8115300" y="2519035"/>
                </a:lnTo>
                <a:lnTo>
                  <a:pt x="0" y="2519035"/>
                </a:lnTo>
                <a:lnTo>
                  <a:pt x="0" y="0"/>
                </a:lnTo>
                <a:close/>
              </a:path>
            </a:pathLst>
          </a:custGeom>
          <a:blipFill>
            <a:blip r:embed="rId2"/>
            <a:stretch>
              <a:fillRect l="0" t="0" r="0" b="0"/>
            </a:stretch>
          </a:blipFill>
        </p:spPr>
      </p:sp>
      <p:sp>
        <p:nvSpPr>
          <p:cNvPr name="TextBox 3" id="3"/>
          <p:cNvSpPr txBox="true"/>
          <p:nvPr/>
        </p:nvSpPr>
        <p:spPr>
          <a:xfrm rot="0">
            <a:off x="1028700" y="542959"/>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Filósofos comensales</a:t>
            </a:r>
          </a:p>
        </p:txBody>
      </p:sp>
      <p:sp>
        <p:nvSpPr>
          <p:cNvPr name="TextBox 4" id="4"/>
          <p:cNvSpPr txBox="true"/>
          <p:nvPr/>
        </p:nvSpPr>
        <p:spPr>
          <a:xfrm rot="0">
            <a:off x="1028700" y="1276316"/>
            <a:ext cx="10292208" cy="5566968"/>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Idea</a:t>
            </a:r>
            <a:r>
              <a:rPr lang="en-US" sz="2100">
                <a:solidFill>
                  <a:srgbClr val="000000"/>
                </a:solidFill>
                <a:latin typeface="Open Sauce"/>
                <a:ea typeface="Open Sauce"/>
                <a:cs typeface="Open Sauce"/>
                <a:sym typeface="Open Sauce"/>
              </a:rPr>
              <a:t>: Hay N filósofos (normalmente 5) sentados alrededor de una mesa circular. </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Cada filósofo tiene un plato de espaguetis. Entre cada par de filósofos hay un tenedor (o platillo). </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Para comer, un filósofo necesita dos tenedores: el de su izquierda y el de su derecha. </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Los filósofos alternan entre pensar (no usan tenedores) y comer (toman los dos tenedores, comen un rato, luego los sueltan).</a:t>
            </a:r>
          </a:p>
          <a:p>
            <a:pPr algn="l">
              <a:lnSpc>
                <a:spcPts val="2940"/>
              </a:lnSpc>
            </a:pPr>
            <a:r>
              <a:rPr lang="en-US" sz="2100" b="true">
                <a:solidFill>
                  <a:srgbClr val="000000"/>
                </a:solidFill>
                <a:latin typeface="Open Sauce Bold"/>
                <a:ea typeface="Open Sauce Bold"/>
                <a:cs typeface="Open Sauce Bold"/>
                <a:sym typeface="Open Sauce Bold"/>
              </a:rPr>
              <a:t>Restricciones</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Exclusión mutua: Dos filósofos vecinos no pueden comer simultáneamente porque comparten un tenedor.</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Sin deadlock: Que ningún filósofo se quede esperando indefinidamente (bloqueo total).</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Sin inanición: Que todos los filósofos puedan comer eventualmente.</a:t>
            </a:r>
          </a:p>
          <a:p>
            <a:pPr algn="l" marL="453392" indent="-226696" lvl="1">
              <a:lnSpc>
                <a:spcPts val="2940"/>
              </a:lnSpc>
              <a:spcBef>
                <a:spcPct val="0"/>
              </a:spcBef>
              <a:buFont typeface="Arial"/>
              <a:buChar char="•"/>
            </a:pPr>
            <a:r>
              <a:rPr lang="en-US" sz="2100">
                <a:solidFill>
                  <a:srgbClr val="000000"/>
                </a:solidFill>
                <a:latin typeface="Open Sauce"/>
                <a:ea typeface="Open Sauce"/>
                <a:cs typeface="Open Sauce"/>
                <a:sym typeface="Open Sauce"/>
              </a:rPr>
              <a:t>Concurrente: Si no hay conflictos, pueden comer varios filósofos a la vez (ej: los filósofos pares comen mientras los impares piensan).</a:t>
            </a:r>
          </a:p>
        </p:txBody>
      </p:sp>
      <p:sp>
        <p:nvSpPr>
          <p:cNvPr name="TextBox 5" id="5"/>
          <p:cNvSpPr txBox="true"/>
          <p:nvPr/>
        </p:nvSpPr>
        <p:spPr>
          <a:xfrm rot="0">
            <a:off x="9337952" y="6774421"/>
            <a:ext cx="8343820" cy="2966382"/>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Semáforo</a:t>
            </a:r>
            <a:r>
              <a:rPr lang="en-US" sz="2100">
                <a:solidFill>
                  <a:srgbClr val="000000"/>
                </a:solidFill>
                <a:latin typeface="Open Sauce"/>
                <a:ea typeface="Open Sauce"/>
                <a:cs typeface="Open Sauce"/>
                <a:sym typeface="Open Sauce"/>
              </a:rPr>
              <a:t>:</a:t>
            </a:r>
          </a:p>
          <a:p>
            <a:pPr algn="l" marL="453392" indent="-226696" lvl="1">
              <a:lnSpc>
                <a:spcPts val="2940"/>
              </a:lnSpc>
              <a:buFont typeface="Arial"/>
              <a:buChar char="•"/>
            </a:pPr>
            <a:r>
              <a:rPr lang="en-US" sz="2100" i="true">
                <a:solidFill>
                  <a:srgbClr val="1D7151"/>
                </a:solidFill>
                <a:latin typeface="Open Sauce Italics"/>
                <a:ea typeface="Open Sauce Italics"/>
                <a:cs typeface="Open Sauce Italics"/>
                <a:sym typeface="Open Sauce Italics"/>
              </a:rPr>
              <a:t>tenedor[i]</a:t>
            </a:r>
            <a:r>
              <a:rPr lang="en-US" sz="2100">
                <a:solidFill>
                  <a:srgbClr val="000000"/>
                </a:solidFill>
                <a:latin typeface="Open Sauce"/>
                <a:ea typeface="Open Sauce"/>
                <a:cs typeface="Open Sauce"/>
                <a:sym typeface="Open Sauce"/>
              </a:rPr>
              <a:t>: Protege el tenedor i (1 = libre, 0 = ocupado).</a:t>
            </a:r>
          </a:p>
          <a:p>
            <a:pPr algn="l" marL="453392" indent="-226696" lvl="1">
              <a:lnSpc>
                <a:spcPts val="2940"/>
              </a:lnSpc>
              <a:buFont typeface="Arial"/>
              <a:buChar char="•"/>
            </a:pPr>
            <a:r>
              <a:rPr lang="en-US" sz="2100" i="true">
                <a:solidFill>
                  <a:srgbClr val="1D7151"/>
                </a:solidFill>
                <a:latin typeface="Open Sauce Italics"/>
                <a:ea typeface="Open Sauce Italics"/>
                <a:cs typeface="Open Sauce Italics"/>
                <a:sym typeface="Open Sauce Italics"/>
              </a:rPr>
              <a:t>limite</a:t>
            </a:r>
            <a:r>
              <a:rPr lang="en-US" sz="2100">
                <a:solidFill>
                  <a:srgbClr val="000000"/>
                </a:solidFill>
                <a:latin typeface="Open Sauce"/>
                <a:ea typeface="Open Sauce"/>
                <a:cs typeface="Open Sauce"/>
                <a:sym typeface="Open Sauce"/>
              </a:rPr>
              <a:t>: Limita el número de filósofos que pueden estar simultáneamente en la sección de toma de tenedores. Así se evita el deadlock (si N-1 filósofos ya tienen un tenedor, el último no podrá entrar y rompe el ciclo.</a:t>
            </a:r>
          </a:p>
          <a:p>
            <a:pPr algn="l" marL="453392" indent="-226696" lvl="1">
              <a:lnSpc>
                <a:spcPts val="2940"/>
              </a:lnSpc>
              <a:spcBef>
                <a:spcPct val="0"/>
              </a:spcBef>
              <a:buFont typeface="Arial"/>
              <a:buChar char="•"/>
            </a:pPr>
            <a:r>
              <a:rPr lang="en-US" sz="2100" i="true">
                <a:solidFill>
                  <a:srgbClr val="1D7151"/>
                </a:solidFill>
                <a:latin typeface="Open Sauce Italics"/>
                <a:ea typeface="Open Sauce Italics"/>
                <a:cs typeface="Open Sauce Italics"/>
                <a:sym typeface="Open Sauce Italics"/>
              </a:rPr>
              <a:t>print_mutex</a:t>
            </a:r>
            <a:r>
              <a:rPr lang="en-US" sz="2100">
                <a:solidFill>
                  <a:srgbClr val="000000"/>
                </a:solidFill>
                <a:latin typeface="Open Sauce"/>
                <a:ea typeface="Open Sauce"/>
                <a:cs typeface="Open Sauce"/>
                <a:sym typeface="Open Sauce"/>
              </a:rPr>
              <a:t>: Opcional: evita que las impresiones se mezclen (no es esencial para la exclusión mutua de los tenedores.</a:t>
            </a:r>
          </a:p>
        </p:txBody>
      </p:sp>
      <p:grpSp>
        <p:nvGrpSpPr>
          <p:cNvPr name="Group 6" id="6"/>
          <p:cNvGrpSpPr/>
          <p:nvPr/>
        </p:nvGrpSpPr>
        <p:grpSpPr>
          <a:xfrm rot="0">
            <a:off x="11605377" y="1323941"/>
            <a:ext cx="5995912" cy="5200466"/>
            <a:chOff x="0" y="0"/>
            <a:chExt cx="7994550" cy="6933954"/>
          </a:xfrm>
        </p:grpSpPr>
        <p:sp>
          <p:nvSpPr>
            <p:cNvPr name="TextBox 7" id="7"/>
            <p:cNvSpPr txBox="true"/>
            <p:nvPr/>
          </p:nvSpPr>
          <p:spPr>
            <a:xfrm rot="0">
              <a:off x="0" y="517905"/>
              <a:ext cx="7994550" cy="6416050"/>
            </a:xfrm>
            <a:prstGeom prst="rect">
              <a:avLst/>
            </a:prstGeom>
          </p:spPr>
          <p:txBody>
            <a:bodyPr anchor="t" rtlCol="false" tIns="0" lIns="0" bIns="0" rIns="0">
              <a:spAutoFit/>
            </a:bodyPr>
            <a:lstStyle/>
            <a:p>
              <a:pPr algn="l">
                <a:lnSpc>
                  <a:spcPts val="2940"/>
                </a:lnSpc>
              </a:pPr>
              <a:r>
                <a:rPr lang="en-US" sz="2100">
                  <a:solidFill>
                    <a:srgbClr val="000000"/>
                  </a:solidFill>
                  <a:latin typeface="Open Sauce"/>
                  <a:ea typeface="Open Sauce"/>
                  <a:cs typeface="Open Sauce"/>
                  <a:sym typeface="Open Sauce"/>
                </a:rPr>
                <a:t>Baja escalabilidad: </a:t>
              </a:r>
            </a:p>
            <a:p>
              <a:pPr algn="l" marL="453392" indent="-226696" lvl="1">
                <a:lnSpc>
                  <a:spcPts val="2940"/>
                </a:lnSpc>
                <a:buFont typeface="Arial"/>
                <a:buChar char="•"/>
              </a:pPr>
              <a:r>
                <a:rPr lang="en-US" b="true" sz="2100">
                  <a:solidFill>
                    <a:srgbClr val="000000"/>
                  </a:solidFill>
                  <a:latin typeface="Open Sauce Bold"/>
                  <a:ea typeface="Open Sauce Bold"/>
                  <a:cs typeface="Open Sauce Bold"/>
                  <a:sym typeface="Open Sauce Bold"/>
                </a:rPr>
                <a:t>Número de semáforos</a:t>
              </a:r>
              <a:r>
                <a:rPr lang="en-US" sz="2100">
                  <a:solidFill>
                    <a:srgbClr val="000000"/>
                  </a:solidFill>
                  <a:latin typeface="Open Sauce"/>
                  <a:ea typeface="Open Sauce"/>
                  <a:cs typeface="Open Sauce"/>
                  <a:sym typeface="Open Sauce"/>
                </a:rPr>
                <a:t>: Se necesita un semáforo por tenedor, más el semáforo de límite. Para N grande, la sobrecarga de mantenimiento puede ser alta.</a:t>
              </a:r>
            </a:p>
            <a:p>
              <a:pPr algn="l" marL="453392" indent="-226696" lvl="1">
                <a:lnSpc>
                  <a:spcPts val="2940"/>
                </a:lnSpc>
                <a:buFont typeface="Arial"/>
                <a:buChar char="•"/>
              </a:pPr>
              <a:r>
                <a:rPr lang="en-US" b="true" sz="2100">
                  <a:solidFill>
                    <a:srgbClr val="000000"/>
                  </a:solidFill>
                  <a:latin typeface="Open Sauce Bold"/>
                  <a:ea typeface="Open Sauce Bold"/>
                  <a:cs typeface="Open Sauce Bold"/>
                  <a:sym typeface="Open Sauce Bold"/>
                </a:rPr>
                <a:t>Contención</a:t>
              </a:r>
              <a:r>
                <a:rPr lang="en-US" sz="2100">
                  <a:solidFill>
                    <a:srgbClr val="000000"/>
                  </a:solidFill>
                  <a:latin typeface="Open Sauce"/>
                  <a:ea typeface="Open Sauce"/>
                  <a:cs typeface="Open Sauce"/>
                  <a:sym typeface="Open Sauce"/>
                </a:rPr>
                <a:t>: En sistemas de muchos filósofos, la contención sobre los tenedores y el semáforo </a:t>
              </a:r>
              <a:r>
                <a:rPr lang="en-US" sz="2100" i="true">
                  <a:solidFill>
                    <a:srgbClr val="1D7151"/>
                  </a:solidFill>
                  <a:latin typeface="Open Sauce Italics"/>
                  <a:ea typeface="Open Sauce Italics"/>
                  <a:cs typeface="Open Sauce Italics"/>
                  <a:sym typeface="Open Sauce Italics"/>
                </a:rPr>
                <a:t>limite </a:t>
              </a:r>
              <a:r>
                <a:rPr lang="en-US" sz="2100">
                  <a:solidFill>
                    <a:srgbClr val="000000"/>
                  </a:solidFill>
                  <a:latin typeface="Open Sauce"/>
                  <a:ea typeface="Open Sauce"/>
                  <a:cs typeface="Open Sauce"/>
                  <a:sym typeface="Open Sauce"/>
                </a:rPr>
                <a:t>crece, reduciendo el paralelismo real.</a:t>
              </a:r>
            </a:p>
            <a:p>
              <a:pPr algn="l" marL="453392" indent="-226696" lvl="1">
                <a:lnSpc>
                  <a:spcPts val="2940"/>
                </a:lnSpc>
                <a:spcBef>
                  <a:spcPct val="0"/>
                </a:spcBef>
                <a:buFont typeface="Arial"/>
                <a:buChar char="•"/>
              </a:pPr>
              <a:r>
                <a:rPr lang="en-US" b="true" sz="2100">
                  <a:solidFill>
                    <a:srgbClr val="000000"/>
                  </a:solidFill>
                  <a:latin typeface="Open Sauce Bold"/>
                  <a:ea typeface="Open Sauce Bold"/>
                  <a:cs typeface="Open Sauce Bold"/>
                  <a:sym typeface="Open Sauce Bold"/>
                </a:rPr>
                <a:t>Cuello de botella</a:t>
              </a:r>
              <a:r>
                <a:rPr lang="en-US" sz="2100">
                  <a:solidFill>
                    <a:srgbClr val="000000"/>
                  </a:solidFill>
                  <a:latin typeface="Open Sauce"/>
                  <a:ea typeface="Open Sauce"/>
                  <a:cs typeface="Open Sauce"/>
                  <a:sym typeface="Open Sauce"/>
                </a:rPr>
                <a:t>: La solución con </a:t>
              </a:r>
              <a:r>
                <a:rPr lang="en-US" sz="2100" i="true">
                  <a:solidFill>
                    <a:srgbClr val="1D7151"/>
                  </a:solidFill>
                  <a:latin typeface="Open Sauce Italics"/>
                  <a:ea typeface="Open Sauce Italics"/>
                  <a:cs typeface="Open Sauce Italics"/>
                  <a:sym typeface="Open Sauce Italics"/>
                </a:rPr>
                <a:t>limite = N-1</a:t>
              </a:r>
              <a:r>
                <a:rPr lang="en-US" sz="2100">
                  <a:solidFill>
                    <a:srgbClr val="000000"/>
                  </a:solidFill>
                  <a:latin typeface="Open Sauce"/>
                  <a:ea typeface="Open Sauce"/>
                  <a:cs typeface="Open Sauce"/>
                  <a:sym typeface="Open Sauce"/>
                </a:rPr>
                <a:t> fuerza que solo N-1 filósofos puedan competir, pero eso sigue siendo una limitación. </a:t>
              </a:r>
            </a:p>
          </p:txBody>
        </p:sp>
        <p:sp>
          <p:nvSpPr>
            <p:cNvPr name="TextBox 8" id="8"/>
            <p:cNvSpPr txBox="true"/>
            <p:nvPr/>
          </p:nvSpPr>
          <p:spPr>
            <a:xfrm rot="0">
              <a:off x="0" y="-57150"/>
              <a:ext cx="7994550" cy="622624"/>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Problemas</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sp>
        <p:nvSpPr>
          <p:cNvPr name="Freeform 2" id="2"/>
          <p:cNvSpPr/>
          <p:nvPr/>
        </p:nvSpPr>
        <p:spPr>
          <a:xfrm flipH="false" flipV="false" rot="0">
            <a:off x="734235" y="1323941"/>
            <a:ext cx="8409765" cy="8596649"/>
          </a:xfrm>
          <a:custGeom>
            <a:avLst/>
            <a:gdLst/>
            <a:ahLst/>
            <a:cxnLst/>
            <a:rect r="r" b="b" t="t" l="l"/>
            <a:pathLst>
              <a:path h="8596649" w="8409765">
                <a:moveTo>
                  <a:pt x="0" y="0"/>
                </a:moveTo>
                <a:lnTo>
                  <a:pt x="8409765" y="0"/>
                </a:lnTo>
                <a:lnTo>
                  <a:pt x="8409765" y="8596649"/>
                </a:lnTo>
                <a:lnTo>
                  <a:pt x="0" y="8596649"/>
                </a:lnTo>
                <a:lnTo>
                  <a:pt x="0" y="0"/>
                </a:lnTo>
                <a:close/>
              </a:path>
            </a:pathLst>
          </a:custGeom>
          <a:blipFill>
            <a:blip r:embed="rId2"/>
            <a:stretch>
              <a:fillRect l="0" t="0" r="0" b="0"/>
            </a:stretch>
          </a:blipFill>
        </p:spPr>
      </p:sp>
      <p:sp>
        <p:nvSpPr>
          <p:cNvPr name="TextBox 3" id="3"/>
          <p:cNvSpPr txBox="true"/>
          <p:nvPr/>
        </p:nvSpPr>
        <p:spPr>
          <a:xfrm rot="0">
            <a:off x="1028700" y="395093"/>
            <a:ext cx="16230600" cy="780983"/>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Filósofos comensales</a:t>
            </a:r>
          </a:p>
        </p:txBody>
      </p:sp>
      <p:sp>
        <p:nvSpPr>
          <p:cNvPr name="TextBox 4" id="4"/>
          <p:cNvSpPr txBox="true"/>
          <p:nvPr/>
        </p:nvSpPr>
        <p:spPr>
          <a:xfrm rot="0">
            <a:off x="9435891" y="2426260"/>
            <a:ext cx="8052817" cy="5830012"/>
          </a:xfrm>
          <a:prstGeom prst="rect">
            <a:avLst/>
          </a:prstGeom>
        </p:spPr>
        <p:txBody>
          <a:bodyPr anchor="t" rtlCol="false" tIns="0" lIns="0" bIns="0" rIns="0">
            <a:spAutoFit/>
          </a:bodyPr>
          <a:lstStyle/>
          <a:p>
            <a:pPr algn="l">
              <a:lnSpc>
                <a:spcPts val="3080"/>
              </a:lnSpc>
            </a:pPr>
            <a:r>
              <a:rPr lang="en-US" sz="2200" b="true">
                <a:solidFill>
                  <a:srgbClr val="000000"/>
                </a:solidFill>
                <a:latin typeface="Open Sauce Bold"/>
                <a:ea typeface="Open Sauce Bold"/>
                <a:cs typeface="Open Sauce Bold"/>
                <a:sym typeface="Open Sauce Bold"/>
              </a:rPr>
              <a:t>Escenario: </a:t>
            </a:r>
            <a:r>
              <a:rPr lang="en-US" sz="2200">
                <a:solidFill>
                  <a:srgbClr val="000000"/>
                </a:solidFill>
                <a:latin typeface="Open Sauce"/>
                <a:ea typeface="Open Sauce"/>
                <a:cs typeface="Open Sauce"/>
                <a:sym typeface="Open Sauce"/>
              </a:rPr>
              <a:t>3 filósofos (A, B, C). Tenedores inicialmente libres = 1. limite = 2</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A entra (</a:t>
            </a:r>
            <a:r>
              <a:rPr lang="en-US" sz="2200" i="true">
                <a:solidFill>
                  <a:srgbClr val="1D7151"/>
                </a:solidFill>
                <a:latin typeface="Open Sauce Italics"/>
                <a:ea typeface="Open Sauce Italics"/>
                <a:cs typeface="Open Sauce Italics"/>
                <a:sym typeface="Open Sauce Italics"/>
              </a:rPr>
              <a:t>limite 2 → 1</a:t>
            </a:r>
            <a:r>
              <a:rPr lang="en-US" sz="2200">
                <a:solidFill>
                  <a:srgbClr val="000000"/>
                </a:solidFill>
                <a:latin typeface="Open Sauce"/>
                <a:ea typeface="Open Sauce"/>
                <a:cs typeface="Open Sauce"/>
                <a:sym typeface="Open Sauce"/>
              </a:rPr>
              <a:t>), toma tenedor izquierdo (0) y derecho (1). </a:t>
            </a:r>
            <a:r>
              <a:rPr lang="en-US" b="true" sz="2200">
                <a:solidFill>
                  <a:srgbClr val="000000"/>
                </a:solidFill>
                <a:latin typeface="Open Sauce Bold"/>
                <a:ea typeface="Open Sauce Bold"/>
                <a:cs typeface="Open Sauce Bold"/>
                <a:sym typeface="Open Sauce Bold"/>
              </a:rPr>
              <a:t>Come</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B entra (limite 1 → 0), intenta tomar tenedor 1 (lo tiene A) → </a:t>
            </a:r>
            <a:r>
              <a:rPr lang="en-US" b="true" sz="2200">
                <a:solidFill>
                  <a:srgbClr val="000000"/>
                </a:solidFill>
                <a:latin typeface="Open Sauce Bold"/>
                <a:ea typeface="Open Sauce Bold"/>
                <a:cs typeface="Open Sauce Bold"/>
                <a:sym typeface="Open Sauce Bold"/>
              </a:rPr>
              <a:t>se bloquea</a:t>
            </a:r>
            <a:r>
              <a:rPr lang="en-US" sz="2200">
                <a:solidFill>
                  <a:srgbClr val="000000"/>
                </a:solidFill>
                <a:latin typeface="Open Sauce"/>
                <a:ea typeface="Open Sauce"/>
                <a:cs typeface="Open Sauce"/>
                <a:sym typeface="Open Sauce"/>
              </a:rPr>
              <a:t>.</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C intenta entrar, pero limite = 0 → se bloquea en </a:t>
            </a:r>
            <a:r>
              <a:rPr lang="en-US" sz="2200" i="true">
                <a:solidFill>
                  <a:srgbClr val="1D7151"/>
                </a:solidFill>
                <a:latin typeface="Open Sauce Italics"/>
                <a:ea typeface="Open Sauce Italics"/>
                <a:cs typeface="Open Sauce Italics"/>
                <a:sym typeface="Open Sauce Italics"/>
              </a:rPr>
              <a:t>wait(&amp;limite)</a:t>
            </a:r>
            <a:r>
              <a:rPr lang="en-US" sz="2200">
                <a:solidFill>
                  <a:srgbClr val="000000"/>
                </a:solidFill>
                <a:latin typeface="Open Sauce"/>
                <a:ea typeface="Open Sauce"/>
                <a:cs typeface="Open Sauce"/>
                <a:sym typeface="Open Sauce"/>
              </a:rPr>
              <a:t>.</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A termina de comer, suelta tenedores 0 y 1, libera </a:t>
            </a:r>
            <a:r>
              <a:rPr lang="en-US" sz="2200" i="true">
                <a:solidFill>
                  <a:srgbClr val="1D7151"/>
                </a:solidFill>
                <a:latin typeface="Open Sauce Italics"/>
                <a:ea typeface="Open Sauce Italics"/>
                <a:cs typeface="Open Sauce Italics"/>
                <a:sym typeface="Open Sauce Italics"/>
              </a:rPr>
              <a:t>limite 0 → 1</a:t>
            </a:r>
            <a:r>
              <a:rPr lang="en-US" sz="2200">
                <a:solidFill>
                  <a:srgbClr val="000000"/>
                </a:solidFill>
                <a:latin typeface="Open Sauce"/>
                <a:ea typeface="Open Sauce"/>
                <a:cs typeface="Open Sauce"/>
                <a:sym typeface="Open Sauce"/>
              </a:rPr>
              <a:t>.</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B se despierta, toma tenedor 1 y 2 → </a:t>
            </a:r>
            <a:r>
              <a:rPr lang="en-US" b="true" sz="2200">
                <a:solidFill>
                  <a:srgbClr val="000000"/>
                </a:solidFill>
                <a:latin typeface="Open Sauce Bold"/>
                <a:ea typeface="Open Sauce Bold"/>
                <a:cs typeface="Open Sauce Bold"/>
                <a:sym typeface="Open Sauce Bold"/>
              </a:rPr>
              <a:t>come</a:t>
            </a:r>
            <a:r>
              <a:rPr lang="en-US" sz="2200">
                <a:solidFill>
                  <a:srgbClr val="000000"/>
                </a:solidFill>
                <a:latin typeface="Open Sauce"/>
                <a:ea typeface="Open Sauce"/>
                <a:cs typeface="Open Sauce"/>
                <a:sym typeface="Open Sauce"/>
              </a:rPr>
              <a:t>.</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C sigue bloqueado en </a:t>
            </a:r>
            <a:r>
              <a:rPr lang="en-US" sz="2200" i="true">
                <a:solidFill>
                  <a:srgbClr val="1D7151"/>
                </a:solidFill>
                <a:latin typeface="Open Sauce Italics"/>
                <a:ea typeface="Open Sauce Italics"/>
                <a:cs typeface="Open Sauce Italics"/>
                <a:sym typeface="Open Sauce Italics"/>
              </a:rPr>
              <a:t>limite = 0</a:t>
            </a:r>
            <a:r>
              <a:rPr lang="en-US" sz="2200">
                <a:solidFill>
                  <a:srgbClr val="000000"/>
                </a:solidFill>
                <a:latin typeface="Open Sauce"/>
                <a:ea typeface="Open Sauce"/>
                <a:cs typeface="Open Sauce"/>
                <a:sym typeface="Open Sauce"/>
              </a:rPr>
              <a:t> porque B aún come (sin tenedores disponibles).</a:t>
            </a:r>
          </a:p>
          <a:p>
            <a:pPr algn="l" marL="474981" indent="-237491" lvl="1">
              <a:lnSpc>
                <a:spcPts val="3080"/>
              </a:lnSpc>
              <a:buAutoNum type="arabicPeriod" startAt="1"/>
            </a:pPr>
            <a:r>
              <a:rPr lang="en-US" sz="2200">
                <a:solidFill>
                  <a:srgbClr val="000000"/>
                </a:solidFill>
                <a:latin typeface="Open Sauce"/>
                <a:ea typeface="Open Sauce"/>
                <a:cs typeface="Open Sauce"/>
                <a:sym typeface="Open Sauce"/>
              </a:rPr>
              <a:t>B termina, suelta tenedores y </a:t>
            </a:r>
            <a:r>
              <a:rPr lang="en-US" sz="2200" i="true">
                <a:solidFill>
                  <a:srgbClr val="1D7151"/>
                </a:solidFill>
                <a:latin typeface="Open Sauce Italics"/>
                <a:ea typeface="Open Sauce Italics"/>
                <a:cs typeface="Open Sauce Italics"/>
                <a:sym typeface="Open Sauce Italics"/>
              </a:rPr>
              <a:t>limite 1 → 2</a:t>
            </a:r>
            <a:r>
              <a:rPr lang="en-US" sz="2200">
                <a:solidFill>
                  <a:srgbClr val="000000"/>
                </a:solidFill>
                <a:latin typeface="Open Sauce"/>
                <a:ea typeface="Open Sauce"/>
                <a:cs typeface="Open Sauce"/>
                <a:sym typeface="Open Sauce"/>
              </a:rPr>
              <a:t>.</a:t>
            </a:r>
          </a:p>
          <a:p>
            <a:pPr algn="l" marL="474981" indent="-237491" lvl="1">
              <a:lnSpc>
                <a:spcPts val="3080"/>
              </a:lnSpc>
              <a:spcBef>
                <a:spcPct val="0"/>
              </a:spcBef>
              <a:buAutoNum type="arabicPeriod" startAt="1"/>
            </a:pPr>
            <a:r>
              <a:rPr lang="en-US" sz="2200">
                <a:solidFill>
                  <a:srgbClr val="000000"/>
                </a:solidFill>
                <a:latin typeface="Open Sauce"/>
                <a:ea typeface="Open Sauce"/>
                <a:cs typeface="Open Sauce"/>
                <a:sym typeface="Open Sauce"/>
              </a:rPr>
              <a:t>C entra, toma tenedor 2 y 0 → </a:t>
            </a:r>
            <a:r>
              <a:rPr lang="en-US" b="true" sz="2200">
                <a:solidFill>
                  <a:srgbClr val="000000"/>
                </a:solidFill>
                <a:latin typeface="Open Sauce Bold"/>
                <a:ea typeface="Open Sauce Bold"/>
                <a:cs typeface="Open Sauce Bold"/>
                <a:sym typeface="Open Sauce Bold"/>
              </a:rPr>
              <a:t>come</a:t>
            </a:r>
            <a:r>
              <a:rPr lang="en-US" sz="2200">
                <a:solidFill>
                  <a:srgbClr val="000000"/>
                </a:solidFill>
                <a:latin typeface="Open Sauce"/>
                <a:ea typeface="Open Sauce"/>
                <a:cs typeface="Open Sauce"/>
                <a:sym typeface="Open Sauce"/>
              </a:rPr>
              <a:t>.</a:t>
            </a:r>
          </a:p>
        </p:txBody>
      </p:sp>
      <p:sp>
        <p:nvSpPr>
          <p:cNvPr name="TextBox 5" id="5"/>
          <p:cNvSpPr txBox="true"/>
          <p:nvPr/>
        </p:nvSpPr>
        <p:spPr>
          <a:xfrm rot="0">
            <a:off x="10464343" y="1973579"/>
            <a:ext cx="5995912" cy="481256"/>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791505" y="1552021"/>
          <a:ext cx="17241361" cy="8298963"/>
        </p:xfrm>
        <a:graphic>
          <a:graphicData uri="http://schemas.openxmlformats.org/presentationml/2006/ole">
            <p:oleObj imgW="20688300" imgH="117348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590584"/>
            <a:ext cx="16230600" cy="781086"/>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Ejemplos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2765325"/>
            <a:chOff x="0" y="0"/>
            <a:chExt cx="5666449" cy="856823"/>
          </a:xfrm>
        </p:grpSpPr>
        <p:sp>
          <p:nvSpPr>
            <p:cNvPr name="Freeform 3" id="3"/>
            <p:cNvSpPr/>
            <p:nvPr/>
          </p:nvSpPr>
          <p:spPr>
            <a:xfrm flipH="false" flipV="false" rot="0">
              <a:off x="0" y="0"/>
              <a:ext cx="5666449" cy="856823"/>
            </a:xfrm>
            <a:custGeom>
              <a:avLst/>
              <a:gdLst/>
              <a:ahLst/>
              <a:cxnLst/>
              <a:rect r="r" b="b" t="t" l="l"/>
              <a:pathLst>
                <a:path h="856823" w="5666449">
                  <a:moveTo>
                    <a:pt x="0" y="0"/>
                  </a:moveTo>
                  <a:lnTo>
                    <a:pt x="5666449" y="0"/>
                  </a:lnTo>
                  <a:lnTo>
                    <a:pt x="5666449" y="856823"/>
                  </a:lnTo>
                  <a:lnTo>
                    <a:pt x="0" y="856823"/>
                  </a:lnTo>
                  <a:close/>
                </a:path>
              </a:pathLst>
            </a:custGeom>
            <a:solidFill>
              <a:srgbClr val="1D7151"/>
            </a:solidFill>
          </p:spPr>
        </p:sp>
      </p:grpSp>
      <p:sp>
        <p:nvSpPr>
          <p:cNvPr name="Freeform 4" id="4"/>
          <p:cNvSpPr/>
          <p:nvPr/>
        </p:nvSpPr>
        <p:spPr>
          <a:xfrm flipH="false" flipV="false" rot="0">
            <a:off x="0" y="2765325"/>
            <a:ext cx="9144000" cy="7521675"/>
          </a:xfrm>
          <a:custGeom>
            <a:avLst/>
            <a:gdLst/>
            <a:ahLst/>
            <a:cxnLst/>
            <a:rect r="r" b="b" t="t" l="l"/>
            <a:pathLst>
              <a:path h="7521675" w="9144000">
                <a:moveTo>
                  <a:pt x="0" y="0"/>
                </a:moveTo>
                <a:lnTo>
                  <a:pt x="9144000" y="0"/>
                </a:lnTo>
                <a:lnTo>
                  <a:pt x="9144000" y="7521675"/>
                </a:lnTo>
                <a:lnTo>
                  <a:pt x="0" y="7521675"/>
                </a:lnTo>
                <a:lnTo>
                  <a:pt x="0" y="0"/>
                </a:lnTo>
                <a:close/>
              </a:path>
            </a:pathLst>
          </a:custGeom>
          <a:blipFill>
            <a:blip r:embed="rId2"/>
            <a:stretch>
              <a:fillRect l="-11301" t="0" r="-12085" b="0"/>
            </a:stretch>
          </a:blipFill>
        </p:spPr>
      </p:sp>
      <p:sp>
        <p:nvSpPr>
          <p:cNvPr name="Freeform 5" id="5"/>
          <p:cNvSpPr/>
          <p:nvPr/>
        </p:nvSpPr>
        <p:spPr>
          <a:xfrm flipH="false" flipV="false" rot="0">
            <a:off x="-383871" y="2765325"/>
            <a:ext cx="9527871" cy="7521675"/>
          </a:xfrm>
          <a:custGeom>
            <a:avLst/>
            <a:gdLst/>
            <a:ahLst/>
            <a:cxnLst/>
            <a:rect r="r" b="b" t="t" l="l"/>
            <a:pathLst>
              <a:path h="7521675" w="9527871">
                <a:moveTo>
                  <a:pt x="0" y="0"/>
                </a:moveTo>
                <a:lnTo>
                  <a:pt x="9527871" y="0"/>
                </a:lnTo>
                <a:lnTo>
                  <a:pt x="9527871" y="7521675"/>
                </a:lnTo>
                <a:lnTo>
                  <a:pt x="0" y="7521675"/>
                </a:lnTo>
                <a:lnTo>
                  <a:pt x="0" y="0"/>
                </a:lnTo>
                <a:close/>
              </a:path>
            </a:pathLst>
          </a:custGeom>
          <a:blipFill>
            <a:blip r:embed="rId3"/>
            <a:stretch>
              <a:fillRect l="0" t="0" r="-18489" b="0"/>
            </a:stretch>
          </a:blipFill>
        </p:spPr>
      </p:sp>
      <p:sp>
        <p:nvSpPr>
          <p:cNvPr name="TextBox 6" id="6"/>
          <p:cNvSpPr txBox="true"/>
          <p:nvPr/>
        </p:nvSpPr>
        <p:spPr>
          <a:xfrm rot="0">
            <a:off x="16581489" y="8767445"/>
            <a:ext cx="362229" cy="490855"/>
          </a:xfrm>
          <a:prstGeom prst="rect">
            <a:avLst/>
          </a:prstGeom>
        </p:spPr>
        <p:txBody>
          <a:bodyPr anchor="t" rtlCol="false" tIns="0" lIns="0" bIns="0" rIns="0">
            <a:spAutoFit/>
          </a:bodyPr>
          <a:lstStyle/>
          <a:p>
            <a:pPr algn="ctr">
              <a:lnSpc>
                <a:spcPts val="3919"/>
              </a:lnSpc>
            </a:pPr>
            <a:r>
              <a:rPr lang="en-US" sz="2799">
                <a:solidFill>
                  <a:srgbClr val="F2EDDB"/>
                </a:solidFill>
                <a:latin typeface="Open Sauce"/>
                <a:ea typeface="Open Sauce"/>
                <a:cs typeface="Open Sauce"/>
                <a:sym typeface="Open Sauce"/>
              </a:rPr>
              <a:t>8</a:t>
            </a:r>
          </a:p>
        </p:txBody>
      </p:sp>
      <p:sp>
        <p:nvSpPr>
          <p:cNvPr name="TextBox 7" id="7"/>
          <p:cNvSpPr txBox="true"/>
          <p:nvPr/>
        </p:nvSpPr>
        <p:spPr>
          <a:xfrm rot="0">
            <a:off x="1028700" y="326196"/>
            <a:ext cx="8985294" cy="2029554"/>
          </a:xfrm>
          <a:prstGeom prst="rect">
            <a:avLst/>
          </a:prstGeom>
        </p:spPr>
        <p:txBody>
          <a:bodyPr anchor="t" rtlCol="false" tIns="0" lIns="0" bIns="0" rIns="0">
            <a:spAutoFit/>
          </a:bodyPr>
          <a:lstStyle/>
          <a:p>
            <a:pPr algn="l">
              <a:lnSpc>
                <a:spcPts val="16238"/>
              </a:lnSpc>
            </a:pPr>
            <a:r>
              <a:rPr lang="en-US" sz="11598">
                <a:solidFill>
                  <a:srgbClr val="F2EDDB"/>
                </a:solidFill>
                <a:latin typeface="Sugo Display"/>
                <a:ea typeface="Sugo Display"/>
                <a:cs typeface="Sugo Display"/>
                <a:sym typeface="Sugo Display"/>
              </a:rPr>
              <a:t>Interbloqueos</a:t>
            </a:r>
          </a:p>
        </p:txBody>
      </p:sp>
      <p:sp>
        <p:nvSpPr>
          <p:cNvPr name="TextBox 8" id="8"/>
          <p:cNvSpPr txBox="true"/>
          <p:nvPr/>
        </p:nvSpPr>
        <p:spPr>
          <a:xfrm rot="0">
            <a:off x="9692731" y="3111227"/>
            <a:ext cx="8067447" cy="3462424"/>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uce"/>
                <a:ea typeface="Open Sauce"/>
                <a:cs typeface="Open Sauce"/>
                <a:sym typeface="Open Sauce"/>
              </a:rPr>
              <a:t>E</a:t>
            </a:r>
            <a:r>
              <a:rPr lang="en-US" sz="2799">
                <a:solidFill>
                  <a:srgbClr val="000000"/>
                </a:solidFill>
                <a:latin typeface="Open Sauce"/>
                <a:ea typeface="Open Sauce"/>
                <a:cs typeface="Open Sauce"/>
                <a:sym typeface="Open Sauce"/>
              </a:rPr>
              <a:t>s un estado en un sistema operativo en el que dos o más procesos permanecen atascados para siempre porque cada uno espera un recurso que posee otro. Solo ocurre cuando existen cuatro condiciones: exclusión mutua, espera y retención, sin preempción y espera circular.</a:t>
            </a:r>
          </a:p>
        </p:txBody>
      </p:sp>
      <p:sp>
        <p:nvSpPr>
          <p:cNvPr name="TextBox 9" id="9"/>
          <p:cNvSpPr txBox="true"/>
          <p:nvPr/>
        </p:nvSpPr>
        <p:spPr>
          <a:xfrm rot="0">
            <a:off x="9692731" y="6919552"/>
            <a:ext cx="8067447" cy="1481356"/>
          </a:xfrm>
          <a:prstGeom prst="rect">
            <a:avLst/>
          </a:prstGeom>
        </p:spPr>
        <p:txBody>
          <a:bodyPr anchor="t" rtlCol="false" tIns="0" lIns="0" bIns="0" rIns="0">
            <a:spAutoFit/>
          </a:bodyPr>
          <a:lstStyle/>
          <a:p>
            <a:pPr algn="l">
              <a:lnSpc>
                <a:spcPts val="3919"/>
              </a:lnSpc>
              <a:spcBef>
                <a:spcPct val="0"/>
              </a:spcBef>
            </a:pPr>
            <a:r>
              <a:rPr lang="en-US" sz="2799">
                <a:solidFill>
                  <a:srgbClr val="000000"/>
                </a:solidFill>
                <a:latin typeface="Open Sauce"/>
                <a:ea typeface="Open Sauce"/>
                <a:cs typeface="Open Sauce"/>
                <a:sym typeface="Open Sauce"/>
              </a:rPr>
              <a:t>El bloqueo puede gestionarse mediante prevención, evitación (algoritmo del banquero) o detección y recuperación.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523319" y="1491808"/>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542959"/>
            <a:ext cx="16230600" cy="781086"/>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Diagrama resumen</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2EDDB"/>
        </a:solidFill>
      </p:bgPr>
    </p:bg>
    <p:spTree>
      <p:nvGrpSpPr>
        <p:cNvPr id="1" name=""/>
        <p:cNvGrpSpPr/>
        <p:nvPr/>
      </p:nvGrpSpPr>
      <p:grpSpPr>
        <a:xfrm>
          <a:off x="0" y="0"/>
          <a:ext cx="0" cy="0"/>
          <a:chOff x="0" y="0"/>
          <a:chExt cx="0" cy="0"/>
        </a:xfrm>
      </p:grpSpPr>
      <p:graphicFrame>
        <p:nvGraphicFramePr>
          <p:cNvPr name="Object 2" id="2"/>
          <p:cNvGraphicFramePr/>
          <p:nvPr/>
        </p:nvGraphicFramePr>
        <p:xfrm>
          <a:off x="1028700" y="3065742"/>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1028700" y="542959"/>
            <a:ext cx="16230600" cy="781086"/>
          </a:xfrm>
          <a:prstGeom prst="rect">
            <a:avLst/>
          </a:prstGeom>
        </p:spPr>
        <p:txBody>
          <a:bodyPr anchor="t" rtlCol="false" tIns="0" lIns="0" bIns="0" rIns="0">
            <a:spAutoFit/>
          </a:bodyPr>
          <a:lstStyle/>
          <a:p>
            <a:pPr algn="ctr">
              <a:lnSpc>
                <a:spcPts val="6300"/>
              </a:lnSpc>
            </a:pPr>
            <a:r>
              <a:rPr lang="en-US" sz="4500">
                <a:solidFill>
                  <a:srgbClr val="1D7151"/>
                </a:solidFill>
                <a:latin typeface="TAN Mon Cheri"/>
                <a:ea typeface="TAN Mon Cheri"/>
                <a:cs typeface="TAN Mon Cheri"/>
                <a:sym typeface="TAN Mon Cheri"/>
              </a:rPr>
              <a:t>Algoritmo del Banquero</a:t>
            </a:r>
          </a:p>
        </p:txBody>
      </p:sp>
      <p:sp>
        <p:nvSpPr>
          <p:cNvPr name="TextBox 4" id="4"/>
          <p:cNvSpPr txBox="true"/>
          <p:nvPr/>
        </p:nvSpPr>
        <p:spPr>
          <a:xfrm rot="0">
            <a:off x="1028700" y="1738620"/>
            <a:ext cx="10114876" cy="1108821"/>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Escenario: </a:t>
            </a:r>
            <a:r>
              <a:rPr lang="en-US" sz="2100">
                <a:solidFill>
                  <a:srgbClr val="000000"/>
                </a:solidFill>
                <a:latin typeface="Open Sauce"/>
                <a:ea typeface="Open Sauce"/>
                <a:cs typeface="Open Sauce"/>
                <a:sym typeface="Open Sauce"/>
              </a:rPr>
              <a:t>Sistema con 5 hilos (H0 - H4) y 3 Recursos (A, B, C)</a:t>
            </a:r>
          </a:p>
          <a:p>
            <a:pPr algn="l" marL="453392" indent="-226696" lvl="1">
              <a:lnSpc>
                <a:spcPts val="2940"/>
              </a:lnSpc>
              <a:buFont typeface="Arial"/>
              <a:buChar char="•"/>
            </a:pPr>
            <a:r>
              <a:rPr lang="en-US" sz="2100">
                <a:solidFill>
                  <a:srgbClr val="000000"/>
                </a:solidFill>
                <a:latin typeface="Open Sauce"/>
                <a:ea typeface="Open Sauce"/>
                <a:cs typeface="Open Sauce"/>
                <a:sym typeface="Open Sauce"/>
              </a:rPr>
              <a:t>A = 10, B = 5, C = 7</a:t>
            </a:r>
          </a:p>
          <a:p>
            <a:pPr algn="l" marL="453392" indent="-226696" lvl="1">
              <a:lnSpc>
                <a:spcPts val="2940"/>
              </a:lnSpc>
              <a:spcBef>
                <a:spcPct val="0"/>
              </a:spcBef>
              <a:buFont typeface="Arial"/>
              <a:buChar char="•"/>
            </a:pPr>
            <a:r>
              <a:rPr lang="en-US" sz="2100">
                <a:solidFill>
                  <a:srgbClr val="000000"/>
                </a:solidFill>
                <a:latin typeface="Open Sauce"/>
                <a:ea typeface="Open Sauce"/>
                <a:cs typeface="Open Sauce"/>
                <a:sym typeface="Open Sauce"/>
              </a:rPr>
              <a:t>Disponible (Work): [3, 3, 2]</a:t>
            </a:r>
          </a:p>
        </p:txBody>
      </p:sp>
      <p:sp>
        <p:nvSpPr>
          <p:cNvPr name="TextBox 5" id="5"/>
          <p:cNvSpPr txBox="true"/>
          <p:nvPr/>
        </p:nvSpPr>
        <p:spPr>
          <a:xfrm rot="0">
            <a:off x="11445248" y="3018117"/>
            <a:ext cx="5938392" cy="3709407"/>
          </a:xfrm>
          <a:prstGeom prst="rect">
            <a:avLst/>
          </a:prstGeom>
        </p:spPr>
        <p:txBody>
          <a:bodyPr anchor="t" rtlCol="false" tIns="0" lIns="0" bIns="0" rIns="0">
            <a:spAutoFit/>
          </a:bodyPr>
          <a:lstStyle/>
          <a:p>
            <a:pPr algn="l">
              <a:lnSpc>
                <a:spcPts val="2940"/>
              </a:lnSpc>
            </a:pPr>
            <a:r>
              <a:rPr lang="en-US" sz="2100" b="true">
                <a:solidFill>
                  <a:srgbClr val="000000"/>
                </a:solidFill>
                <a:latin typeface="Open Sauce Bold"/>
                <a:ea typeface="Open Sauce Bold"/>
                <a:cs typeface="Open Sauce Bold"/>
                <a:sym typeface="Open Sauce Bold"/>
              </a:rPr>
              <a:t>Secuencia:</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 H1: </a:t>
            </a:r>
            <a:r>
              <a:rPr lang="en-US" sz="2100">
                <a:solidFill>
                  <a:srgbClr val="000000"/>
                </a:solidFill>
                <a:latin typeface="Open Sauce"/>
                <a:ea typeface="Open Sauce"/>
                <a:cs typeface="Open Sauce"/>
                <a:sym typeface="Open Sauce"/>
              </a:rPr>
              <a:t>Necesita [1, 2, 2] &lt;= Disponible. Ejecuta y libera [2, 0, 0] → nuevo disp: [5, 3, 2].</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H3: </a:t>
            </a:r>
            <a:r>
              <a:rPr lang="en-US" sz="2100">
                <a:solidFill>
                  <a:srgbClr val="000000"/>
                </a:solidFill>
                <a:latin typeface="Open Sauce"/>
                <a:ea typeface="Open Sauce"/>
                <a:cs typeface="Open Sauce"/>
                <a:sym typeface="Open Sauce"/>
              </a:rPr>
              <a:t>Necesita [0, 1, 1] &lt;= Disp → Libera [2, 1, 1] → Disponible = [7, 4, 5]</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H4: </a:t>
            </a:r>
            <a:r>
              <a:rPr lang="en-US" sz="2100">
                <a:solidFill>
                  <a:srgbClr val="000000"/>
                </a:solidFill>
                <a:latin typeface="Open Sauce"/>
                <a:ea typeface="Open Sauce"/>
                <a:cs typeface="Open Sauce"/>
                <a:sym typeface="Open Sauce"/>
              </a:rPr>
              <a:t>Necesita [4, 3, 1] &lt;= Disp → libera [0, 0, 2] → disp = [7, 4, 5]</a:t>
            </a:r>
          </a:p>
          <a:p>
            <a:pPr algn="l" marL="453392" indent="-226696" lvl="1">
              <a:lnSpc>
                <a:spcPts val="2940"/>
              </a:lnSpc>
              <a:buAutoNum type="arabicPeriod" startAt="1"/>
            </a:pPr>
            <a:r>
              <a:rPr lang="en-US" b="true" sz="2100">
                <a:solidFill>
                  <a:srgbClr val="000000"/>
                </a:solidFill>
                <a:latin typeface="Open Sauce Bold"/>
                <a:ea typeface="Open Sauce Bold"/>
                <a:cs typeface="Open Sauce Bold"/>
                <a:sym typeface="Open Sauce Bold"/>
              </a:rPr>
              <a:t>H2: </a:t>
            </a:r>
            <a:r>
              <a:rPr lang="en-US" sz="2100">
                <a:solidFill>
                  <a:srgbClr val="000000"/>
                </a:solidFill>
                <a:latin typeface="Open Sauce"/>
                <a:ea typeface="Open Sauce"/>
                <a:cs typeface="Open Sauce"/>
                <a:sym typeface="Open Sauce"/>
              </a:rPr>
              <a:t>Libera [3, 0, 2] → Disp = [10, 4, 7]</a:t>
            </a:r>
          </a:p>
          <a:p>
            <a:pPr algn="l" marL="453392" indent="-226696" lvl="1">
              <a:lnSpc>
                <a:spcPts val="2940"/>
              </a:lnSpc>
              <a:spcBef>
                <a:spcPct val="0"/>
              </a:spcBef>
              <a:buAutoNum type="arabicPeriod" startAt="1"/>
            </a:pPr>
            <a:r>
              <a:rPr lang="en-US" b="true" sz="2100">
                <a:solidFill>
                  <a:srgbClr val="000000"/>
                </a:solidFill>
                <a:latin typeface="Open Sauce Bold"/>
                <a:ea typeface="Open Sauce Bold"/>
                <a:cs typeface="Open Sauce Bold"/>
                <a:sym typeface="Open Sauce Bold"/>
              </a:rPr>
              <a:t>H0: </a:t>
            </a:r>
            <a:r>
              <a:rPr lang="en-US" sz="2100">
                <a:solidFill>
                  <a:srgbClr val="000000"/>
                </a:solidFill>
                <a:latin typeface="Open Sauce"/>
                <a:ea typeface="Open Sauce"/>
                <a:cs typeface="Open Sauce"/>
                <a:sym typeface="Open Sauce"/>
              </a:rPr>
              <a:t>Libera [0, 1, 0]. Disp. final = [10, 5, 7]</a:t>
            </a:r>
          </a:p>
        </p:txBody>
      </p:sp>
      <p:sp>
        <p:nvSpPr>
          <p:cNvPr name="TextBox 6" id="6"/>
          <p:cNvSpPr txBox="true"/>
          <p:nvPr/>
        </p:nvSpPr>
        <p:spPr>
          <a:xfrm rot="0">
            <a:off x="11387727" y="2584487"/>
            <a:ext cx="5995912" cy="481256"/>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Corrida en frío</a:t>
            </a:r>
          </a:p>
        </p:txBody>
      </p:sp>
      <p:sp>
        <p:nvSpPr>
          <p:cNvPr name="TextBox 7" id="7"/>
          <p:cNvSpPr txBox="true"/>
          <p:nvPr/>
        </p:nvSpPr>
        <p:spPr>
          <a:xfrm rot="0">
            <a:off x="11445248" y="7009611"/>
            <a:ext cx="5995912" cy="481256"/>
          </a:xfrm>
          <a:prstGeom prst="rect">
            <a:avLst/>
          </a:prstGeom>
        </p:spPr>
        <p:txBody>
          <a:bodyPr anchor="t" rtlCol="false" tIns="0" lIns="0" bIns="0" rIns="0">
            <a:spAutoFit/>
          </a:bodyPr>
          <a:lstStyle/>
          <a:p>
            <a:pPr algn="ctr">
              <a:lnSpc>
                <a:spcPts val="3919"/>
              </a:lnSpc>
            </a:pPr>
            <a:r>
              <a:rPr lang="en-US" sz="2799">
                <a:solidFill>
                  <a:srgbClr val="1D7151"/>
                </a:solidFill>
                <a:latin typeface="TAN Mon Cheri"/>
                <a:ea typeface="TAN Mon Cheri"/>
                <a:cs typeface="TAN Mon Cheri"/>
                <a:sym typeface="TAN Mon Cheri"/>
              </a:rPr>
              <a:t>Resultado</a:t>
            </a:r>
          </a:p>
        </p:txBody>
      </p:sp>
      <p:sp>
        <p:nvSpPr>
          <p:cNvPr name="TextBox 8" id="8"/>
          <p:cNvSpPr txBox="true"/>
          <p:nvPr/>
        </p:nvSpPr>
        <p:spPr>
          <a:xfrm rot="0">
            <a:off x="11502768" y="7443242"/>
            <a:ext cx="5938392" cy="737309"/>
          </a:xfrm>
          <a:prstGeom prst="rect">
            <a:avLst/>
          </a:prstGeom>
        </p:spPr>
        <p:txBody>
          <a:bodyPr anchor="t" rtlCol="false" tIns="0" lIns="0" bIns="0" rIns="0">
            <a:spAutoFit/>
          </a:bodyPr>
          <a:lstStyle/>
          <a:p>
            <a:pPr algn="l">
              <a:lnSpc>
                <a:spcPts val="2940"/>
              </a:lnSpc>
              <a:spcBef>
                <a:spcPct val="0"/>
              </a:spcBef>
            </a:pPr>
            <a:r>
              <a:rPr lang="en-US" sz="2100">
                <a:solidFill>
                  <a:srgbClr val="000000"/>
                </a:solidFill>
                <a:latin typeface="Open Sauce"/>
                <a:ea typeface="Open Sauce"/>
                <a:cs typeface="Open Sauce"/>
                <a:sym typeface="Open Sauce"/>
              </a:rPr>
              <a:t>El sistema está en un estado seguro con la secuencia: H1 → H3 → H4 → H2 → H0</a:t>
            </a:r>
          </a:p>
        </p:txBody>
      </p:sp>
    </p:spTree>
  </p:cSld>
  <p:clrMapOvr>
    <a:masterClrMapping/>
  </p:clrMapOvr>
</p:sld>
</file>

<file path=ppt/slides/slide34.xml><?xml version="1.0" encoding="utf-8"?>
<p:sld xmlns:p="http://schemas.openxmlformats.org/presentationml/2006/main" xmlns:a="http://schemas.openxmlformats.org/drawingml/2006/main">
  <p:cSld>
    <p:bg>
      <p:bgPr>
        <a:solidFill>
          <a:srgbClr val="F2EDDB"/>
        </a:solidFill>
      </p:bgPr>
    </p:bg>
    <p:spTree>
      <p:nvGrpSpPr>
        <p:cNvPr id="1" name=""/>
        <p:cNvGrpSpPr/>
        <p:nvPr/>
      </p:nvGrpSpPr>
      <p:grpSpPr>
        <a:xfrm>
          <a:off x="0" y="0"/>
          <a:ext cx="0" cy="0"/>
          <a:chOff x="0" y="0"/>
          <a:chExt cx="0" cy="0"/>
        </a:xfrm>
      </p:grpSpPr>
      <p:grpSp>
        <p:nvGrpSpPr>
          <p:cNvPr name="Group 2" id="2"/>
          <p:cNvGrpSpPr/>
          <p:nvPr/>
        </p:nvGrpSpPr>
        <p:grpSpPr>
          <a:xfrm rot="0">
            <a:off x="0" y="7891424"/>
            <a:ext cx="18288000" cy="2395576"/>
            <a:chOff x="0" y="0"/>
            <a:chExt cx="2716398" cy="355826"/>
          </a:xfrm>
        </p:grpSpPr>
        <p:sp>
          <p:nvSpPr>
            <p:cNvPr name="Freeform 3" id="3"/>
            <p:cNvSpPr/>
            <p:nvPr/>
          </p:nvSpPr>
          <p:spPr>
            <a:xfrm flipH="false" flipV="false" rot="0">
              <a:off x="0" y="0"/>
              <a:ext cx="2716398" cy="355826"/>
            </a:xfrm>
            <a:custGeom>
              <a:avLst/>
              <a:gdLst/>
              <a:ahLst/>
              <a:cxnLst/>
              <a:rect r="r" b="b" t="t" l="l"/>
              <a:pathLst>
                <a:path h="355826" w="2716398">
                  <a:moveTo>
                    <a:pt x="0" y="0"/>
                  </a:moveTo>
                  <a:lnTo>
                    <a:pt x="2716398" y="0"/>
                  </a:lnTo>
                  <a:lnTo>
                    <a:pt x="2716398" y="355826"/>
                  </a:lnTo>
                  <a:lnTo>
                    <a:pt x="0" y="355826"/>
                  </a:lnTo>
                  <a:close/>
                </a:path>
              </a:pathLst>
            </a:custGeom>
            <a:solidFill>
              <a:srgbClr val="1D7151"/>
            </a:solidFill>
          </p:spPr>
        </p:sp>
      </p:grpSp>
      <p:sp>
        <p:nvSpPr>
          <p:cNvPr name="TextBox 4" id="4"/>
          <p:cNvSpPr txBox="true"/>
          <p:nvPr/>
        </p:nvSpPr>
        <p:spPr>
          <a:xfrm rot="0">
            <a:off x="12334486" y="622935"/>
            <a:ext cx="4924814" cy="405802"/>
          </a:xfrm>
          <a:prstGeom prst="rect">
            <a:avLst/>
          </a:prstGeom>
        </p:spPr>
        <p:txBody>
          <a:bodyPr anchor="t" rtlCol="false" tIns="0" lIns="0" bIns="0" rIns="0">
            <a:spAutoFit/>
          </a:bodyPr>
          <a:lstStyle/>
          <a:p>
            <a:pPr algn="r">
              <a:lnSpc>
                <a:spcPts val="3359"/>
              </a:lnSpc>
            </a:pPr>
            <a:r>
              <a:rPr lang="en-US" sz="2400">
                <a:solidFill>
                  <a:srgbClr val="1D7151"/>
                </a:solidFill>
                <a:latin typeface="Open Sauce"/>
                <a:ea typeface="Open Sauce"/>
                <a:cs typeface="Open Sauce"/>
                <a:sym typeface="Open Sauce"/>
              </a:rPr>
              <a:t>Jesús Hernández, CI: 31456568</a:t>
            </a:r>
          </a:p>
        </p:txBody>
      </p:sp>
      <p:sp>
        <p:nvSpPr>
          <p:cNvPr name="TextBox 5" id="5"/>
          <p:cNvSpPr txBox="true"/>
          <p:nvPr/>
        </p:nvSpPr>
        <p:spPr>
          <a:xfrm rot="0">
            <a:off x="1028700" y="8404532"/>
            <a:ext cx="3554448" cy="405802"/>
          </a:xfrm>
          <a:prstGeom prst="rect">
            <a:avLst/>
          </a:prstGeom>
        </p:spPr>
        <p:txBody>
          <a:bodyPr anchor="t" rtlCol="false" tIns="0" lIns="0" bIns="0" rIns="0">
            <a:spAutoFit/>
          </a:bodyPr>
          <a:lstStyle/>
          <a:p>
            <a:pPr algn="l">
              <a:lnSpc>
                <a:spcPts val="3359"/>
              </a:lnSpc>
            </a:pPr>
            <a:r>
              <a:rPr lang="en-US" sz="2400">
                <a:solidFill>
                  <a:srgbClr val="F2EDDB"/>
                </a:solidFill>
                <a:latin typeface="Open Sauce"/>
                <a:ea typeface="Open Sauce"/>
                <a:cs typeface="Open Sauce"/>
                <a:sym typeface="Open Sauce"/>
              </a:rPr>
              <a:t>Junio, 2026</a:t>
            </a:r>
          </a:p>
        </p:txBody>
      </p:sp>
      <p:sp>
        <p:nvSpPr>
          <p:cNvPr name="TextBox 6" id="6"/>
          <p:cNvSpPr txBox="true"/>
          <p:nvPr/>
        </p:nvSpPr>
        <p:spPr>
          <a:xfrm rot="0">
            <a:off x="3381701" y="3819525"/>
            <a:ext cx="11524598" cy="1209675"/>
          </a:xfrm>
          <a:prstGeom prst="rect">
            <a:avLst/>
          </a:prstGeom>
        </p:spPr>
        <p:txBody>
          <a:bodyPr anchor="t" rtlCol="false" tIns="0" lIns="0" bIns="0" rIns="0">
            <a:spAutoFit/>
          </a:bodyPr>
          <a:lstStyle/>
          <a:p>
            <a:pPr algn="ctr">
              <a:lnSpc>
                <a:spcPts val="9000"/>
              </a:lnSpc>
            </a:pPr>
            <a:r>
              <a:rPr lang="en-US" sz="9000">
                <a:solidFill>
                  <a:srgbClr val="1D7151"/>
                </a:solidFill>
                <a:latin typeface="The Youngest Serif"/>
                <a:ea typeface="The Youngest Serif"/>
                <a:cs typeface="The Youngest Serif"/>
                <a:sym typeface="The Youngest Serif"/>
              </a:rPr>
              <a:t>Muchas gracias</a:t>
            </a:r>
          </a:p>
        </p:txBody>
      </p:sp>
      <p:sp>
        <p:nvSpPr>
          <p:cNvPr name="TextBox 7" id="7"/>
          <p:cNvSpPr txBox="true"/>
          <p:nvPr/>
        </p:nvSpPr>
        <p:spPr>
          <a:xfrm rot="0">
            <a:off x="11760294" y="8264347"/>
            <a:ext cx="5499006" cy="824865"/>
          </a:xfrm>
          <a:prstGeom prst="rect">
            <a:avLst/>
          </a:prstGeom>
        </p:spPr>
        <p:txBody>
          <a:bodyPr anchor="t" rtlCol="false" tIns="0" lIns="0" bIns="0" rIns="0">
            <a:spAutoFit/>
          </a:bodyPr>
          <a:lstStyle/>
          <a:p>
            <a:pPr algn="r">
              <a:lnSpc>
                <a:spcPts val="3359"/>
              </a:lnSpc>
            </a:pPr>
            <a:r>
              <a:rPr lang="en-US" sz="2400">
                <a:solidFill>
                  <a:srgbClr val="F2EDDB"/>
                </a:solidFill>
                <a:latin typeface="Open Sauce"/>
                <a:ea typeface="Open Sauce"/>
                <a:cs typeface="Open Sauce"/>
                <a:sym typeface="Open Sauce"/>
              </a:rPr>
              <a:t>Sistemas Operativos - Asignacion 3. Dpto Computación, Facyt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DAHL06NOaCM</dc:identifier>
  <dcterms:modified xsi:type="dcterms:W3CDTF">2011-08-01T06:04:30Z</dcterms:modified>
  <cp:revision>1</cp:revision>
  <dc:title>Mecanismos de Exclusión mutua</dc:title>
</cp:coreProperties>
</file>